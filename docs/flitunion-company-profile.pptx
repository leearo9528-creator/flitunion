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1463040"/>
            <a:ext cx="6217920" cy="6217920"/>
          </a:xfrm>
          <a:prstGeom prst="ellipse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2926080"/>
            <a:ext cx="4572000" cy="4572000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66560" y="4480560"/>
            <a:ext cx="2377440" cy="2377440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640080"/>
            <a:ext cx="2476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3000" b="1" dirty="0">
                <a:solidFill>
                  <a:srgbClr val="0B1F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48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COMPANY PROFILE  ·  2026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6032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공간을 마켓으로,</a:t>
            </a:r>
            <a:endParaRPr lang="en-US" sz="4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행사를 경험으로 만듭니다.</a:t>
            </a:r>
            <a:endParaRPr lang="en-US" sz="4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4348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플리마켓 · 야시장 · 푸드트럭 · 행사 장비 렌탈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검증된 셀러 네트워크 기반의 행사 운영 원스톱 대행 전문 기업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6080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 |  flitunion.com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회사소개서는 다음과 같은 순서로 구성되어 있습니다.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4231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508760" y="24231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 개요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269748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Company Overview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17296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31729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비전과 미션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508760" y="344728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Vision &amp; Mission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92277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392277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고객의 과제와 플릿의 해법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4197096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Problem &amp; Solution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67258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1508760" y="467258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영역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508760" y="4946904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Business Areas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542239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1508760" y="542239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상세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508760" y="569671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Service Details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309360" y="24231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7178040" y="24231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플릿의 차별점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178040" y="269748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Flit Union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6309360" y="317296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07</a:t>
            </a:r>
            <a:endParaRPr lang="en-US" sz="2400" dirty="0"/>
          </a:p>
        </p:txBody>
      </p:sp>
      <p:sp>
        <p:nvSpPr>
          <p:cNvPr id="29" name="Text 27"/>
          <p:cNvSpPr txBox="1"/>
          <p:nvPr/>
        </p:nvSpPr>
        <p:spPr>
          <a:xfrm>
            <a:off x="7178040" y="31729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프로세스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7178040" y="344728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Process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6309360" y="392277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08</a:t>
            </a:r>
            <a:endParaRPr lang="en-US" sz="2400" dirty="0"/>
          </a:p>
        </p:txBody>
      </p:sp>
      <p:sp>
        <p:nvSpPr>
          <p:cNvPr id="32" name="Text 30"/>
          <p:cNvSpPr txBox="1"/>
          <p:nvPr/>
        </p:nvSpPr>
        <p:spPr>
          <a:xfrm>
            <a:off x="7178040" y="392277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실적 및 사례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7178040" y="4197096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Portfolio &amp; Case Study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6309360" y="467258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09</a:t>
            </a:r>
            <a:endParaRPr lang="en-US" sz="2400" dirty="0"/>
          </a:p>
        </p:txBody>
      </p:sp>
      <p:sp>
        <p:nvSpPr>
          <p:cNvPr id="35" name="Text 33"/>
          <p:cNvSpPr txBox="1"/>
          <p:nvPr/>
        </p:nvSpPr>
        <p:spPr>
          <a:xfrm>
            <a:off x="7178040" y="467258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협업 대상과 계약 안내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7178040" y="4946904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Partnership Guide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6309360" y="542239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</a:t>
            </a:r>
            <a:endParaRPr lang="en-US" sz="2400" dirty="0"/>
          </a:p>
        </p:txBody>
      </p:sp>
      <p:sp>
        <p:nvSpPr>
          <p:cNvPr id="38" name="Text 36"/>
          <p:cNvSpPr txBox="1"/>
          <p:nvPr/>
        </p:nvSpPr>
        <p:spPr>
          <a:xfrm>
            <a:off x="7178040" y="542239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문의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7178040" y="569671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Contact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COMPANY OVERVIEW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 개요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유니온은 공간 소유자와 행사 주최자를 위한 마켓 운영 전문 기업입니다.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331720"/>
            <a:ext cx="5120640" cy="384048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05840" y="2651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 정보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310896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회사명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286000" y="310896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(Flit Union)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47472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대표자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2286000" y="347472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이아로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384048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설립일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286000" y="384048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2024년 8월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42062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영역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2286000" y="42062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플리마켓·야시장 운영 대행, 푸드트럭 섭외,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물품 렌탈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4764024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플랫폼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2286000" y="476402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플릿(Flit) 셀러 플랫폼 · app.flitunion.com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005840" y="5129784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지역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2286000" y="512978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(수도권 직영, 지방 현지 파트너 운영)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" y="5495544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홈페이지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2286000" y="549554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www.flitunion.com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1005840" y="5861304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2286000" y="586130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hello@flitunion.com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217920" y="2331720"/>
            <a:ext cx="2529688" cy="1783080"/>
          </a:xfrm>
          <a:prstGeom prst="roundRect">
            <a:avLst>
              <a:gd name="adj" fmla="val 5128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537960" y="2651760"/>
            <a:ext cx="18896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50+</a:t>
            </a:r>
            <a:endParaRPr lang="en-US" sz="4000" dirty="0"/>
          </a:p>
        </p:txBody>
      </p:sp>
      <p:sp>
        <p:nvSpPr>
          <p:cNvPr id="30" name="Text 28"/>
          <p:cNvSpPr txBox="1"/>
          <p:nvPr/>
        </p:nvSpPr>
        <p:spPr>
          <a:xfrm>
            <a:off x="6537960" y="3429000"/>
            <a:ext cx="1889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행사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537960" y="3703320"/>
            <a:ext cx="1889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대학·아파트·축제·카페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21928" y="2331720"/>
            <a:ext cx="2529688" cy="1783080"/>
          </a:xfrm>
          <a:prstGeom prst="roundRect">
            <a:avLst>
              <a:gd name="adj" fmla="val 5128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341968" y="2651760"/>
            <a:ext cx="18896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500+</a:t>
            </a:r>
            <a:endParaRPr lang="en-US" sz="4000" dirty="0"/>
          </a:p>
        </p:txBody>
      </p:sp>
      <p:sp>
        <p:nvSpPr>
          <p:cNvPr id="34" name="Text 32"/>
          <p:cNvSpPr txBox="1"/>
          <p:nvPr/>
        </p:nvSpPr>
        <p:spPr>
          <a:xfrm>
            <a:off x="9341968" y="3429000"/>
            <a:ext cx="1889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Flit 셀러 DB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341968" y="3703320"/>
            <a:ext cx="1889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리뷰·참가 이력 보유 셀러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217920" y="4389120"/>
            <a:ext cx="2529688" cy="1783080"/>
          </a:xfrm>
          <a:prstGeom prst="roundRect">
            <a:avLst>
              <a:gd name="adj" fmla="val 5128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537960" y="4709160"/>
            <a:ext cx="18896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100+</a:t>
            </a:r>
            <a:endParaRPr lang="en-US" sz="4000" dirty="0"/>
          </a:p>
        </p:txBody>
      </p:sp>
      <p:sp>
        <p:nvSpPr>
          <p:cNvPr id="38" name="Text 36"/>
          <p:cNvSpPr txBox="1"/>
          <p:nvPr/>
        </p:nvSpPr>
        <p:spPr>
          <a:xfrm>
            <a:off x="6537960" y="5486400"/>
            <a:ext cx="1889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푸드트럭 DB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6537960" y="5760720"/>
            <a:ext cx="1889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위생·허가 검증 완료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9021928" y="4389120"/>
            <a:ext cx="2529688" cy="1783080"/>
          </a:xfrm>
          <a:prstGeom prst="roundRect">
            <a:avLst>
              <a:gd name="adj" fmla="val 5128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341968" y="4709160"/>
            <a:ext cx="18896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98%</a:t>
            </a:r>
            <a:endParaRPr lang="en-US" sz="4000" dirty="0"/>
          </a:p>
        </p:txBody>
      </p:sp>
      <p:sp>
        <p:nvSpPr>
          <p:cNvPr id="42" name="Text 40"/>
          <p:cNvSpPr txBox="1"/>
          <p:nvPr/>
        </p:nvSpPr>
        <p:spPr>
          <a:xfrm>
            <a:off x="9341968" y="5486400"/>
            <a:ext cx="1889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재의뢰율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9341968" y="5760720"/>
            <a:ext cx="1889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대행 고객 기준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VISION &amp; MISSION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비전과 미션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유니온이 지향하는 가치입니다.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331720"/>
            <a:ext cx="10911535" cy="1417320"/>
          </a:xfrm>
          <a:prstGeom prst="roundRect">
            <a:avLst>
              <a:gd name="adj" fmla="val 6452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VISION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788920"/>
            <a:ext cx="10088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공간이든 사람이 모이는 마켓이 될 수 있습니다.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3246120"/>
            <a:ext cx="10088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유휴 공간과 행사 현장에 검증된 셀러와 운영 시스템을 연결하여, 공간 소유자에게는 새로운 가치를, 셀러에게는 판매의 기회를, 방문객에게는 기억에 남는 경험을 제공합니다.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4023360"/>
            <a:ext cx="3454298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4343400"/>
            <a:ext cx="548640" cy="54864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4480560"/>
            <a:ext cx="274320" cy="27432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960120" y="502920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(Verified)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960120" y="5349240"/>
            <a:ext cx="28142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플랫폼의 리뷰 점수와 참가 이력을 기반으로 셀러를 선발하여 불참·품질 미달 리스크를 최소화합니다.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368698" y="4023360"/>
            <a:ext cx="3454298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688738" y="4343400"/>
            <a:ext cx="548640" cy="54864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5898" y="4480560"/>
            <a:ext cx="274320" cy="27432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4688738" y="502920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원스톱 (One-Stop)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4688738" y="5349240"/>
            <a:ext cx="28142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 분석, 셀러 모집, 장비 렌탈, 현장 운영, 정산까지 전 과정을 하나의 창구에서 책임집니다.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8097317" y="4023360"/>
            <a:ext cx="3454298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8417357" y="4343400"/>
            <a:ext cx="548640" cy="54864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4517" y="4480560"/>
            <a:ext cx="274320" cy="27432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417357" y="502920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투명 (Transparent)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8417357" y="5349240"/>
            <a:ext cx="28142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방문자 수, 셀러별 매출, 참가비 정산 내역을 담은 결과 보고서를 행사 종료 후 48시간 이내에 제공합니다.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PROBLEM &amp; SOLUTION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고객의 과제와 플릿의 해법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공간은 있으나 운영이 어려운 고객의 고민을 플릿 유니온이 해결합니다.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377440"/>
            <a:ext cx="3454298" cy="37947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2697480"/>
            <a:ext cx="548640" cy="54864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2834640"/>
            <a:ext cx="274320" cy="2743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645920" y="2788920"/>
            <a:ext cx="2174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유휴 공간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3429000"/>
            <a:ext cx="2814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수익이 발생하지 않는 유휴 공간을 어떻게 활용할 수 있습니까?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960120" y="4297680"/>
            <a:ext cx="2814218" cy="1600200"/>
          </a:xfrm>
          <a:prstGeom prst="roundRect">
            <a:avLst>
              <a:gd name="adj" fmla="val 5714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143000" y="44348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플릿의 해법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1143000" y="4663440"/>
            <a:ext cx="24484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주차장, 낮 시간 한산한 카페 홀, 비어 있는 건물 로비는 정기 플리마켓의 무대가 될 수 있습니다. 플릿 유니온이 유동 인구를 분석하고 최적의 마켓 모델을 설계합니다.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4368698" y="2377440"/>
            <a:ext cx="3454298" cy="37947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688738" y="2697480"/>
            <a:ext cx="548640" cy="54864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5898" y="2834640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5374538" y="2788920"/>
            <a:ext cx="2174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대학 축제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4688738" y="3429000"/>
            <a:ext cx="2814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성공적인 대학 축제 플리마켓의 조건은 무엇입니까?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4688738" y="4297680"/>
            <a:ext cx="2814218" cy="1600200"/>
          </a:xfrm>
          <a:prstGeom prst="roundRect">
            <a:avLst>
              <a:gd name="adj" fmla="val 5714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871618" y="44348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플릿의 해법</a:t>
            </a:r>
            <a:endParaRPr lang="en-US" sz="950" dirty="0"/>
          </a:p>
        </p:txBody>
      </p:sp>
      <p:sp>
        <p:nvSpPr>
          <p:cNvPr id="25" name="Text 21"/>
          <p:cNvSpPr txBox="1"/>
          <p:nvPr/>
        </p:nvSpPr>
        <p:spPr>
          <a:xfrm>
            <a:off x="4871618" y="4663440"/>
            <a:ext cx="24484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학생이 원하는 콘셉트, 검증된 셀러 구성, 안전한 현장 동선 설계가 핵심입니다. 플릿 리뷰 데이터를 기반으로 평점 높은 셀러를 우선 선발하여 행사 만족도를 높입니다.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8097317" y="2377440"/>
            <a:ext cx="3454298" cy="37947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8417357" y="2697480"/>
            <a:ext cx="548640" cy="54864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4517" y="2834640"/>
            <a:ext cx="274320" cy="274320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9103157" y="2788920"/>
            <a:ext cx="2174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카페·상업 공간</a:t>
            </a:r>
            <a:endParaRPr lang="en-US" sz="1100" dirty="0"/>
          </a:p>
        </p:txBody>
      </p:sp>
      <p:sp>
        <p:nvSpPr>
          <p:cNvPr id="30" name="Text 25"/>
          <p:cNvSpPr txBox="1"/>
          <p:nvPr/>
        </p:nvSpPr>
        <p:spPr>
          <a:xfrm>
            <a:off x="8417357" y="3429000"/>
            <a:ext cx="2814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매출을 높이는 이벤트, 직접 기획하기에는 부담이 크지 않습니까?</a:t>
            </a:r>
            <a:endParaRPr lang="en-US" sz="1400" dirty="0"/>
          </a:p>
        </p:txBody>
      </p:sp>
      <p:sp>
        <p:nvSpPr>
          <p:cNvPr id="31" name="Shape 26"/>
          <p:cNvSpPr/>
          <p:nvPr/>
        </p:nvSpPr>
        <p:spPr>
          <a:xfrm>
            <a:off x="8417357" y="4297680"/>
            <a:ext cx="2814218" cy="1600200"/>
          </a:xfrm>
          <a:prstGeom prst="roundRect">
            <a:avLst>
              <a:gd name="adj" fmla="val 5714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8600237" y="44348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플릿의 해법</a:t>
            </a:r>
            <a:endParaRPr lang="en-US" sz="950" dirty="0"/>
          </a:p>
        </p:txBody>
      </p:sp>
      <p:sp>
        <p:nvSpPr>
          <p:cNvPr id="33" name="Text 28"/>
          <p:cNvSpPr txBox="1"/>
          <p:nvPr/>
        </p:nvSpPr>
        <p:spPr>
          <a:xfrm>
            <a:off x="8600237" y="4663440"/>
            <a:ext cx="24484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셀러 모집, SNS 홍보, 당일 운영, 정산까지 모든 과정을 플릿 유니온이 대행합니다. 의뢰인은 본업에만 집중하시면 됩니다.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BUSINESS AREAS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영역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행사에 필요한 네 가지 영역을 개별 또는 패키지로 제공합니다.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377440"/>
            <a:ext cx="2522144" cy="3794760"/>
          </a:xfrm>
          <a:prstGeom prst="roundRect">
            <a:avLst>
              <a:gd name="adj" fmla="val 36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2651760"/>
            <a:ext cx="548640" cy="54864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788920"/>
            <a:ext cx="274320" cy="2743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914400" y="3337560"/>
            <a:ext cx="1973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서비스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914400" y="3566160"/>
            <a:ext cx="19735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플리마켓 운영 대행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914400" y="4160520"/>
            <a:ext cx="197350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유휴 공간, 대학 축제, 카페 홀 등 어떤 공간이든 플리마켓으로 전환합니다. 공간 분석부터 셀러 모집, 현장 운영, 정산까지 원스톱으로 대행합니다.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914400" y="5532120"/>
            <a:ext cx="1973504" cy="384048"/>
          </a:xfrm>
          <a:prstGeom prst="roundRect">
            <a:avLst>
              <a:gd name="adj" fmla="val 2381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51560" y="5532120"/>
            <a:ext cx="169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50+ 운영 행사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3436544" y="2377440"/>
            <a:ext cx="2522144" cy="3794760"/>
          </a:xfrm>
          <a:prstGeom prst="roundRect">
            <a:avLst>
              <a:gd name="adj" fmla="val 36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710864" y="2651760"/>
            <a:ext cx="548640" cy="54864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8024" y="2788920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3710864" y="3337560"/>
            <a:ext cx="1973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 행사 특화</a:t>
            </a:r>
            <a:endParaRPr lang="en-US" sz="950" dirty="0"/>
          </a:p>
        </p:txBody>
      </p:sp>
      <p:sp>
        <p:nvSpPr>
          <p:cNvPr id="22" name="Text 18"/>
          <p:cNvSpPr txBox="1"/>
          <p:nvPr/>
        </p:nvSpPr>
        <p:spPr>
          <a:xfrm>
            <a:off x="3710864" y="3566160"/>
            <a:ext cx="19735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야시장 &amp; 푸드 마켓 운영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3710864" y="4160520"/>
            <a:ext cx="197350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 조명, 공연, 푸드트럭, 핸드메이드 셀러가 어우러진 복합 야시장을 기획하며, 야간 안전 관리 체계로 흥행과 안전을 함께 확보합니다.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3710864" y="5532120"/>
            <a:ext cx="1973504" cy="384048"/>
          </a:xfrm>
          <a:prstGeom prst="roundRect">
            <a:avLst>
              <a:gd name="adj" fmla="val 2381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848024" y="5532120"/>
            <a:ext cx="169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평균 3,500+ 방문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6233008" y="2377440"/>
            <a:ext cx="2522144" cy="3794760"/>
          </a:xfrm>
          <a:prstGeom prst="roundRect">
            <a:avLst>
              <a:gd name="adj" fmla="val 36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507328" y="2651760"/>
            <a:ext cx="548640" cy="54864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4488" y="2788920"/>
            <a:ext cx="274320" cy="274320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6507328" y="3337560"/>
            <a:ext cx="1973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푸드트럭 전문 연결</a:t>
            </a:r>
            <a:endParaRPr lang="en-US" sz="950" dirty="0"/>
          </a:p>
        </p:txBody>
      </p:sp>
      <p:sp>
        <p:nvSpPr>
          <p:cNvPr id="30" name="Text 25"/>
          <p:cNvSpPr txBox="1"/>
          <p:nvPr/>
        </p:nvSpPr>
        <p:spPr>
          <a:xfrm>
            <a:off x="6507328" y="3566160"/>
            <a:ext cx="19735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푸드트럭 섭외 &amp; 운영</a:t>
            </a:r>
            <a:endParaRPr lang="en-US" sz="1400" dirty="0"/>
          </a:p>
        </p:txBody>
      </p:sp>
      <p:sp>
        <p:nvSpPr>
          <p:cNvPr id="31" name="Text 26"/>
          <p:cNvSpPr txBox="1"/>
          <p:nvPr/>
        </p:nvSpPr>
        <p:spPr>
          <a:xfrm>
            <a:off x="6507328" y="4160520"/>
            <a:ext cx="197350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한식, 디저트, 글로벌 푸드까지 100대 이상의 검증된 푸드트럭 DB를 기반으로 행사 콘셉트에 맞는 푸드트럭을 매칭하고 현장 배치까지 관리합니다.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6507328" y="5532120"/>
            <a:ext cx="1973504" cy="384048"/>
          </a:xfrm>
          <a:prstGeom prst="roundRect">
            <a:avLst>
              <a:gd name="adj" fmla="val 2381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6644488" y="5532120"/>
            <a:ext cx="169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100+ 푸드트럭 DB</a:t>
            </a:r>
            <a:endParaRPr lang="en-US" sz="1050" dirty="0"/>
          </a:p>
        </p:txBody>
      </p:sp>
      <p:sp>
        <p:nvSpPr>
          <p:cNvPr id="34" name="Shape 29"/>
          <p:cNvSpPr/>
          <p:nvPr/>
        </p:nvSpPr>
        <p:spPr>
          <a:xfrm>
            <a:off x="9029471" y="2377440"/>
            <a:ext cx="2522144" cy="3794760"/>
          </a:xfrm>
          <a:prstGeom prst="roundRect">
            <a:avLst>
              <a:gd name="adj" fmla="val 36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9303791" y="2651760"/>
            <a:ext cx="548640" cy="54864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3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0951" y="2788920"/>
            <a:ext cx="274320" cy="274320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9303791" y="3337560"/>
            <a:ext cx="1973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원스톱 장비 지원</a:t>
            </a:r>
            <a:endParaRPr lang="en-US" sz="950" dirty="0"/>
          </a:p>
        </p:txBody>
      </p:sp>
      <p:sp>
        <p:nvSpPr>
          <p:cNvPr id="38" name="Text 32"/>
          <p:cNvSpPr txBox="1"/>
          <p:nvPr/>
        </p:nvSpPr>
        <p:spPr>
          <a:xfrm>
            <a:off x="9303791" y="3566160"/>
            <a:ext cx="19735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물품 렌탈</a:t>
            </a:r>
            <a:endParaRPr lang="en-US" sz="1400" dirty="0"/>
          </a:p>
        </p:txBody>
      </p:sp>
      <p:sp>
        <p:nvSpPr>
          <p:cNvPr id="39" name="Text 33"/>
          <p:cNvSpPr txBox="1"/>
          <p:nvPr/>
        </p:nvSpPr>
        <p:spPr>
          <a:xfrm>
            <a:off x="9303791" y="4160520"/>
            <a:ext cx="197350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부스 텐트, 테이블·의자, 조명, 배너·간판, 전기 설비까지 행사에 필요한 모든 장비를 설치·철거 인력과 함께 제공합니다.</a:t>
            </a:r>
            <a:endParaRPr lang="en-US" sz="1000" dirty="0"/>
          </a:p>
        </p:txBody>
      </p:sp>
      <p:sp>
        <p:nvSpPr>
          <p:cNvPr id="40" name="Shape 34"/>
          <p:cNvSpPr/>
          <p:nvPr/>
        </p:nvSpPr>
        <p:spPr>
          <a:xfrm>
            <a:off x="9303791" y="5532120"/>
            <a:ext cx="1973504" cy="384048"/>
          </a:xfrm>
          <a:prstGeom prst="roundRect">
            <a:avLst>
              <a:gd name="adj" fmla="val 2381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9440951" y="5532120"/>
            <a:ext cx="169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500+ 보유 장비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 SERVICE DETAIL  ·  플리마켓 운영 대행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플리마켓 운영 대행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서비스  ·  공간 분석부터 셀러 모집, 현장 설치, 행사 운영, 정산까지 원스톱으로 대행합니다.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331720"/>
            <a:ext cx="3749040" cy="384048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2651760"/>
            <a:ext cx="594360" cy="5943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710" y="2800350"/>
            <a:ext cx="297180" cy="29718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960120" y="342900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유휴 공간, 대학 축제, 카페 홀 등 어떤 공간이든 플리마켓으로 전환합니다. 플릿 셀러 네트워크를 기반으로 품질 높은 플리마켓을 원스톱으로 대행하며, 의뢰인은 공간만 제공하시면 됩니다.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960120" y="5029200"/>
            <a:ext cx="975360" cy="868680"/>
          </a:xfrm>
          <a:prstGeom prst="roundRect">
            <a:avLst>
              <a:gd name="adj" fmla="val 1052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05840" y="5138928"/>
            <a:ext cx="88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50+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5541264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행사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2026920" y="5029200"/>
            <a:ext cx="975360" cy="868680"/>
          </a:xfrm>
          <a:prstGeom prst="roundRect">
            <a:avLst>
              <a:gd name="adj" fmla="val 1052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72640" y="5138928"/>
            <a:ext cx="88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500+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2072640" y="5541264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Flit 셀러 DB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3093720" y="5029200"/>
            <a:ext cx="975360" cy="868680"/>
          </a:xfrm>
          <a:prstGeom prst="roundRect">
            <a:avLst>
              <a:gd name="adj" fmla="val 1052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139440" y="5138928"/>
            <a:ext cx="88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98%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3139440" y="5541264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재의뢰율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709160" y="233172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937760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4937760" y="278892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Flit 기반 셀러 선발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4937760" y="317296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플랫폼의 리뷰 점수와 참가 이력을 기반으로 콘셉트에 맞는 셀러를 선발하여 불참·품질 미달 리스크를 최소화합니다.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7050938" y="233172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279538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279538" y="278892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 최적화 레이아웃 설계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7279538" y="317296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 형태, 유동 동선, 출입구 위치를 분석해 부스 배치와 동선을 설계하여 체류 시간과 셀러 매출을 함께 높입니다.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9392717" y="233172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621317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9621317" y="278892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전담 현장 매니저 배치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9621317" y="317296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당일 전담 매니저가 상주하여 셀러 입·퇴장 관리, 방문객 안내, 돌발 상황 대응을 책임집니다.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4709160" y="434340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937760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4937760" y="480060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SNS 홍보 지원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4937760" y="518464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인스타그램·카카오채널을 통한 셀러 모집 공고와 방문객 유입 홍보를 별도 비용 없이 지원합니다.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7050938" y="434340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279538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000" dirty="0"/>
          </a:p>
        </p:txBody>
      </p:sp>
      <p:sp>
        <p:nvSpPr>
          <p:cNvPr id="41" name="Text 38"/>
          <p:cNvSpPr txBox="1"/>
          <p:nvPr/>
        </p:nvSpPr>
        <p:spPr>
          <a:xfrm>
            <a:off x="7279538" y="480060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투명한 정산과 보고서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7279538" y="518464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방문자 수, 셀러별 매출, 참가비 정산 내역을 담은 결과 보고서를 제공하여 모든 수치를 투명하게 공개합니다.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9392717" y="434340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621317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1000" dirty="0"/>
          </a:p>
        </p:txBody>
      </p:sp>
      <p:sp>
        <p:nvSpPr>
          <p:cNvPr id="45" name="Text 42"/>
          <p:cNvSpPr txBox="1"/>
          <p:nvPr/>
        </p:nvSpPr>
        <p:spPr>
          <a:xfrm>
            <a:off x="9621317" y="480060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정기 운영 우대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9621317" y="518464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2회 이상 정기 운영 계약 시 운영비 할인과 전담 매니저 우선 배정 혜택을 제공합니다.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 SERVICE DETAIL  ·  야시장 &amp; 푸드 마켓 운영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야시장 &amp; 푸드 마켓 운영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 행사 특화  ·  조명, 공연, 푸드트럭, 셀러가 어우러진 복합 야시장을 기획·운영합니다.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331720"/>
            <a:ext cx="3749040" cy="384048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2651760"/>
            <a:ext cx="594360" cy="5943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710" y="2800350"/>
            <a:ext cx="297180" cy="29718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960120" y="342900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저녁부터 밤까지 이어지는 야시장 행사를 전문적으로 기획합니다. 단순한 마켓을 넘어 방문객이 기억하는 경험을 만들며, 야간 행사 전담 시스템으로 안전과 흥행을 동시에 확보합니다.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960120" y="5029200"/>
            <a:ext cx="975360" cy="868680"/>
          </a:xfrm>
          <a:prstGeom prst="roundRect">
            <a:avLst>
              <a:gd name="adj" fmla="val 1052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05840" y="5138928"/>
            <a:ext cx="88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20+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5541264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야시장 운영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2026920" y="5029200"/>
            <a:ext cx="975360" cy="868680"/>
          </a:xfrm>
          <a:prstGeom prst="roundRect">
            <a:avLst>
              <a:gd name="adj" fmla="val 1052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72640" y="5138928"/>
            <a:ext cx="88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3,500+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2072640" y="5541264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평균 방문자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3093720" y="5029200"/>
            <a:ext cx="975360" cy="868680"/>
          </a:xfrm>
          <a:prstGeom prst="roundRect">
            <a:avLst>
              <a:gd name="adj" fmla="val 1052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139440" y="5138928"/>
            <a:ext cx="88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100%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3139440" y="5541264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재계약률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709160" y="233172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937760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4937760" y="278892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 조명 연출 기획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4937760" y="317296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무드등, 가랜드, 포토존 조명까지 야시장 특유의 감성적인 야간 조명 연출을 기획하고 설치합니다.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7050938" y="233172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279538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279538" y="278892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공연·버스킹 연계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7279538" y="317296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어쿠스틱 버스커, 소규모 공연팀과 연계하여 활기를 더하며, 섭외와 무대 설치까지 대행합니다.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9392717" y="233172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621317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9621317" y="278892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푸드트럭 통합 운영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9621317" y="317296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 맞춤 메뉴를 보유한 푸드트럭을 섭외하여 마켓과 통합 운영하고, 전기·용수 연결을 현장에서 관리합니다.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4709160" y="434340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937760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4937760" y="480060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 안전 관리 시스템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4937760" y="518464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 행사 특성에 맞춘 안전 매뉴얼과 인력을 배치하고, 비상 대피로와 응급 대응 절차를 사전에 수립합니다.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7050938" y="434340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279538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000" dirty="0"/>
          </a:p>
        </p:txBody>
      </p:sp>
      <p:sp>
        <p:nvSpPr>
          <p:cNvPr id="41" name="Text 38"/>
          <p:cNvSpPr txBox="1"/>
          <p:nvPr/>
        </p:nvSpPr>
        <p:spPr>
          <a:xfrm>
            <a:off x="7279538" y="480060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SNS 바이럴 기획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7279538" y="518464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포토존 설치, 해시태그 이벤트 등 인스타그램 확산을 위한 SNS 콘텐츠 기획을 포함합니다.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9392717" y="434340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621317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1000" dirty="0"/>
          </a:p>
        </p:txBody>
      </p:sp>
      <p:sp>
        <p:nvSpPr>
          <p:cNvPr id="45" name="Text 42"/>
          <p:cNvSpPr txBox="1"/>
          <p:nvPr/>
        </p:nvSpPr>
        <p:spPr>
          <a:xfrm>
            <a:off x="9621317" y="480060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시즌 특화 기획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9621317" y="518464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크리스마스, 여름 밤, 가을 축제 등 시즌에 맞는 테마 야시장을 기획합니다.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 SERVICE DETAIL  ·  푸드트럭 섭외 &amp; 운영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푸드트럭 섭외 &amp; 운영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푸드트럭 전문 연결  ·  행사 콘셉트에 맞는 푸드트럭을 직접 섭외하고 현장 배치까지 관리합니다.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331720"/>
            <a:ext cx="3749040" cy="384048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2651760"/>
            <a:ext cx="594360" cy="5943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710" y="2800350"/>
            <a:ext cx="297180" cy="29718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960120" y="342900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한식, 디저트, 글로벌 푸드까지 100대 이상의 검증된 푸드트럭 DB를 보유하고 있습니다. 행사 콘셉트와 공간 조건에 맞는 푸드트럭을 신속하게 매칭하고, 계약·배치·현장 관리까지 전 과정을 대행합니다.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960120" y="5029200"/>
            <a:ext cx="975360" cy="868680"/>
          </a:xfrm>
          <a:prstGeom prst="roundRect">
            <a:avLst>
              <a:gd name="adj" fmla="val 1052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05840" y="5138928"/>
            <a:ext cx="88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100+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5541264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푸드트럭 DB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2026920" y="5029200"/>
            <a:ext cx="975360" cy="868680"/>
          </a:xfrm>
          <a:prstGeom prst="roundRect">
            <a:avLst>
              <a:gd name="adj" fmla="val 1052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72640" y="5138928"/>
            <a:ext cx="88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30+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2072640" y="5541264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납품 실적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3093720" y="5029200"/>
            <a:ext cx="975360" cy="868680"/>
          </a:xfrm>
          <a:prstGeom prst="roundRect">
            <a:avLst>
              <a:gd name="adj" fmla="val 1052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139440" y="5138928"/>
            <a:ext cx="88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0건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3139440" y="5541264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 불참 미대체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709160" y="233172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937760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4937760" y="278892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100대 이상 검증 DB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4937760" y="317296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한식, 양식, 일식, 디저트, 음료 등 카테고리별 검증된 DB를 바탕으로 중복 없는 메뉴 구성을 제안합니다.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7050938" y="233172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279538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279538" y="278892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맞춤 매칭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7279538" y="317296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가족 친화, 청년 대상, 프리미엄 등 행사 콘셉트와 공간 규모에 맞는 최적의 푸드트럭 조합을 제안합니다.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9392717" y="233172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621317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9621317" y="278892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전기·용수 조율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9621317" y="317296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공간의 전기 용량과 용수 공급 여건을 사전에 확인하고 푸드트럭별 필요 설비를 조율합니다.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4709160" y="434340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937760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4937760" y="480060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배치·동선 관리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4937760" y="518464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방문객 대기 줄, 혼잡 방지, 셀러 구역과 충돌 없는 동선을 설계하여 현장을 관리합니다.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7050938" y="434340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279538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000" dirty="0"/>
          </a:p>
        </p:txBody>
      </p:sp>
      <p:sp>
        <p:nvSpPr>
          <p:cNvPr id="41" name="Text 38"/>
          <p:cNvSpPr txBox="1"/>
          <p:nvPr/>
        </p:nvSpPr>
        <p:spPr>
          <a:xfrm>
            <a:off x="7279538" y="480060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위생·안전 기준 확인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7279538" y="518464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푸드트럭의 영업허가증과 위생 점검 이력을 사전에 확인하여 식품 안전 사고를 방지합니다.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9392717" y="434340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621317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1000" dirty="0"/>
          </a:p>
        </p:txBody>
      </p:sp>
      <p:sp>
        <p:nvSpPr>
          <p:cNvPr id="45" name="Text 42"/>
          <p:cNvSpPr txBox="1"/>
          <p:nvPr/>
        </p:nvSpPr>
        <p:spPr>
          <a:xfrm>
            <a:off x="9621317" y="480060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단독 섭외 가능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9621317" y="518464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1대부터 단독 섭외가 가능하며, 기업 행사, 지역 축제, 개인 행사 모두 대응합니다. 예비 차량을 대기시켜 불참 시 즉시 대체합니다.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 SERVICE DETAIL  ·  행사 물품 렌탈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물품 렌탈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원스톱 장비 지원  ·  텐트, 테이블·의자, 조명, 배너·간판, 전기 설비까지 일괄 제공합니다.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331720"/>
            <a:ext cx="3749040" cy="384048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2651760"/>
            <a:ext cx="594360" cy="5943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710" y="2800350"/>
            <a:ext cx="297180" cy="29718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960120" y="342900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장비를 별도로 구매하실 필요가 없습니다. 텐트, 테이블, 조명, 배너까지 한 번에 해결하며, 운영 대행 패키지와 함께 이용하시면 렌탈 비용 할인 혜택이 적용됩니다.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960120" y="5029200"/>
            <a:ext cx="975360" cy="868680"/>
          </a:xfrm>
          <a:prstGeom prst="roundRect">
            <a:avLst>
              <a:gd name="adj" fmla="val 1052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05840" y="5138928"/>
            <a:ext cx="88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500+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5541264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보유 장비 수량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2026920" y="5029200"/>
            <a:ext cx="975360" cy="868680"/>
          </a:xfrm>
          <a:prstGeom prst="roundRect">
            <a:avLst>
              <a:gd name="adj" fmla="val 1052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72640" y="5138928"/>
            <a:ext cx="88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당일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2072640" y="5541264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긴급 렌탈 가능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3093720" y="5029200"/>
            <a:ext cx="975360" cy="868680"/>
          </a:xfrm>
          <a:prstGeom prst="roundRect">
            <a:avLst>
              <a:gd name="adj" fmla="val 1052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139440" y="5138928"/>
            <a:ext cx="88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100%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3139440" y="5541264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인력 포함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709160" y="233172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937760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4937760" y="278892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부스 텐트·구조물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4937760" y="317296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3×3m 파고라 텐트부터 대형 천막까지 다양한 규모의 부스 구조물을 설치·철거 인력과 함께 렌탈합니다.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7050938" y="233172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279538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279538" y="278892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테이블·의자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7279538" y="317296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접이식 테이블, 좌식 테이블, 바 테이블 등 행사 성격에 맞는 가구를 셀러용·방문객용으로 제공합니다.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9392717" y="233172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621317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9621317" y="278892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조명 장비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9621317" y="317296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LED 줄조명, 무드등, 스팟 조명, 투광등까지 야외·실내 행사 모두 대응 가능한 조명을 렌탈합니다.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4709160" y="434340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937760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4937760" y="480060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배너·간판 제작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4937760" y="518464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현수막, X배너, 입간판, 포토존 배경판을 디자인부터 제작·설치까지 일괄 제공합니다.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7050938" y="434340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279538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000" dirty="0"/>
          </a:p>
        </p:txBody>
      </p:sp>
      <p:sp>
        <p:nvSpPr>
          <p:cNvPr id="41" name="Text 38"/>
          <p:cNvSpPr txBox="1"/>
          <p:nvPr/>
        </p:nvSpPr>
        <p:spPr>
          <a:xfrm>
            <a:off x="7279538" y="480060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전기 설비·멀티탭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7279538" y="518464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전기 분배기, 멀티탭, 연장 코드를 안전 규격에 맞게 제공하고 설치합니다.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9392717" y="434340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621317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1000" dirty="0"/>
          </a:p>
        </p:txBody>
      </p:sp>
      <p:sp>
        <p:nvSpPr>
          <p:cNvPr id="45" name="Text 42"/>
          <p:cNvSpPr txBox="1"/>
          <p:nvPr/>
        </p:nvSpPr>
        <p:spPr>
          <a:xfrm>
            <a:off x="9621317" y="480060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렌탈 전용 패키지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9621317" y="518464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규모에 맞는 렌탈 패키지를 구성하며, 운영 대행과 함께 신청 시 패키지 할인이 적용됩니다.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 WHY FLIT UNION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플릿의 차별점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운영하는 셀러 플랫폼 '플릿(Flit)'의 데이터가 행사의 품질을 보증합니다.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331720"/>
            <a:ext cx="3931920" cy="3840480"/>
          </a:xfrm>
          <a:prstGeom prst="roundRect">
            <a:avLst>
              <a:gd name="adj" fmla="val 2381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2651760"/>
            <a:ext cx="594360" cy="5943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710" y="2800350"/>
            <a:ext cx="297180" cy="29718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960120" y="33832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플릿(Flit) 셀러 플랫폼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3703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app.flitunion.com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960120" y="4160520"/>
            <a:ext cx="3383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플리마켓·팝업 셀러가 행사 정보를 찾고 참가 기록을 남기는 플랫폼</a:t>
            </a:r>
            <a:endParaRPr lang="en-US" sz="105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셀러의 리뷰 점수, 참가 이력, 매출 기록이 축적됩니다</a:t>
            </a:r>
            <a:endParaRPr lang="en-US" sz="105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축적된 데이터를 근거로 행사 콘셉트에 맞는 셀러를 선발합니다</a:t>
            </a:r>
            <a:endParaRPr lang="en-US" sz="105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모집 공고가 플랫폼에 게시되어 별도 홍보 비용 없이 셀러가 모집됩니다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2331720"/>
          <a:ext cx="665957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735428"/>
                <a:gridCol w="2735428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F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 모집 방식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F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플릿 유니온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FD0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셀러 검증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SNS 지원자의 실제 품질·성실도를 사전에 확인하기 어렵습니다.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리뷰 점수와 참가 이력이 있는 셀러를 데이터 기반으로 선발합니다.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불참 대응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당일 불참 시 대체 셀러·푸드트럭 확보가 어렵습니다.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행사별 예비 푸드트럭 1~2대를 대기시켜 즉시 대체 운영합니다.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현장 운영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주최 측 인력이 셀러 관리와 방문객 안내를 병행해야 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전담 현장 매니저가 상주하여 입·퇴장, 안내, 돌발 상황을 책임집니다.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정산·보고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참가비와 매출 집계가 수기로 이루어져 결과 파악이 늦어집니다.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행사 종료 후 48시간 이내에 정산서와 결과 보고서를 제공합니다.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홍보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셀러 모집·방문객 유입 홍보에 별도 비용이 발생합니다.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플릿 플랫폼과 SNS 채널을 통한 모집·유입 홍보를 기본 제공합니다.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  PROCESS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프로세스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상담부터 결과 보고까지 다섯 단계로 진행됩니다.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639794" y="2926080"/>
            <a:ext cx="8912108" cy="0"/>
          </a:xfrm>
          <a:prstGeom prst="line">
            <a:avLst/>
          </a:prstGeom>
          <a:noFill/>
          <a:ln w="19050">
            <a:solidFill>
              <a:srgbClr val="1F5FD0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1228314" y="2514600"/>
            <a:ext cx="822960" cy="8229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4054" y="2720340"/>
            <a:ext cx="411480" cy="41148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0080" y="3520440"/>
            <a:ext cx="19994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640080" y="3776472"/>
            <a:ext cx="19994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 상담 및 공간 분석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4206240"/>
            <a:ext cx="181654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 위치, 면적, 유동 인구, 주변 상권을 분석하고 최적의 마켓 콘셉트를 제안합니다.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456341" y="2514600"/>
            <a:ext cx="822960" cy="8229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2081" y="2720340"/>
            <a:ext cx="411480" cy="41148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2868107" y="3520440"/>
            <a:ext cx="19994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</a:t>
            </a:r>
            <a:endParaRPr lang="en-US" sz="950" dirty="0"/>
          </a:p>
        </p:txBody>
      </p:sp>
      <p:sp>
        <p:nvSpPr>
          <p:cNvPr id="19" name="Text 15"/>
          <p:cNvSpPr txBox="1"/>
          <p:nvPr/>
        </p:nvSpPr>
        <p:spPr>
          <a:xfrm>
            <a:off x="2868107" y="3776472"/>
            <a:ext cx="19994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 확정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2959547" y="4206240"/>
            <a:ext cx="181654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날짜, 규모, 셀러 카테고리 구성, 예상 수익 구조를 포함한 기획안을 확정합니다.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5684368" y="2514600"/>
            <a:ext cx="822960" cy="8229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0108" y="2720340"/>
            <a:ext cx="411480" cy="41148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096134" y="3520440"/>
            <a:ext cx="19994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</a:t>
            </a:r>
            <a:endParaRPr lang="en-US" sz="950" dirty="0"/>
          </a:p>
        </p:txBody>
      </p:sp>
      <p:sp>
        <p:nvSpPr>
          <p:cNvPr id="24" name="Text 19"/>
          <p:cNvSpPr txBox="1"/>
          <p:nvPr/>
        </p:nvSpPr>
        <p:spPr>
          <a:xfrm>
            <a:off x="5096134" y="3776472"/>
            <a:ext cx="19994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셀러 모집 및 심사</a:t>
            </a:r>
            <a:endParaRPr lang="en-US" sz="1300" dirty="0"/>
          </a:p>
        </p:txBody>
      </p:sp>
      <p:sp>
        <p:nvSpPr>
          <p:cNvPr id="25" name="Text 20"/>
          <p:cNvSpPr txBox="1"/>
          <p:nvPr/>
        </p:nvSpPr>
        <p:spPr>
          <a:xfrm>
            <a:off x="5187574" y="4206240"/>
            <a:ext cx="181654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플랫폼과 자체 채널로 셀러를 모집하고, 리뷰 점수를 기준으로 심사·선발합니다.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7912395" y="2514600"/>
            <a:ext cx="822960" cy="8229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8135" y="2720340"/>
            <a:ext cx="411480" cy="411480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7324161" y="3520440"/>
            <a:ext cx="19994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4</a:t>
            </a:r>
            <a:endParaRPr lang="en-US" sz="950" dirty="0"/>
          </a:p>
        </p:txBody>
      </p:sp>
      <p:sp>
        <p:nvSpPr>
          <p:cNvPr id="29" name="Text 23"/>
          <p:cNvSpPr txBox="1"/>
          <p:nvPr/>
        </p:nvSpPr>
        <p:spPr>
          <a:xfrm>
            <a:off x="7324161" y="3776472"/>
            <a:ext cx="19994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설치 및 운영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7415601" y="4206240"/>
            <a:ext cx="181654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부스 설치, 셀러 배치, 방문자 안내, 안전 관리를 전담 매니저가 책임집니다.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10140422" y="2514600"/>
            <a:ext cx="822960" cy="8229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46162" y="2720340"/>
            <a:ext cx="411480" cy="41148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552188" y="3520440"/>
            <a:ext cx="19994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</a:t>
            </a:r>
            <a:endParaRPr lang="en-US" sz="950" dirty="0"/>
          </a:p>
        </p:txBody>
      </p:sp>
      <p:sp>
        <p:nvSpPr>
          <p:cNvPr id="34" name="Text 27"/>
          <p:cNvSpPr txBox="1"/>
          <p:nvPr/>
        </p:nvSpPr>
        <p:spPr>
          <a:xfrm>
            <a:off x="9552188" y="3776472"/>
            <a:ext cx="19994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정산 및 결과 보고</a:t>
            </a:r>
            <a:endParaRPr lang="en-US" sz="1300" dirty="0"/>
          </a:p>
        </p:txBody>
      </p:sp>
      <p:sp>
        <p:nvSpPr>
          <p:cNvPr id="35" name="Text 28"/>
          <p:cNvSpPr txBox="1"/>
          <p:nvPr/>
        </p:nvSpPr>
        <p:spPr>
          <a:xfrm>
            <a:off x="9643628" y="4206240"/>
            <a:ext cx="181654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종료 후 48시간 이내에 정산서와 결과 보고서를 제공합니다.</a:t>
            </a:r>
            <a:endParaRPr lang="en-US" sz="1000" dirty="0"/>
          </a:p>
        </p:txBody>
      </p:sp>
      <p:sp>
        <p:nvSpPr>
          <p:cNvPr id="36" name="Shape 29"/>
          <p:cNvSpPr/>
          <p:nvPr/>
        </p:nvSpPr>
        <p:spPr>
          <a:xfrm>
            <a:off x="640080" y="5440680"/>
            <a:ext cx="345429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0"/>
          <p:cNvSpPr/>
          <p:nvPr/>
        </p:nvSpPr>
        <p:spPr>
          <a:xfrm>
            <a:off x="822960" y="5623560"/>
            <a:ext cx="411480" cy="41148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5830" y="5726430"/>
            <a:ext cx="205740" cy="205740"/>
          </a:xfrm>
          <a:prstGeom prst="rect">
            <a:avLst/>
          </a:prstGeom>
        </p:spPr>
      </p:pic>
      <p:sp>
        <p:nvSpPr>
          <p:cNvPr id="39" name="Text 31"/>
          <p:cNvSpPr txBox="1"/>
          <p:nvPr/>
        </p:nvSpPr>
        <p:spPr>
          <a:xfrm>
            <a:off x="1371600" y="5440680"/>
            <a:ext cx="25856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행사일 기준 최소 3주 전 의뢰를 권장합니다.</a:t>
            </a:r>
            <a:endParaRPr lang="en-US" sz="1050" dirty="0"/>
          </a:p>
        </p:txBody>
      </p:sp>
      <p:sp>
        <p:nvSpPr>
          <p:cNvPr id="40" name="Shape 32"/>
          <p:cNvSpPr/>
          <p:nvPr/>
        </p:nvSpPr>
        <p:spPr>
          <a:xfrm>
            <a:off x="4368698" y="5440680"/>
            <a:ext cx="345429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4551578" y="5623560"/>
            <a:ext cx="411480" cy="41148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54448" y="5726430"/>
            <a:ext cx="205740" cy="205740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5100218" y="5440680"/>
            <a:ext cx="25856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보고서에는 방문자 수, 셀러별 매출, 정산 내역이 포함됩니다.</a:t>
            </a:r>
            <a:endParaRPr lang="en-US" sz="1050" dirty="0"/>
          </a:p>
        </p:txBody>
      </p:sp>
      <p:sp>
        <p:nvSpPr>
          <p:cNvPr id="44" name="Shape 35"/>
          <p:cNvSpPr/>
          <p:nvPr/>
        </p:nvSpPr>
        <p:spPr>
          <a:xfrm>
            <a:off x="8097317" y="5440680"/>
            <a:ext cx="345429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Shape 36"/>
          <p:cNvSpPr/>
          <p:nvPr/>
        </p:nvSpPr>
        <p:spPr>
          <a:xfrm>
            <a:off x="8280197" y="5623560"/>
            <a:ext cx="411480" cy="41148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4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3067" y="5726430"/>
            <a:ext cx="205740" cy="205740"/>
          </a:xfrm>
          <a:prstGeom prst="rect">
            <a:avLst/>
          </a:prstGeom>
        </p:spPr>
      </p:pic>
      <p:sp>
        <p:nvSpPr>
          <p:cNvPr id="47" name="Text 37"/>
          <p:cNvSpPr txBox="1"/>
          <p:nvPr/>
        </p:nvSpPr>
        <p:spPr>
          <a:xfrm>
            <a:off x="8828837" y="5440680"/>
            <a:ext cx="25856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야외 행사는 텐트 렌탈을 포함한 우천 대비 플랜을 사전에 수립합니다.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  PORTFOLIO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실적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대학교, 아파트 단지, 대형 축제 등 다양한 공간에서 행사를 운영하였습니다.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377440"/>
            <a:ext cx="255643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8680" y="2606040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68680" y="260604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야시장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2011680" y="2606040"/>
            <a:ext cx="1001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강원 원주시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2971800"/>
            <a:ext cx="20992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원주 소재 대학교 야시장 운영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3310128"/>
            <a:ext cx="20992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축제 기간 저녁 시간대 푸드트럭과 플리마켓 셀러를 결합한 복합 야간 마켓을 운영하였습니다.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425114" y="2377440"/>
            <a:ext cx="255643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53714" y="2606040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653714" y="260604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캠퍼스 마켓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4796714" y="2606040"/>
            <a:ext cx="1001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대구광역시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3653714" y="2971800"/>
            <a:ext cx="20992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대구 소재 대학교 플리마켓 운영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3653714" y="3310128"/>
            <a:ext cx="20992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 창업 셀러와 외부 플릿 인증 셀러를 조합하여 전 과정을 대행하였습니다.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210148" y="2377440"/>
            <a:ext cx="255643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38748" y="2606040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38748" y="260604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축제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7581748" y="2606040"/>
            <a:ext cx="1001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서울특별시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6438748" y="2971800"/>
            <a:ext cx="20992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소재 대형 축제 부스 운영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6438748" y="3310128"/>
            <a:ext cx="20992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대규모 인파 동선에 맞춘 부스 배치와 안전 관리 체계를 수립하여 운영하였습니다.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8995181" y="2377440"/>
            <a:ext cx="255643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223781" y="2606040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223781" y="260604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야시장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10366781" y="2606040"/>
            <a:ext cx="1001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서울특별시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9223781" y="2971800"/>
            <a:ext cx="20992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소재 아파트 야시장 운영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9223781" y="3310128"/>
            <a:ext cx="20992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단지 내 유휴 공간을 활용한 주민 참여형 야시장을 관리사무소와 협업하여 운영하였습니다.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40080" y="4389120"/>
            <a:ext cx="255643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68680" y="4617720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68680" y="461772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야시장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2011680" y="4617720"/>
            <a:ext cx="1001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경기 하남시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868680" y="4983480"/>
            <a:ext cx="20992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하남 소재 아파트 야시장 운영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868680" y="5321808"/>
            <a:ext cx="20992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가족 단위 방문객을 고려한 키즈 체험·먹거리 콘텐츠로 높은 참여율을 기록하였습니다.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425114" y="4389120"/>
            <a:ext cx="255643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653714" y="4617720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3653714" y="461772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캠퍼스 마켓</a:t>
            </a:r>
            <a:endParaRPr lang="en-US" sz="850" dirty="0"/>
          </a:p>
        </p:txBody>
      </p:sp>
      <p:sp>
        <p:nvSpPr>
          <p:cNvPr id="43" name="Text 41"/>
          <p:cNvSpPr txBox="1"/>
          <p:nvPr/>
        </p:nvSpPr>
        <p:spPr>
          <a:xfrm>
            <a:off x="4796714" y="4617720"/>
            <a:ext cx="1001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서울특별시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3653714" y="4983480"/>
            <a:ext cx="20992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소재 대학교 플리마켓 운영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3653714" y="5321808"/>
            <a:ext cx="20992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 창업팀 우선 선발과 플릿 셀러 조합으로 품질 높은 캠퍼스 마켓을 구현하였습니다.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6210148" y="4389120"/>
            <a:ext cx="255643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438748" y="4617720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438748" y="461772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축제</a:t>
            </a:r>
            <a:endParaRPr lang="en-US" sz="850" dirty="0"/>
          </a:p>
        </p:txBody>
      </p:sp>
      <p:sp>
        <p:nvSpPr>
          <p:cNvPr id="49" name="Text 47"/>
          <p:cNvSpPr txBox="1"/>
          <p:nvPr/>
        </p:nvSpPr>
        <p:spPr>
          <a:xfrm>
            <a:off x="7581748" y="4617720"/>
            <a:ext cx="1001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충청도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6438748" y="4983480"/>
            <a:ext cx="20992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충청 소재 대형 축제 부스 운영</a:t>
            </a:r>
            <a:endParaRPr lang="en-US" sz="1150" dirty="0"/>
          </a:p>
        </p:txBody>
      </p:sp>
      <p:sp>
        <p:nvSpPr>
          <p:cNvPr id="51" name="Text 49"/>
          <p:cNvSpPr txBox="1"/>
          <p:nvPr/>
        </p:nvSpPr>
        <p:spPr>
          <a:xfrm>
            <a:off x="6438748" y="5321808"/>
            <a:ext cx="20992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특산물·공예 셀러와 플릿 셀러를 조합하고 장비 렌탈을 일괄 제공하였습니다.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8995181" y="4389120"/>
            <a:ext cx="255643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223781" y="4617720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9223781" y="461772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민속 축제</a:t>
            </a:r>
            <a:endParaRPr lang="en-US" sz="850" dirty="0"/>
          </a:p>
        </p:txBody>
      </p:sp>
      <p:sp>
        <p:nvSpPr>
          <p:cNvPr id="55" name="Text 53"/>
          <p:cNvSpPr txBox="1"/>
          <p:nvPr/>
        </p:nvSpPr>
        <p:spPr>
          <a:xfrm>
            <a:off x="10366781" y="4617720"/>
            <a:ext cx="1001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서울특별시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9223781" y="4983480"/>
            <a:ext cx="20992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소재 민속 축제 부스 운영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9223781" y="5321808"/>
            <a:ext cx="20992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전통 공예·먹거리·체험 셀러 중심으로 축제 정체성에 부합하는 부스 존을 연출하였습니다.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  CASE STUDY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사례 연구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배경부터 성과까지, 대표 운영 사례 두 건을 소개합니다.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377440"/>
            <a:ext cx="2834640" cy="1783080"/>
          </a:xfrm>
          <a:prstGeom prst="roundRect">
            <a:avLst>
              <a:gd name="adj" fmla="val 5128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2651760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265176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야시장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30632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원주 소재 대학교 야시장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657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강원 원주시 · 대학 축제 기간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703320" y="2377440"/>
            <a:ext cx="249417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931920" y="2606040"/>
            <a:ext cx="2036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배경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931920" y="2926080"/>
            <a:ext cx="20369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대학 축제 기간 저녁 시간대에 콘텐츠가 부재한 문제를 해결하고, 학생과 지역 주민이 함께 즐길 수 있는 야시장을 기획하였습니다.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80378" y="2377440"/>
            <a:ext cx="249417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08978" y="2606040"/>
            <a:ext cx="2036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방식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608978" y="2926080"/>
            <a:ext cx="20369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저녁부터 야간까지 푸드트럭 존과 플리마켓 셀러 존을 병행 운영하고, 야간 조명 연출로 분위기를 조성하였습니다.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057437" y="2377440"/>
            <a:ext cx="249417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286037" y="2606040"/>
            <a:ext cx="2036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9286037" y="2926080"/>
            <a:ext cx="20369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축제 기간 야간 방문자 유입을 크게 늘리며 대학 측으로부터 높은 만족도를 얻었습니다.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40080" y="4389120"/>
            <a:ext cx="2834640" cy="1783080"/>
          </a:xfrm>
          <a:prstGeom prst="roundRect">
            <a:avLst>
              <a:gd name="adj" fmla="val 5128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4400" y="4663440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4400" y="466344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야시장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914400" y="50749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하남 소재 아파트 야시장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914400" y="56692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경기 하남시 · 대규모 아파트 단지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703320" y="4389120"/>
            <a:ext cx="249417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931920" y="4617720"/>
            <a:ext cx="2036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배경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3931920" y="4937760"/>
            <a:ext cx="20369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단지 내 커뮤니티 행사에 대한 입주민 수요가 높아 관리사무소에서 야시장 운영을 의뢰하였습니다.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380378" y="4389120"/>
            <a:ext cx="249417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608978" y="4617720"/>
            <a:ext cx="2036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방식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6608978" y="4937760"/>
            <a:ext cx="20369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가족 친화 콘텐츠를 중심으로 키즈존·체험존을 별도 구성하고, 주차·소음·안전을 관리사무소와 협업하여 관리하였습니다.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9057437" y="4389120"/>
            <a:ext cx="249417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286037" y="4617720"/>
            <a:ext cx="2036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9286037" y="4937760"/>
            <a:ext cx="20369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입주민 참여율이 매우 높았으며, 단지 커뮤니티 활성화에 기여하였다는 평가를 받았습니다.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  PARTNERS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협업 대상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공간과 행사 수요를 가진 모든 기관·기업과 협업합니다.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423160"/>
            <a:ext cx="2021373" cy="2743200"/>
          </a:xfrm>
          <a:prstGeom prst="roundRect">
            <a:avLst>
              <a:gd name="adj" fmla="val 45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30726" y="2743200"/>
            <a:ext cx="640080" cy="64008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0746" y="2903220"/>
            <a:ext cx="320040" cy="32004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777240" y="3520440"/>
            <a:ext cx="17470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대학교·학생회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4114800"/>
            <a:ext cx="165561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축제 플리마켓, 캠퍼스 야시장, 학생 창업 셀러 연계 운영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2862621" y="2423160"/>
            <a:ext cx="2021373" cy="2743200"/>
          </a:xfrm>
          <a:prstGeom prst="roundRect">
            <a:avLst>
              <a:gd name="adj" fmla="val 45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553267" y="2743200"/>
            <a:ext cx="640080" cy="64008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3287" y="2903220"/>
            <a:ext cx="320040" cy="32004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2999781" y="3520440"/>
            <a:ext cx="17470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아파트 단지·입주자대표회의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3045501" y="4114800"/>
            <a:ext cx="165561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 참여형 야시장, 커뮤니티 마켓, 정기 행사 전환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5085161" y="2423160"/>
            <a:ext cx="2021373" cy="2743200"/>
          </a:xfrm>
          <a:prstGeom prst="roundRect">
            <a:avLst>
              <a:gd name="adj" fmla="val 45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5775808" y="2743200"/>
            <a:ext cx="640080" cy="64008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5828" y="2903220"/>
            <a:ext cx="320040" cy="32004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222321" y="3520440"/>
            <a:ext cx="17470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지자체·축제 주최 기관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5268041" y="4114800"/>
            <a:ext cx="165561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축제 부스 존 운영, 지역 특산물 셀러 구성, 장비 일괄 렌탈</a:t>
            </a:r>
            <a:endParaRPr lang="en-US" sz="950" dirty="0"/>
          </a:p>
        </p:txBody>
      </p:sp>
      <p:sp>
        <p:nvSpPr>
          <p:cNvPr id="25" name="Shape 20"/>
          <p:cNvSpPr/>
          <p:nvPr/>
        </p:nvSpPr>
        <p:spPr>
          <a:xfrm>
            <a:off x="7307702" y="2423160"/>
            <a:ext cx="2021373" cy="2743200"/>
          </a:xfrm>
          <a:prstGeom prst="roundRect">
            <a:avLst>
              <a:gd name="adj" fmla="val 45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7998348" y="2743200"/>
            <a:ext cx="640080" cy="64008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8368" y="2903220"/>
            <a:ext cx="320040" cy="320040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7444862" y="3520440"/>
            <a:ext cx="17470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카페·건물주·유휴 공간</a:t>
            </a:r>
            <a:endParaRPr lang="en-US" sz="1200" dirty="0"/>
          </a:p>
        </p:txBody>
      </p:sp>
      <p:sp>
        <p:nvSpPr>
          <p:cNvPr id="29" name="Text 23"/>
          <p:cNvSpPr txBox="1"/>
          <p:nvPr/>
        </p:nvSpPr>
        <p:spPr>
          <a:xfrm>
            <a:off x="7490582" y="4114800"/>
            <a:ext cx="165561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 분석 기반 정기 마켓 설계, 월 정기 운영 계약</a:t>
            </a:r>
            <a:endParaRPr lang="en-US" sz="950" dirty="0"/>
          </a:p>
        </p:txBody>
      </p:sp>
      <p:sp>
        <p:nvSpPr>
          <p:cNvPr id="30" name="Shape 24"/>
          <p:cNvSpPr/>
          <p:nvPr/>
        </p:nvSpPr>
        <p:spPr>
          <a:xfrm>
            <a:off x="9530243" y="2423160"/>
            <a:ext cx="2021373" cy="2743200"/>
          </a:xfrm>
          <a:prstGeom prst="roundRect">
            <a:avLst>
              <a:gd name="adj" fmla="val 45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0220889" y="2743200"/>
            <a:ext cx="640080" cy="64008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80909" y="2903220"/>
            <a:ext cx="320040" cy="32004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667403" y="3520440"/>
            <a:ext cx="17470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기업·개인 행사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713123" y="4114800"/>
            <a:ext cx="165561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 행사 푸드트럭 섭외, 프로모션 마켓, 개인 행사 단독 섭외</a:t>
            </a:r>
            <a:endParaRPr lang="en-US" sz="950" dirty="0"/>
          </a:p>
        </p:txBody>
      </p:sp>
      <p:sp>
        <p:nvSpPr>
          <p:cNvPr id="35" name="Shape 28"/>
          <p:cNvSpPr/>
          <p:nvPr/>
        </p:nvSpPr>
        <p:spPr>
          <a:xfrm>
            <a:off x="640080" y="5440680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1005840" y="5440680"/>
            <a:ext cx="101800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셀러 파트너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유니온의 행사에 참여하고자 하는 셀러·푸드트럭은 플릿 플랫폼(app.flitunion.com)을 통해 상시 지원하실 수 있습니다.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  PARTNERSHIP GUIDE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 및 운영 안내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협업 시 기준이 되는 주요 조건을 안내드립니다.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377440"/>
            <a:ext cx="348477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2651760"/>
            <a:ext cx="502920" cy="50292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130" y="2777490"/>
            <a:ext cx="251460" cy="25146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554480" y="2651760"/>
            <a:ext cx="2387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수수료 구조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" y="3273552"/>
            <a:ext cx="29361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셀러 참가비의 일부를 수수료로 수취하는 수익 공유 구조가 기본입니다. 렌탈 장비, 푸드트럭 섭외 등 추가 서비스는 별도 견적으로 안내드립니다.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353458" y="2377440"/>
            <a:ext cx="348477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627778" y="2651760"/>
            <a:ext cx="502920" cy="50292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3508" y="2777490"/>
            <a:ext cx="251460" cy="25146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5267858" y="2651760"/>
            <a:ext cx="2387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운영 규모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4627778" y="3273552"/>
            <a:ext cx="29361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플리마켓 운영 대행은 10개 부스 이상부터 진행합니다. 10개 미만 소규모 행사는 컨설팅 형태로 별도 안내드립니다.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8066837" y="2377440"/>
            <a:ext cx="348477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8341157" y="2651760"/>
            <a:ext cx="502920" cy="50292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6887" y="2777490"/>
            <a:ext cx="251460" cy="25146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8981237" y="2651760"/>
            <a:ext cx="2387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준비 기간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8341157" y="3273552"/>
            <a:ext cx="29361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행사일 기준 최소 3주 전 의뢰를 권장합니다. 렌탈 견적은 48시간 이내, 긴급 렌탈은 당일 대응이 가능합니다.</a:t>
            </a:r>
            <a:endParaRPr lang="en-US" sz="950" dirty="0"/>
          </a:p>
        </p:txBody>
      </p:sp>
      <p:sp>
        <p:nvSpPr>
          <p:cNvPr id="25" name="Shape 20"/>
          <p:cNvSpPr/>
          <p:nvPr/>
        </p:nvSpPr>
        <p:spPr>
          <a:xfrm>
            <a:off x="640080" y="4389120"/>
            <a:ext cx="348477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914400" y="4663440"/>
            <a:ext cx="502920" cy="50292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130" y="4789170"/>
            <a:ext cx="251460" cy="251460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1554480" y="4663440"/>
            <a:ext cx="2387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지역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914400" y="5285232"/>
            <a:ext cx="29361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어디서나 가능합니다. 광역시 및 지역 거점 도시는 원격 기획과 현지 파트너 운영 체계로 진행하며, 출장 비용은 견적에 투명하게 포함합니다.</a:t>
            </a:r>
            <a:endParaRPr lang="en-US" sz="950" dirty="0"/>
          </a:p>
        </p:txBody>
      </p:sp>
      <p:sp>
        <p:nvSpPr>
          <p:cNvPr id="30" name="Shape 24"/>
          <p:cNvSpPr/>
          <p:nvPr/>
        </p:nvSpPr>
        <p:spPr>
          <a:xfrm>
            <a:off x="4353458" y="4389120"/>
            <a:ext cx="348477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4627778" y="4663440"/>
            <a:ext cx="502920" cy="50292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3508" y="4789170"/>
            <a:ext cx="251460" cy="25146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5267858" y="4663440"/>
            <a:ext cx="2387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참가비 수취 방식</a:t>
            </a:r>
            <a:endParaRPr lang="en-US" sz="1300" dirty="0"/>
          </a:p>
        </p:txBody>
      </p:sp>
      <p:sp>
        <p:nvSpPr>
          <p:cNvPr id="34" name="Text 27"/>
          <p:cNvSpPr txBox="1"/>
          <p:nvPr/>
        </p:nvSpPr>
        <p:spPr>
          <a:xfrm>
            <a:off x="4627778" y="5285232"/>
            <a:ext cx="29361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셀러 참가비는 의뢰인이 직접 수취하거나, 플릿 유니온이 대행 수취 후 정산하는 두 가지 방식 중 선택하실 수 있습니다.</a:t>
            </a:r>
            <a:endParaRPr lang="en-US" sz="950" dirty="0"/>
          </a:p>
        </p:txBody>
      </p:sp>
      <p:sp>
        <p:nvSpPr>
          <p:cNvPr id="35" name="Shape 28"/>
          <p:cNvSpPr/>
          <p:nvPr/>
        </p:nvSpPr>
        <p:spPr>
          <a:xfrm>
            <a:off x="8066837" y="4389120"/>
            <a:ext cx="348477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8341157" y="4663440"/>
            <a:ext cx="502920" cy="50292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66887" y="4789170"/>
            <a:ext cx="251460" cy="251460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8981237" y="4663440"/>
            <a:ext cx="2387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및 변경 규정</a:t>
            </a:r>
            <a:endParaRPr lang="en-US" sz="1300" dirty="0"/>
          </a:p>
        </p:txBody>
      </p:sp>
      <p:sp>
        <p:nvSpPr>
          <p:cNvPr id="39" name="Text 31"/>
          <p:cNvSpPr txBox="1"/>
          <p:nvPr/>
        </p:nvSpPr>
        <p:spPr>
          <a:xfrm>
            <a:off x="8341157" y="5285232"/>
            <a:ext cx="29361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행사일 4주 전 취소 시 계약금의 50%를 환불하며, 2주 전 취소 시 환불이 불가합니다. 셀러 모집 이전의 일정 변경은 1회 무료로 조정합니다.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194560"/>
            <a:ext cx="5852160" cy="5852160"/>
          </a:xfrm>
          <a:prstGeom prst="ellipse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3840480"/>
            <a:ext cx="4937760" cy="4937760"/>
          </a:xfrm>
          <a:prstGeom prst="ellipse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640080"/>
            <a:ext cx="1816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2200" b="1" dirty="0">
                <a:solidFill>
                  <a:srgbClr val="0B1F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28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 CONTACT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94560"/>
            <a:ext cx="6766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공간의 가능성을 플릿 유니온과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함께 열어 보시기 바랍니다.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8862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 상담을 통해 공간에 최적화된 행사 형태와 예상 수익 구조를 제안드립니다.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680960" y="1417320"/>
            <a:ext cx="3870655" cy="4389120"/>
          </a:xfrm>
          <a:prstGeom prst="roundRect">
            <a:avLst>
              <a:gd name="adj" fmla="val 23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01000" y="1764792"/>
            <a:ext cx="502920" cy="502920"/>
          </a:xfrm>
          <a:prstGeom prst="ellipse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6730" y="1890522"/>
            <a:ext cx="251460" cy="25146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686800" y="1719072"/>
            <a:ext cx="26819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홈페이지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8686800" y="1975104"/>
            <a:ext cx="26819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www.flitunion.com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001000" y="2551176"/>
            <a:ext cx="502920" cy="502920"/>
          </a:xfrm>
          <a:prstGeom prst="ellipse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6730" y="2676906"/>
            <a:ext cx="251460" cy="25146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8686800" y="2505456"/>
            <a:ext cx="26819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8686800" y="2761488"/>
            <a:ext cx="26819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hello@flitunion.com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8001000" y="3337560"/>
            <a:ext cx="502920" cy="502920"/>
          </a:xfrm>
          <a:prstGeom prst="ellipse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6730" y="3463290"/>
            <a:ext cx="251460" cy="25146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686800" y="3291840"/>
            <a:ext cx="26819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전화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8686800" y="3547872"/>
            <a:ext cx="26819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010-8018-8492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8001000" y="4123944"/>
            <a:ext cx="502920" cy="502920"/>
          </a:xfrm>
          <a:prstGeom prst="ellipse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6730" y="4249674"/>
            <a:ext cx="251460" cy="25146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686800" y="4078224"/>
            <a:ext cx="26819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 오픈채팅</a:t>
            </a:r>
            <a:endParaRPr lang="en-US" sz="950" dirty="0"/>
          </a:p>
        </p:txBody>
      </p:sp>
      <p:sp>
        <p:nvSpPr>
          <p:cNvPr id="24" name="Text 18"/>
          <p:cNvSpPr txBox="1"/>
          <p:nvPr/>
        </p:nvSpPr>
        <p:spPr>
          <a:xfrm>
            <a:off x="8686800" y="4334256"/>
            <a:ext cx="26819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open.kakao.com/o/sZ5YZ4ni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8001000" y="4910328"/>
            <a:ext cx="502920" cy="502920"/>
          </a:xfrm>
          <a:prstGeom prst="ellipse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6730" y="5036058"/>
            <a:ext cx="251460" cy="25146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8686800" y="4864608"/>
            <a:ext cx="26819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셀러 플랫폼</a:t>
            </a:r>
            <a:endParaRPr lang="en-US" sz="950" dirty="0"/>
          </a:p>
        </p:txBody>
      </p:sp>
      <p:sp>
        <p:nvSpPr>
          <p:cNvPr id="28" name="Text 21"/>
          <p:cNvSpPr txBox="1"/>
          <p:nvPr/>
        </p:nvSpPr>
        <p:spPr>
          <a:xfrm>
            <a:off x="8686800" y="5120640"/>
            <a:ext cx="26819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app.flitunion.com</a:t>
            </a:r>
            <a:endParaRPr lang="en-US" sz="1300" dirty="0"/>
          </a:p>
        </p:txBody>
      </p:sp>
      <p:sp>
        <p:nvSpPr>
          <p:cNvPr id="29" name="Text 22"/>
          <p:cNvSpPr txBox="1"/>
          <p:nvPr/>
        </p:nvSpPr>
        <p:spPr>
          <a:xfrm>
            <a:off x="640080" y="6080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 |  Flit Union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플릿 유니온 회사소개서</dc:title>
  <dc:subject>PptxGenJS Presentation</dc:subject>
  <dc:creator>Flit Union</dc:creator>
  <cp:lastModifiedBy>Flit Union</cp:lastModifiedBy>
  <cp:revision>1</cp:revision>
  <dcterms:created xsi:type="dcterms:W3CDTF">2026-09-10T02:26:04Z</dcterms:created>
  <dcterms:modified xsi:type="dcterms:W3CDTF">2026-09-10T02:26:04Z</dcterms:modified>
</cp:coreProperties>
</file>