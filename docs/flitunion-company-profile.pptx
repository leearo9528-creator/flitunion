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4480560"/>
            <a:ext cx="2377440" cy="237744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PROFILE  · 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마켓으로,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행사를 경험으로 만듭니다.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· 야시장 · 푸드트럭 · 행사 장비 렌탈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셀러 네트워크 기반의 행사 운영 원스톱 대행 전문 기업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회사소개서는 다음과 같은 순서로 구성되어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Overview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&amp; Mission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&amp; Solution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Areas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Details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Flit Union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 및 사례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 &amp; Case Study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대상과 계약 안내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Partnership Guide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COMPANY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유니온은 공간 소유자와 행사 주최자를 위한 마켓 운영 전문 기업입니다.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587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정보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900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9900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(Flit Union)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101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3101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이아로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301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설립일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6301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8월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9502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39502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655-26-02147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2702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2702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도봉구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5902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45902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 운영 대행 · 푸드트럭 섭외 · 장비 렌탈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9103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플랫폼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9103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 · app.flitunion.com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2303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52303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(수도권 직영, 지방 현지 파트너 운영)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55504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55504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8704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286000" y="58704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37960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대학·아파트·축제·카페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21928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41968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9341968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341968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 셀러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37960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검증 완료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021928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41968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4000" dirty="0"/>
          </a:p>
        </p:txBody>
      </p:sp>
      <p:sp>
        <p:nvSpPr>
          <p:cNvPr id="46" name="Text 44"/>
          <p:cNvSpPr txBox="1"/>
          <p:nvPr/>
        </p:nvSpPr>
        <p:spPr>
          <a:xfrm>
            <a:off x="9341968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341968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대행 고객 기준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VISION &amp; MISSION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유니온이 지향하는 가치입니다.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0911535" cy="1417320"/>
          </a:xfrm>
          <a:prstGeom prst="roundRect">
            <a:avLst>
              <a:gd name="adj" fmla="val 645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889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공간이든 사람이 모이는 마켓이 될 수 있습니다.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공간과 행사 현장에 검증된 셀러와 운영 시스템을 연결하여, 공간 소유자에게는 새로운 가치를, 셀러에게는 판매의 기회를, 방문객에게는 기억에 남는 경험을 제공합니다.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448056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60120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(Verified)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플랫폼의 리뷰 점수와 참가 이력을 기반으로 셀러를 선발하여 불참·품질 미달 리스크를 최소화합니다.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8738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448056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688738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(One-Stop)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88738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분석, 셀러 모집, 장비 렌탈, 현장 운영, 정산까지 전 과정을 하나의 창구에서 책임집니다.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7317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417357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44805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7357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(Transparent)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417357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행사 종료 후 48시간 이내에 제공합니다.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PROBLEM &amp;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공간은 있으나 운영이 어려운 고객의 고민을 플릿 유니온이 해결합니다.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수익이 발생하지 않는 유휴 공간을 어떻게 활용할 수 있습니까?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0120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주차장, 낮 시간 한산한 카페 홀, 비어 있는 건물 로비는 정기 플리마켓의 무대가 될 수 있습니다. 플릿 유니온이 유동 인구를 분석하고 최적의 마켓 모델을 설계합니다.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68698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8738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283464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74538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688738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대학 축제 플리마켓의 조건은 무엇입니까?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688738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7161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4871618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원하는 콘셉트, 검증된 셀러 구성, 안전한 현장 동선 설계가 핵심입니다. 플릿 리뷰 데이터를 기반으로 평점 높은 셀러를 우선 선발하여 행사 만족도를 높입니다.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097317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417357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28346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103157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카페·상업 공간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417357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매출을 높이는 이벤트, 직접 기획하기에는 부담이 크지 않습니까?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417357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00237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600237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모집, SNS 홍보, 당일 운영, 정산까지 모든 과정을 플릿 유니온이 대행합니다. 의뢰인은 본업에만 집중하시면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BUSINESS AREAS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행사에 필요한 네 가지 영역을 개별 또는 패키지로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14400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공간 분석부터 셀러 모집, 현장 운영, 정산까지 원스톱으로 대행합니다.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4400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50+ 운영 행사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36544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10864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7889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710864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10864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710864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조명, 공연, 푸드트럭, 핸드메이드 셀러가 어우러진 복합 야시장을 기획하며, 야간 안전 관리 체계로 흥행과 안전을 함께 확보합니다.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710864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48024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3,500+ 방문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233008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07328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788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07328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기반으로 행사 콘셉트에 맞는 푸드트럭을 매칭하고 현장 배치까지 관리합니다.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507328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44488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100+ 푸드트럭 DB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29471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03791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278892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303791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303791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9303791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텐트, 테이블·의자, 조명, 배너·간판, 전기 설비까지 행사에 필요한 모든 장비를 설치·철거 인력과 함께 제공합니다.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9303791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40951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500+ 보유 장비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플리마켓 운영 대행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  ·  공간 분석부터 셀러 모집, 현장 설치, 행사 운영, 정산까지 원스톱으로 대행합니다.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플릿 셀러 네트워크를 기반으로 품질 높은 플리마켓을 원스톱으로 대행하며, 의뢰인은 공간만 제공하시면 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기반 셀러 선발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리뷰 점수와 참가 이력을 기반으로 콘셉트에 맞는 셀러를 선발하여 불참·품질 미달 리스크를 최소화합니다.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최적화 레이아웃 설계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형태, 유동 동선, 출입구 위치를 분석해 부스 배치와 동선을 설계하여 체류 시간과 셀러 매출을 함께 높입니다.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현장 매니저 배치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당일 전담 매니저가 상주하여 셀러 입·퇴장 관리, 방문객 안내, 돌발 상황 대응을 책임집니다.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홍보 지원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인스타그램·카카오채널을 통한 셀러 모집 공고와 방문객 유입 홍보를 별도 비용 없이 지원합니다.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투명한 정산과 보고서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제공하여 모든 수치를 투명하게 공개합니다.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정기 운영 우대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2회 이상 정기 운영 계약 시 운영비 할인과 전담 매니저 우선 배정 혜택을 제공합니다.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야시장 &amp; 푸드 마켓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  ·  조명, 공연, 푸드트럭, 셀러가 어우러진 복합 야시장을 기획·운영합니다.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밤까지 이어지는 야시장 행사를 전문적으로 기획합니다. 단순한 마켓을 넘어 방문객이 기억하는 경험을 만들며, 야간 행사 전담 시스템으로 안전과 흥행을 동시에 확보합니다.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운영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방문자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재계약률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 연출 기획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무드등, 가랜드, 포토존 조명까지 야시장 특유의 감성적인 야간 조명 연출을 기획하고 설치합니다.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공연·버스킹 연계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어쿠스틱 버스커, 소규모 공연팀과 연계하여 활기를 더하며, 섭외와 무대 설치까지 대행합니다.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통합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맞춤 메뉴를 보유한 푸드트럭을 섭외하여 마켓과 통합 운영하고, 전기·용수 연결을 현장에서 관리합니다.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안전 관리 시스템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특성에 맞춘 안전 매뉴얼과 인력을 배치하고, 비상 대피로와 응급 대응 절차를 사전에 수립합니다.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바이럴 기획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포토존 설치, 해시태그 이벤트 등 인스타그램 확산을 위한 SNS 콘텐츠 기획을 포함합니다.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특화 기획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크리스마스, 여름 밤, 가을 축제 등 시즌에 맞는 테마 야시장을 기획합니다.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푸드트럭 섭외 &amp;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  ·  행사 콘셉트에 맞는 푸드트럭을 직접 섭외하고 현장 배치까지 관리합니다.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보유하고 있습니다. 행사 콘셉트와 공간 조건에 맞는 푸드트럭을 신속하게 매칭하고, 계약·배치·현장 관리까지 전 과정을 대행합니다.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납품 실적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0건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불참 미대체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 검증 DB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양식, 일식, 디저트, 음료 등 카테고리별 검증된 DB를 바탕으로 중복 없는 메뉴 구성을 제안합니다.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맞춤 매칭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친화, 청년 대상, 프리미엄 등 행사 콘셉트와 공간 규모에 맞는 최적의 푸드트럭 조합을 제안합니다.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전기·용수 조율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전기 용량과 용수 공급 여건을 사전에 확인하고 푸드트럭별 필요 설비를 조율합니다.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배치·동선 관리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방문객 대기 줄, 혼잡 방지, 셀러 구역과 충돌 없는 동선을 설계하여 현장을 관리합니다.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위생·안전 기준 확인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푸드트럭의 영업허가증과 위생 점검 이력을 사전에 확인하여 식품 안전 사고를 방지합니다.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섭외 가능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섭외가 가능하며, 기업 행사, 지역 축제, 개인 행사 모두 대응합니다. 예비 차량을 대기시켜 불참 시 즉시 대체합니다.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행사 물품 렌탈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  ·  텐트, 테이블·의자, 조명, 배너·간판, 전기 설비까지 일괄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장비를 별도로 구매하실 필요가 없습니다. 텐트, 테이블, 조명, 배너까지 한 번에 해결하며, 운영 대행 패키지와 함께 이용하시면 렌탈 비용 할인 혜택이 적용됩니다.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장비 수량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당일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렌탈 가능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인력 포함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텐트·구조물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3×3m 파고라 텐트부터 대형 천막까지 다양한 규모의 부스 구조물을 설치·철거 인력과 함께 렌탈합니다.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테이블·의자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접이식 테이블, 좌식 테이블, 바 테이블 등 행사 성격에 맞는 가구를 셀러용·방문객용으로 제공합니다.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장비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줄조명, 무드등, 스팟 조명, 투광등까지 야외·실내 행사 모두 대응 가능한 조명을 렌탈합니다.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배너·간판 제작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현수막, X배너, 입간판, 포토존 배경판을 디자인부터 제작·설치까지 일괄 제공합니다.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설비·멀티탭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전기 분배기, 멀티탭, 연장 코드를 안전 규격에 맞게 제공하고 설치합니다.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렌탈 전용 패키지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규모에 맞는 렌탈 패키지를 구성하며, 운영 대행과 함께 신청 시 패키지 할인이 적용됩니다.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WHY FLIT UNION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운영하는 셀러 플랫폼 '플릿(Flit)'의 데이터가 행사의 품질을 보증합니다.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41605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플리마켓·팝업 셀러가 행사 정보를 찾고 참가 기록을 남기는 플랫폼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셀러의 리뷰 점수, 참가 이력, 매출 기록이 축적됩니다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데이터를 근거로 행사 콘셉트에 맞는 셀러를 선발합니다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공고가 플랫폼에 게시되어 별도 홍보 비용 없이 셀러가 모집됩니다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31720"/>
          <a:ext cx="665957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35428"/>
                <a:gridCol w="273542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모집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유니온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지원자의 실제 품질·성실도를 사전에 확인하기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점수와 참가 이력이 있는 셀러를 데이터 기반으로 선발합니다.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불참 대응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불참 시 대체 셀러·푸드트럭 확보가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행사별 예비 푸드트럭 1~2대를 대기시켜 즉시 대체 운영합니다.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 측 인력이 셀러 관리와 방문객 안내를 병행해야 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전담 현장 매니저가 상주하여 입·퇴장, 안내, 돌발 상황을 책임집니다.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정산·보고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참가비와 매출 집계가 수기로 이루어져 결과 파악이 늦어집니다.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종료 후 48시간 이내에 정산서와 결과 보고서를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모집·방문객 유입 홍보에 별도 비용이 발생합니다.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플랫폼과 SNS 채널을 통한 모집·유입 홍보를 기본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PROCESS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결과 보고까지 다섯 단계로 진행됩니다.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92608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28314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054" y="272034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 및 공간 분석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위치, 면적, 유동 인구, 주변 상권을 분석하고 최적의 마켓 콘셉트를 제안합니다.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56341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81" y="272034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확정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날짜, 규모, 셀러 카테고리 구성, 예상 수익 구조를 포함한 기획안을 확정합니다.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108" y="272034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 및 심사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플랫폼과 자체 채널로 셀러를 모집하고, 리뷰 점수를 기준으로 심사·선발합니다.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912395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135" y="27203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및 운영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설치, 셀러 배치, 방문자 안내, 안전 관리를 전담 매니저가 책임집니다.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10140422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162" y="2720340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및 결과 보고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48시간 이내에 정산서와 결과 보고서를 제공합니다.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40080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5726430"/>
            <a:ext cx="205740" cy="20574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71600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368698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551578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448" y="5726430"/>
            <a:ext cx="205740" cy="2057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00218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보고서에는 방문자 수, 셀러별 매출, 정산 내역이 포함됩니다.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8097317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8280197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3067" y="5726430"/>
            <a:ext cx="205740" cy="2057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28837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야외 행사는 텐트 렌탈을 포함한 우천 대비 플랜을 사전에 수립합니다.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PORTFOLIO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대학교, 아파트 단지, 대형 축제 등 다양한 공간에서 행사를 운영하였습니다.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039" y="2609209"/>
            <a:ext cx="371089" cy="37108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77240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 운영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418256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8256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15" y="2609209"/>
            <a:ext cx="371089" cy="37108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418256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555416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55416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3601136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소재 대학교 플리마켓 운영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601136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대구광역시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6196432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96432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391" y="2609209"/>
            <a:ext cx="371089" cy="371089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196432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6333592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3592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379312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대형 축제 부스 운영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379312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8974607" y="2286000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8974607" y="2286000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7567" y="2609209"/>
            <a:ext cx="371089" cy="371089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974607" y="3016874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9111767" y="24231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111767" y="24231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40" name="Text 34"/>
          <p:cNvSpPr txBox="1"/>
          <p:nvPr/>
        </p:nvSpPr>
        <p:spPr>
          <a:xfrm>
            <a:off x="9157487" y="3632692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아파트 야시장 운영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9157487" y="3888724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640080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640080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039" y="4650845"/>
            <a:ext cx="371089" cy="371089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40080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46" name="Shape 39"/>
          <p:cNvSpPr/>
          <p:nvPr/>
        </p:nvSpPr>
        <p:spPr>
          <a:xfrm>
            <a:off x="777240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77240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822960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 운영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822960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</a:t>
            </a:r>
            <a:endParaRPr lang="en-US" sz="900" dirty="0"/>
          </a:p>
        </p:txBody>
      </p:sp>
      <p:sp>
        <p:nvSpPr>
          <p:cNvPr id="50" name="Shape 43"/>
          <p:cNvSpPr/>
          <p:nvPr/>
        </p:nvSpPr>
        <p:spPr>
          <a:xfrm>
            <a:off x="3418256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3418256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215" y="4650845"/>
            <a:ext cx="371089" cy="371089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3418256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54" name="Shape 46"/>
          <p:cNvSpPr/>
          <p:nvPr/>
        </p:nvSpPr>
        <p:spPr>
          <a:xfrm>
            <a:off x="3555416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3555416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00" dirty="0"/>
          </a:p>
        </p:txBody>
      </p:sp>
      <p:sp>
        <p:nvSpPr>
          <p:cNvPr id="56" name="Text 48"/>
          <p:cNvSpPr txBox="1"/>
          <p:nvPr/>
        </p:nvSpPr>
        <p:spPr>
          <a:xfrm>
            <a:off x="3601136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대학교 플리마켓 운영</a:t>
            </a:r>
            <a:endParaRPr lang="en-US" sz="1050" dirty="0"/>
          </a:p>
        </p:txBody>
      </p:sp>
      <p:sp>
        <p:nvSpPr>
          <p:cNvPr id="57" name="Text 49"/>
          <p:cNvSpPr txBox="1"/>
          <p:nvPr/>
        </p:nvSpPr>
        <p:spPr>
          <a:xfrm>
            <a:off x="3601136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58" name="Shape 50"/>
          <p:cNvSpPr/>
          <p:nvPr/>
        </p:nvSpPr>
        <p:spPr>
          <a:xfrm>
            <a:off x="6196432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1"/>
          <p:cNvSpPr/>
          <p:nvPr/>
        </p:nvSpPr>
        <p:spPr>
          <a:xfrm>
            <a:off x="6196432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9391" y="4650845"/>
            <a:ext cx="371089" cy="371089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6196432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6333592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6333592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00" dirty="0"/>
          </a:p>
        </p:txBody>
      </p:sp>
      <p:sp>
        <p:nvSpPr>
          <p:cNvPr id="64" name="Text 55"/>
          <p:cNvSpPr txBox="1"/>
          <p:nvPr/>
        </p:nvSpPr>
        <p:spPr>
          <a:xfrm>
            <a:off x="6379312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 소재 대형 축제 부스 운영</a:t>
            </a:r>
            <a:endParaRPr lang="en-US" sz="1050" dirty="0"/>
          </a:p>
        </p:txBody>
      </p:sp>
      <p:sp>
        <p:nvSpPr>
          <p:cNvPr id="65" name="Text 56"/>
          <p:cNvSpPr txBox="1"/>
          <p:nvPr/>
        </p:nvSpPr>
        <p:spPr>
          <a:xfrm>
            <a:off x="6379312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충청도</a:t>
            </a:r>
            <a:endParaRPr lang="en-US" sz="900" dirty="0"/>
          </a:p>
        </p:txBody>
      </p:sp>
      <p:sp>
        <p:nvSpPr>
          <p:cNvPr id="66" name="Shape 57"/>
          <p:cNvSpPr/>
          <p:nvPr/>
        </p:nvSpPr>
        <p:spPr>
          <a:xfrm>
            <a:off x="8974607" y="4327636"/>
            <a:ext cx="2577008" cy="1858756"/>
          </a:xfrm>
          <a:prstGeom prst="roundRect">
            <a:avLst>
              <a:gd name="adj" fmla="val 4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8974607" y="4327636"/>
            <a:ext cx="2577008" cy="1236964"/>
          </a:xfrm>
          <a:prstGeom prst="roundRect">
            <a:avLst>
              <a:gd name="adj" fmla="val 739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7567" y="4650845"/>
            <a:ext cx="371089" cy="371089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8974607" y="5058510"/>
            <a:ext cx="257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70" name="Shape 60"/>
          <p:cNvSpPr/>
          <p:nvPr/>
        </p:nvSpPr>
        <p:spPr>
          <a:xfrm>
            <a:off x="9111767" y="4464796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111767" y="44647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민속 축제</a:t>
            </a:r>
            <a:endParaRPr lang="en-US" sz="800" dirty="0"/>
          </a:p>
        </p:txBody>
      </p:sp>
      <p:sp>
        <p:nvSpPr>
          <p:cNvPr id="72" name="Text 62"/>
          <p:cNvSpPr txBox="1"/>
          <p:nvPr/>
        </p:nvSpPr>
        <p:spPr>
          <a:xfrm>
            <a:off x="9157487" y="5674327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민속 축제 부스 운영</a:t>
            </a:r>
            <a:endParaRPr lang="en-US" sz="1050" dirty="0"/>
          </a:p>
        </p:txBody>
      </p:sp>
      <p:sp>
        <p:nvSpPr>
          <p:cNvPr id="73" name="Text 63"/>
          <p:cNvSpPr txBox="1"/>
          <p:nvPr/>
        </p:nvSpPr>
        <p:spPr>
          <a:xfrm>
            <a:off x="9157487" y="5930359"/>
            <a:ext cx="221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CASE STUDY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연구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배경부터 성과까지, 대표 운영 사례 두 건을 소개합니다.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108960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656332"/>
            <a:ext cx="457200" cy="4572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0080" y="31501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40080" y="3474720"/>
            <a:ext cx="3108960" cy="685800"/>
          </a:xfrm>
          <a:prstGeom prst="roundRect">
            <a:avLst/>
          </a:prstGeom>
          <a:solidFill>
            <a:srgbClr val="0B1F44">
              <a:alpha val="75000"/>
            </a:srgbClr>
          </a:solidFill>
          <a:ln w="12700">
            <a:solidFill>
              <a:srgbClr val="0B1F4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538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313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 · 대학 축제 기간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77640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06240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206240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 기간 저녁 시간대에 콘텐츠가 부재한 문제를 해결하고, 학생과 지역 주민이 함께 즐길 수 있는 야시장을 기획하였습니다.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63258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91858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791858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야간까지 푸드트럭 존과 플리마켓 셀러 존을 병행 운영하고, 야간 조명 연출로 분위기를 조성하였습니다.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148877" y="237744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377477" y="260604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377477" y="292608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야간 방문자 유입을 크게 늘리며 대학 측으로부터 높은 만족도를 얻었습니다.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0080" y="4389120"/>
            <a:ext cx="3108960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4668012"/>
            <a:ext cx="457200" cy="4572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40080" y="51617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40080" y="5486400"/>
            <a:ext cx="3108960" cy="685800"/>
          </a:xfrm>
          <a:prstGeom prst="roundRect">
            <a:avLst/>
          </a:prstGeom>
          <a:solidFill>
            <a:srgbClr val="0B1F44">
              <a:alpha val="75000"/>
            </a:srgbClr>
          </a:solidFill>
          <a:ln w="12700">
            <a:solidFill>
              <a:srgbClr val="0B1F44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22960" y="457200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5720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822960" y="55504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822960" y="58430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 · 대규모 아파트 단지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3977640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206240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4206240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커뮤니티 행사에 대한 입주민 수요가 높아 관리사무소에서 야시장 운영을 의뢰하였습니다.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563258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791858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791858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 콘텐츠를 중심으로 키즈존·체험존을 별도 구성하고, 주차·소음·안전을 관리사무소와 협업하여 관리하였습니다.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148877" y="4389120"/>
            <a:ext cx="240273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377477" y="4617720"/>
            <a:ext cx="1945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377477" y="4937760"/>
            <a:ext cx="1945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입주민 참여율이 매우 높았으며, 단지 커뮤니티 활성화에 기여하였다는 평가를 받았습니다.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행사 수요를 가진 모든 기관·기업과 협업합니다.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726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746" y="29032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대학교·학생회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플리마켓, 캠퍼스 야시장, 학생 창업 셀러 연계 운영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262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53267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7" y="29032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9978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 단지·입주자대표회의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4550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참여형 야시장, 커뮤니티 마켓, 정기 행사 전환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8516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7580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28" y="29032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2232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지자체·축제 주최 기관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6804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 부스 존 운영, 지역 특산물 셀러 구성, 장비 일괄 렌탈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307702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9834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68" y="29032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44862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카페·건물주·유휴 공간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7490582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 기반 정기 마켓 설계, 월 정기 운영 계약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530243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20889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909" y="290322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67403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기업·개인 행사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713123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행사 푸드트럭 섭외, 프로모션 마켓, 개인 행사 단독 섭외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파트너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행사에 참여하고자 하는 셀러·푸드트럭은 플릿 플랫폼(app.flitunion.com)을 통해 상시 지원하실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PARTNERSHIP GUIDE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및 운영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 기준이 되는 주요 조건을 안내드립니다.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774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54480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참가비의 일부를 수수료로 수취하는 수익 공유 구조가 기본입니다. 렌탈 장비, 푸드트럭 섭외 등 추가 서비스는 별도 견적으로 안내드립니다.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53458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7778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508" y="2777490"/>
            <a:ext cx="251460" cy="2514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67858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규모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27778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대행은 10개 부스 이상부터 진행합니다. 10개 미만 소규모 행사는 컨설팅 형태로 별도 안내드립니다.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66837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41157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87" y="27774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81237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기간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341157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 렌탈 견적은 48시간 이내, 긴급 렌탈은 당일 대응이 가능합니다.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40080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478917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어디서나 가능합니다. 광역시 및 지역 거점 도시는 원격 기획과 현지 파트너 운영 체계로 진행하며, 출장 비용은 견적에 투명하게 포함합니다.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353458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27778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508" y="478917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67858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참가비 수취 방식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4627778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참가비는 의뢰인이 직접 수취하거나, 플릿 유니온이 대행 수취 후 정산하는 두 가지 방식 중 선택하실 수 있습니다.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066837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41157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6887" y="4789170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981237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및 변경 규정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8341157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4주 전 취소 시 계약금의 50%를 환불하며, 2주 전 취소 시 환불이 불가합니다. 셀러 모집 이전의 일정 변경은 1회 무료로 조정합니다.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852160" cy="58521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3840480"/>
            <a:ext cx="4937760" cy="4937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181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가능성을 플릿 유니온과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열어 보시기 바랍니다.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상담을 통해 공간에 최적화된 행사 형태와 예상 수익 구조를 제안드립니다.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417320"/>
            <a:ext cx="3870655" cy="438912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764792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90522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0" y="1719072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75104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01000" y="2551176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2676906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86800" y="2505456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2761488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34632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291840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3547872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001000" y="4123944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0" y="424967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0" y="4078224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686800" y="4334256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01000" y="4910328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730" y="5036058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86800" y="4864608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플랫폼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5120640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 Union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회사소개서</dc:title>
  <dc:subject>PptxGenJS Presentation</dc:subject>
  <dc:creator>Flit Union</dc:creator>
  <cp:lastModifiedBy>Flit Union</cp:lastModifiedBy>
  <cp:revision>1</cp:revision>
  <dcterms:created xsi:type="dcterms:W3CDTF">2026-09-10T17:00:27Z</dcterms:created>
  <dcterms:modified xsi:type="dcterms:W3CDTF">2026-09-10T17:00:27Z</dcterms:modified>
</cp:coreProperties>
</file>