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slideLayout" Target="../slideLayouts/slideLayout1.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slideLayout" Target="../slideLayouts/slideLayout1.xml"/><Relationship Id="rId1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182F6"/>
        </a:solidFill>
      </p:bgPr>
    </p:bg>
    <p:spTree>
      <p:nvGrpSpPr>
        <p:cNvPr id="1" name=""/>
        <p:cNvGrpSpPr/>
        <p:nvPr/>
      </p:nvGrpSpPr>
      <p:grpSpPr>
        <a:xfrm>
          <a:off x="0" y="0"/>
          <a:ext cx="0" cy="0"/>
          <a:chOff x="0" y="0"/>
          <a:chExt cx="0" cy="0"/>
        </a:xfrm>
      </p:grpSpPr>
      <p:sp>
        <p:nvSpPr>
          <p:cNvPr id="2" name="Shape 0"/>
          <p:cNvSpPr/>
          <p:nvPr/>
        </p:nvSpPr>
        <p:spPr>
          <a:xfrm>
            <a:off x="7498080" y="-1463040"/>
            <a:ext cx="6217920" cy="6217920"/>
          </a:xfrm>
          <a:prstGeom prst="ellipse">
            <a:avLst/>
          </a:prstGeom>
          <a:solidFill>
            <a:srgbClr val="FFFFFF">
              <a:alpha val="10000"/>
            </a:srgbClr>
          </a:solidFill>
          <a:ln w="12700">
            <a:solidFill>
              <a:srgbClr val="FFFFFF">
                <a:alpha val="0"/>
              </a:srgbClr>
            </a:solidFill>
            <a:prstDash val="solid"/>
          </a:ln>
        </p:spPr>
      </p:sp>
      <p:sp>
        <p:nvSpPr>
          <p:cNvPr id="3" name="Shape 1"/>
          <p:cNvSpPr/>
          <p:nvPr/>
        </p:nvSpPr>
        <p:spPr>
          <a:xfrm>
            <a:off x="9692640" y="2926080"/>
            <a:ext cx="4572000" cy="4572000"/>
          </a:xfrm>
          <a:prstGeom prst="ellipse">
            <a:avLst/>
          </a:prstGeom>
          <a:solidFill>
            <a:srgbClr val="FFFFFF">
              <a:alpha val="14000"/>
            </a:srgbClr>
          </a:solidFill>
          <a:ln w="12700">
            <a:solidFill>
              <a:srgbClr val="FFFFFF">
                <a:alpha val="0"/>
              </a:srgbClr>
            </a:solidFill>
            <a:prstDash val="solid"/>
          </a:ln>
        </p:spPr>
      </p:sp>
      <p:sp>
        <p:nvSpPr>
          <p:cNvPr id="4" name="Shape 2"/>
          <p:cNvSpPr/>
          <p:nvPr/>
        </p:nvSpPr>
        <p:spPr>
          <a:xfrm>
            <a:off x="6766560" y="4480560"/>
            <a:ext cx="2377440" cy="2377440"/>
          </a:xfrm>
          <a:prstGeom prst="ellipse">
            <a:avLst/>
          </a:prstGeom>
          <a:solidFill>
            <a:srgbClr val="FFFFFF">
              <a:alpha val="8000"/>
            </a:srgbClr>
          </a:solidFill>
          <a:ln w="12700">
            <a:solidFill>
              <a:srgbClr val="FFFFFF">
                <a:alpha val="0"/>
              </a:srgbClr>
            </a:solidFill>
            <a:prstDash val="solid"/>
          </a:ln>
        </p:spPr>
      </p:sp>
      <p:sp>
        <p:nvSpPr>
          <p:cNvPr id="5" name="Text 3"/>
          <p:cNvSpPr txBox="1"/>
          <p:nvPr/>
        </p:nvSpPr>
        <p:spPr>
          <a:xfrm>
            <a:off x="640080" y="640080"/>
            <a:ext cx="2476500" cy="571500"/>
          </a:xfrm>
          <a:prstGeom prst="rect">
            <a:avLst/>
          </a:prstGeom>
          <a:noFill/>
          <a:ln/>
        </p:spPr>
        <p:txBody>
          <a:bodyPr wrap="square" lIns="0" tIns="0" rIns="0" bIns="0" rtlCol="0" anchor="ctr"/>
          <a:lstStyle/>
          <a:p>
            <a:pPr indent="0" marL="0">
              <a:buNone/>
            </a:pPr>
            <a:r>
              <a:rPr lang="en-US" sz="3000" b="1" dirty="0">
                <a:solidFill>
                  <a:srgbClr val="FFFFFF"/>
                </a:solidFill>
                <a:latin typeface="Arial Black" pitchFamily="34" charset="0"/>
                <a:ea typeface="Arial Black" pitchFamily="34" charset="-122"/>
                <a:cs typeface="Arial Black" pitchFamily="34" charset="-120"/>
              </a:rPr>
              <a:t>Flit</a:t>
            </a:r>
            <a:pPr indent="0" marL="0">
              <a:buNone/>
            </a:pPr>
            <a:r>
              <a:rPr lang="en-US" sz="3000" b="1" dirty="0">
                <a:solidFill>
                  <a:srgbClr val="0B1F44"/>
                </a:solidFill>
                <a:latin typeface="Arial Black" pitchFamily="34" charset="0"/>
                <a:ea typeface="Arial Black" pitchFamily="34" charset="-122"/>
                <a:cs typeface="Arial Black" pitchFamily="34" charset="-120"/>
              </a:rPr>
              <a:t>Union</a:t>
            </a:r>
            <a:endParaRPr lang="en-US" sz="3000" dirty="0"/>
          </a:p>
        </p:txBody>
      </p:sp>
      <p:sp>
        <p:nvSpPr>
          <p:cNvPr id="6" name="Text 4"/>
          <p:cNvSpPr txBox="1"/>
          <p:nvPr/>
        </p:nvSpPr>
        <p:spPr>
          <a:xfrm>
            <a:off x="640080" y="2148840"/>
            <a:ext cx="7315200" cy="320040"/>
          </a:xfrm>
          <a:prstGeom prst="rect">
            <a:avLst/>
          </a:prstGeom>
          <a:noFill/>
          <a:ln/>
        </p:spPr>
        <p:txBody>
          <a:bodyPr wrap="square" lIns="0" tIns="0" rIns="0" bIns="0" rtlCol="0" anchor="t"/>
          <a:lstStyle/>
          <a:p>
            <a:pPr indent="0" marL="0">
              <a:buNone/>
            </a:pPr>
            <a:r>
              <a:rPr lang="en-US" sz="1200" b="1" spc="400" kern="0" dirty="0">
                <a:solidFill>
                  <a:srgbClr val="D6E4F8"/>
                </a:solidFill>
                <a:latin typeface="Malgun Gothic" pitchFamily="34" charset="0"/>
                <a:ea typeface="Malgun Gothic" pitchFamily="34" charset="-122"/>
                <a:cs typeface="Malgun Gothic" pitchFamily="34" charset="-120"/>
              </a:rPr>
              <a:t>COMPANY PROFILE  ·  2026</a:t>
            </a:r>
            <a:endParaRPr lang="en-US" sz="1200" dirty="0"/>
          </a:p>
        </p:txBody>
      </p:sp>
      <p:sp>
        <p:nvSpPr>
          <p:cNvPr id="7" name="Text 5"/>
          <p:cNvSpPr txBox="1"/>
          <p:nvPr/>
        </p:nvSpPr>
        <p:spPr>
          <a:xfrm>
            <a:off x="640080" y="2560320"/>
            <a:ext cx="8778240" cy="1737360"/>
          </a:xfrm>
          <a:prstGeom prst="rect">
            <a:avLst/>
          </a:prstGeom>
          <a:noFill/>
          <a:ln/>
        </p:spPr>
        <p:txBody>
          <a:bodyPr wrap="square" lIns="0" tIns="0" rIns="0" bIns="0" rtlCol="0" anchor="t"/>
          <a:lstStyle/>
          <a:p>
            <a:pPr indent="0" marL="0">
              <a:lnSpc>
                <a:spcPct val="115000"/>
              </a:lnSpc>
              <a:buNone/>
            </a:pPr>
            <a:r>
              <a:rPr lang="en-US" sz="4200" b="1" dirty="0">
                <a:solidFill>
                  <a:srgbClr val="FFFFFF"/>
                </a:solidFill>
                <a:latin typeface="Malgun Gothic" pitchFamily="34" charset="0"/>
                <a:ea typeface="Malgun Gothic" pitchFamily="34" charset="-122"/>
                <a:cs typeface="Malgun Gothic" pitchFamily="34" charset="-120"/>
              </a:rPr>
              <a:t>행사 기획부터 무대까지,</a:t>
            </a:r>
            <a:endParaRPr lang="en-US" sz="4200" dirty="0"/>
          </a:p>
          <a:p>
            <a:pPr indent="0" marL="0">
              <a:lnSpc>
                <a:spcPct val="115000"/>
              </a:lnSpc>
              <a:buNone/>
            </a:pPr>
            <a:r>
              <a:rPr lang="en-US" sz="4200" b="1" dirty="0">
                <a:solidFill>
                  <a:srgbClr val="FFFFFF"/>
                </a:solidFill>
                <a:latin typeface="Malgun Gothic" pitchFamily="34" charset="0"/>
                <a:ea typeface="Malgun Gothic" pitchFamily="34" charset="-122"/>
                <a:cs typeface="Malgun Gothic" pitchFamily="34" charset="-120"/>
              </a:rPr>
              <a:t>창구 하나로 대행합니다.</a:t>
            </a:r>
            <a:endParaRPr lang="en-US" sz="4200" dirty="0"/>
          </a:p>
        </p:txBody>
      </p:sp>
      <p:sp>
        <p:nvSpPr>
          <p:cNvPr id="8" name="Text 6"/>
          <p:cNvSpPr txBox="1"/>
          <p:nvPr/>
        </p:nvSpPr>
        <p:spPr>
          <a:xfrm>
            <a:off x="640080" y="4434840"/>
            <a:ext cx="8229600" cy="822960"/>
          </a:xfrm>
          <a:prstGeom prst="rect">
            <a:avLst/>
          </a:prstGeom>
          <a:noFill/>
          <a:ln/>
        </p:spPr>
        <p:txBody>
          <a:bodyPr wrap="square" lIns="0" tIns="0" rIns="0" bIns="0" rtlCol="0" anchor="t"/>
          <a:lstStyle/>
          <a:p>
            <a:pPr indent="0" marL="0">
              <a:lnSpc>
                <a:spcPct val="130000"/>
              </a:lnSpc>
              <a:buNone/>
            </a:pPr>
            <a:r>
              <a:rPr lang="en-US" sz="1600" dirty="0">
                <a:solidFill>
                  <a:srgbClr val="D6E4F8"/>
                </a:solidFill>
                <a:latin typeface="Malgun Gothic" pitchFamily="34" charset="0"/>
                <a:ea typeface="Malgun Gothic" pitchFamily="34" charset="-122"/>
                <a:cs typeface="Malgun Gothic" pitchFamily="34" charset="-120"/>
              </a:rPr>
              <a:t>행사 기획 · 행사 운영 · 푸드트럭 · 체험부스 · 플리마켓 · 무대공연</a:t>
            </a:r>
            <a:endParaRPr lang="en-US" sz="1600" dirty="0"/>
          </a:p>
          <a:p>
            <a:pPr indent="0" marL="0">
              <a:lnSpc>
                <a:spcPct val="130000"/>
              </a:lnSpc>
              <a:buNone/>
            </a:pPr>
            <a:r>
              <a:rPr lang="en-US" sz="1600" dirty="0">
                <a:solidFill>
                  <a:srgbClr val="D6E4F8"/>
                </a:solidFill>
                <a:latin typeface="Malgun Gothic" pitchFamily="34" charset="0"/>
                <a:ea typeface="Malgun Gothic" pitchFamily="34" charset="-122"/>
                <a:cs typeface="Malgun Gothic" pitchFamily="34" charset="-120"/>
              </a:rPr>
              <a:t>검증된 셀러 네트워크 기반의 행사 운영 원스톱 대행 전문 기업</a:t>
            </a:r>
            <a:endParaRPr lang="en-US" sz="1600" dirty="0"/>
          </a:p>
        </p:txBody>
      </p:sp>
      <p:sp>
        <p:nvSpPr>
          <p:cNvPr id="9" name="Text 7"/>
          <p:cNvSpPr txBox="1"/>
          <p:nvPr/>
        </p:nvSpPr>
        <p:spPr>
          <a:xfrm>
            <a:off x="640080" y="6080760"/>
            <a:ext cx="5486400" cy="274320"/>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플릿 유니온  |  flitunion.com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F44"/>
        </a:solidFill>
      </p:bgPr>
    </p:bg>
    <p:spTree>
      <p:nvGrpSpPr>
        <p:cNvPr id="1" name=""/>
        <p:cNvGrpSpPr/>
        <p:nvPr/>
      </p:nvGrpSpPr>
      <p:grpSpPr>
        <a:xfrm>
          <a:off x="0" y="0"/>
          <a:ext cx="0" cy="0"/>
          <a:chOff x="0" y="0"/>
          <a:chExt cx="0" cy="0"/>
        </a:xfrm>
      </p:grpSpPr>
      <p:sp>
        <p:nvSpPr>
          <p:cNvPr id="2" name="Shape 0"/>
          <p:cNvSpPr/>
          <p:nvPr/>
        </p:nvSpPr>
        <p:spPr>
          <a:xfrm>
            <a:off x="9265615" y="-2377440"/>
            <a:ext cx="5120640" cy="5120640"/>
          </a:xfrm>
          <a:prstGeom prst="ellipse">
            <a:avLst/>
          </a:prstGeom>
          <a:solidFill>
            <a:srgbClr val="12305F"/>
          </a:solidFill>
          <a:ln w="12700">
            <a:solidFill>
              <a:srgbClr val="12305F"/>
            </a:solidFill>
            <a:prstDash val="solid"/>
          </a:ln>
        </p:spPr>
      </p:sp>
      <p:sp>
        <p:nvSpPr>
          <p:cNvPr id="3" name="Shape 1"/>
          <p:cNvSpPr/>
          <p:nvPr/>
        </p:nvSpPr>
        <p:spPr>
          <a:xfrm>
            <a:off x="-1645920" y="5029200"/>
            <a:ext cx="3657600" cy="3657600"/>
          </a:xfrm>
          <a:prstGeom prst="ellipse">
            <a:avLst/>
          </a:prstGeom>
          <a:solidFill>
            <a:srgbClr val="12305F"/>
          </a:solidFill>
          <a:ln w="12700">
            <a:solidFill>
              <a:srgbClr val="12305F"/>
            </a:solidFill>
            <a:prstDash val="solid"/>
          </a:ln>
        </p:spPr>
      </p:sp>
      <p:sp>
        <p:nvSpPr>
          <p:cNvPr id="4" name="Text 2"/>
          <p:cNvSpPr txBox="1"/>
          <p:nvPr/>
        </p:nvSpPr>
        <p:spPr>
          <a:xfrm>
            <a:off x="640080" y="384048"/>
            <a:ext cx="1155700" cy="266700"/>
          </a:xfrm>
          <a:prstGeom prst="rect">
            <a:avLst/>
          </a:prstGeom>
          <a:noFill/>
          <a:ln/>
        </p:spPr>
        <p:txBody>
          <a:bodyPr wrap="square" lIns="0" tIns="0" rIns="0" bIns="0" rtlCol="0" anchor="ctr"/>
          <a:lstStyle/>
          <a:p>
            <a:pPr indent="0" marL="0">
              <a:buNone/>
            </a:pPr>
            <a:r>
              <a:rPr lang="en-US" sz="1400" b="1" dirty="0">
                <a:solidFill>
                  <a:srgbClr val="3182F6"/>
                </a:solidFill>
                <a:latin typeface="Arial Black" pitchFamily="34" charset="0"/>
                <a:ea typeface="Arial Black" pitchFamily="34" charset="-122"/>
                <a:cs typeface="Arial Black" pitchFamily="34" charset="-120"/>
              </a:rPr>
              <a:t>Flit</a:t>
            </a:r>
            <a:pPr indent="0" marL="0">
              <a:buNone/>
            </a:pPr>
            <a:r>
              <a:rPr lang="en-US" sz="1400" b="1" dirty="0">
                <a:solidFill>
                  <a:srgbClr val="FFFFFF"/>
                </a:solidFill>
                <a:latin typeface="Arial Black" pitchFamily="34" charset="0"/>
                <a:ea typeface="Arial Black" pitchFamily="34" charset="-122"/>
                <a:cs typeface="Arial Black" pitchFamily="34" charset="-120"/>
              </a:rPr>
              <a:t>Union</a:t>
            </a:r>
            <a:endParaRPr lang="en-US" sz="1400" dirty="0"/>
          </a:p>
        </p:txBody>
      </p:sp>
      <p:sp>
        <p:nvSpPr>
          <p:cNvPr id="5" name="Text 3"/>
          <p:cNvSpPr txBox="1"/>
          <p:nvPr/>
        </p:nvSpPr>
        <p:spPr>
          <a:xfrm>
            <a:off x="640080" y="868680"/>
            <a:ext cx="5486400" cy="274320"/>
          </a:xfrm>
          <a:prstGeom prst="rect">
            <a:avLst/>
          </a:prstGeom>
          <a:noFill/>
          <a:ln/>
        </p:spPr>
        <p:txBody>
          <a:bodyPr wrap="square" lIns="0" tIns="0" rIns="0" bIns="0" rtlCol="0" anchor="t"/>
          <a:lstStyle/>
          <a:p>
            <a:pPr indent="0" marL="0">
              <a:buNone/>
            </a:pPr>
            <a:r>
              <a:rPr lang="en-US" sz="1100" b="1" spc="300" kern="0" dirty="0">
                <a:solidFill>
                  <a:srgbClr val="93C5FD"/>
                </a:solidFill>
                <a:latin typeface="Malgun Gothic" pitchFamily="34" charset="0"/>
                <a:ea typeface="Malgun Gothic" pitchFamily="34" charset="-122"/>
                <a:cs typeface="Malgun Gothic" pitchFamily="34" charset="-120"/>
              </a:rPr>
              <a:t>CONTENTS</a:t>
            </a:r>
            <a:endParaRPr lang="en-US" sz="1100" dirty="0"/>
          </a:p>
        </p:txBody>
      </p:sp>
      <p:sp>
        <p:nvSpPr>
          <p:cNvPr id="6" name="Text 4"/>
          <p:cNvSpPr txBox="1"/>
          <p:nvPr/>
        </p:nvSpPr>
        <p:spPr>
          <a:xfrm>
            <a:off x="640080" y="1143000"/>
            <a:ext cx="10911535" cy="594360"/>
          </a:xfrm>
          <a:prstGeom prst="rect">
            <a:avLst/>
          </a:prstGeom>
          <a:noFill/>
          <a:ln/>
        </p:spPr>
        <p:txBody>
          <a:bodyPr wrap="square" lIns="0" tIns="0" rIns="0" bIns="0" rtlCol="0" anchor="t"/>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목차</a:t>
            </a:r>
            <a:endParaRPr lang="en-US" sz="2800" dirty="0"/>
          </a:p>
        </p:txBody>
      </p:sp>
      <p:sp>
        <p:nvSpPr>
          <p:cNvPr id="7" name="Text 5"/>
          <p:cNvSpPr txBox="1"/>
          <p:nvPr/>
        </p:nvSpPr>
        <p:spPr>
          <a:xfrm>
            <a:off x="640080" y="1737360"/>
            <a:ext cx="10911535" cy="411480"/>
          </a:xfrm>
          <a:prstGeom prst="rect">
            <a:avLst/>
          </a:prstGeom>
          <a:noFill/>
          <a:ln/>
        </p:spPr>
        <p:txBody>
          <a:bodyPr wrap="square" lIns="0" tIns="0" rIns="0" bIns="0" rtlCol="0" anchor="t"/>
          <a:lstStyle/>
          <a:p>
            <a:pPr indent="0" marL="0">
              <a:buNone/>
            </a:pPr>
            <a:r>
              <a:rPr lang="en-US" sz="1300" dirty="0">
                <a:solidFill>
                  <a:srgbClr val="D6E4F8"/>
                </a:solidFill>
                <a:latin typeface="Malgun Gothic" pitchFamily="34" charset="0"/>
                <a:ea typeface="Malgun Gothic" pitchFamily="34" charset="-122"/>
                <a:cs typeface="Malgun Gothic" pitchFamily="34" charset="-120"/>
              </a:rPr>
              <a:t>플릿 유니온 회사소개서는 다음과 같은 순서로 구성되어 있습니다.</a:t>
            </a:r>
            <a:endParaRPr lang="en-US" sz="1300" dirty="0"/>
          </a:p>
        </p:txBody>
      </p:sp>
      <p:sp>
        <p:nvSpPr>
          <p:cNvPr id="8" name="Text 6"/>
          <p:cNvSpPr txBox="1"/>
          <p:nvPr/>
        </p:nvSpPr>
        <p:spPr>
          <a:xfrm>
            <a:off x="640080" y="6400800"/>
            <a:ext cx="3657600" cy="228600"/>
          </a:xfrm>
          <a:prstGeom prst="rect">
            <a:avLst/>
          </a:prstGeom>
          <a:noFill/>
          <a:ln/>
        </p:spPr>
        <p:txBody>
          <a:bodyPr wrap="square" lIns="0" tIns="0" rIns="0" bIns="0" rtlCol="0" anchor="t"/>
          <a:lstStyle/>
          <a:p>
            <a:pPr indent="0" marL="0">
              <a:buNone/>
            </a:pPr>
            <a:r>
              <a:rPr lang="en-US" sz="900" dirty="0">
                <a:solidFill>
                  <a:srgbClr val="94A3B8"/>
                </a:solidFill>
                <a:latin typeface="Malgun Gothic" pitchFamily="34" charset="0"/>
                <a:ea typeface="Malgun Gothic" pitchFamily="34" charset="-122"/>
                <a:cs typeface="Malgun Gothic" pitchFamily="34" charset="-120"/>
              </a:rPr>
              <a:t>플릿 유니온 회사소개서</a:t>
            </a:r>
            <a:endParaRPr lang="en-US" sz="900" dirty="0"/>
          </a:p>
        </p:txBody>
      </p:sp>
      <p:sp>
        <p:nvSpPr>
          <p:cNvPr id="9" name="Text 7"/>
          <p:cNvSpPr txBox="1"/>
          <p:nvPr/>
        </p:nvSpPr>
        <p:spPr>
          <a:xfrm>
            <a:off x="10637215" y="6400800"/>
            <a:ext cx="914400" cy="228600"/>
          </a:xfrm>
          <a:prstGeom prst="rect">
            <a:avLst/>
          </a:prstGeom>
          <a:noFill/>
          <a:ln/>
        </p:spPr>
        <p:txBody>
          <a:bodyPr wrap="square" lIns="0" tIns="0" rIns="0" bIns="0" rtlCol="0" anchor="t"/>
          <a:lstStyle/>
          <a:p>
            <a:pPr algn="r" indent="0" marL="0">
              <a:buNone/>
            </a:pPr>
            <a:r>
              <a:rPr lang="en-US" sz="900" dirty="0">
                <a:solidFill>
                  <a:srgbClr val="94A3B8"/>
                </a:solidFill>
                <a:latin typeface="Malgun Gothic" pitchFamily="34" charset="0"/>
                <a:ea typeface="Malgun Gothic" pitchFamily="34" charset="-122"/>
                <a:cs typeface="Malgun Gothic" pitchFamily="34" charset="-120"/>
              </a:rPr>
              <a:t>02</a:t>
            </a:r>
            <a:endParaRPr lang="en-US" sz="900" dirty="0"/>
          </a:p>
        </p:txBody>
      </p:sp>
      <p:sp>
        <p:nvSpPr>
          <p:cNvPr id="10" name="Text 8"/>
          <p:cNvSpPr txBox="1"/>
          <p:nvPr/>
        </p:nvSpPr>
        <p:spPr>
          <a:xfrm>
            <a:off x="640080" y="2423160"/>
            <a:ext cx="731520" cy="457200"/>
          </a:xfrm>
          <a:prstGeom prst="rect">
            <a:avLst/>
          </a:prstGeom>
          <a:noFill/>
          <a:ln/>
        </p:spPr>
        <p:txBody>
          <a:bodyPr wrap="square" lIns="0" tIns="0" rIns="0" bIns="0" rtlCol="0" anchor="ctr"/>
          <a:lstStyle/>
          <a:p>
            <a:pPr indent="0" marL="0">
              <a:buNone/>
            </a:pPr>
            <a:r>
              <a:rPr lang="en-US" sz="2400" b="1" dirty="0">
                <a:solidFill>
                  <a:srgbClr val="3182F6"/>
                </a:solidFill>
                <a:latin typeface="Arial Black" pitchFamily="34" charset="0"/>
                <a:ea typeface="Arial Black" pitchFamily="34" charset="-122"/>
                <a:cs typeface="Arial Black" pitchFamily="34" charset="-120"/>
              </a:rPr>
              <a:t>01</a:t>
            </a:r>
            <a:endParaRPr lang="en-US" sz="2400" dirty="0"/>
          </a:p>
        </p:txBody>
      </p:sp>
      <p:sp>
        <p:nvSpPr>
          <p:cNvPr id="11" name="Text 9"/>
          <p:cNvSpPr txBox="1"/>
          <p:nvPr/>
        </p:nvSpPr>
        <p:spPr>
          <a:xfrm>
            <a:off x="1508760" y="2423160"/>
            <a:ext cx="4206240" cy="274320"/>
          </a:xfrm>
          <a:prstGeom prst="rect">
            <a:avLst/>
          </a:prstGeom>
          <a:noFill/>
          <a:ln/>
        </p:spPr>
        <p:txBody>
          <a:bodyPr wrap="square" lIns="0" tIns="0" rIns="0" bIns="0" rtlCol="0" anchor="t"/>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회사 개요</a:t>
            </a:r>
            <a:endParaRPr lang="en-US" sz="1500" dirty="0"/>
          </a:p>
        </p:txBody>
      </p:sp>
      <p:sp>
        <p:nvSpPr>
          <p:cNvPr id="12" name="Text 10"/>
          <p:cNvSpPr txBox="1"/>
          <p:nvPr/>
        </p:nvSpPr>
        <p:spPr>
          <a:xfrm>
            <a:off x="1508760" y="2697480"/>
            <a:ext cx="4206240" cy="228600"/>
          </a:xfrm>
          <a:prstGeom prst="rect">
            <a:avLst/>
          </a:prstGeom>
          <a:noFill/>
          <a:ln/>
        </p:spPr>
        <p:txBody>
          <a:bodyPr wrap="square" lIns="0" tIns="0" rIns="0" bIns="0" rtlCol="0" anchor="t"/>
          <a:lstStyle/>
          <a:p>
            <a:pPr indent="0" marL="0">
              <a:buNone/>
            </a:pPr>
            <a:r>
              <a:rPr lang="en-US" sz="950" dirty="0">
                <a:solidFill>
                  <a:srgbClr val="94A3B8"/>
                </a:solidFill>
                <a:latin typeface="Malgun Gothic" pitchFamily="34" charset="0"/>
                <a:ea typeface="Malgun Gothic" pitchFamily="34" charset="-122"/>
                <a:cs typeface="Malgun Gothic" pitchFamily="34" charset="-120"/>
              </a:rPr>
              <a:t>Company Overview</a:t>
            </a:r>
            <a:endParaRPr lang="en-US" sz="950" dirty="0"/>
          </a:p>
        </p:txBody>
      </p:sp>
      <p:sp>
        <p:nvSpPr>
          <p:cNvPr id="13" name="Text 11"/>
          <p:cNvSpPr txBox="1"/>
          <p:nvPr/>
        </p:nvSpPr>
        <p:spPr>
          <a:xfrm>
            <a:off x="640080" y="3172968"/>
            <a:ext cx="731520" cy="457200"/>
          </a:xfrm>
          <a:prstGeom prst="rect">
            <a:avLst/>
          </a:prstGeom>
          <a:noFill/>
          <a:ln/>
        </p:spPr>
        <p:txBody>
          <a:bodyPr wrap="square" lIns="0" tIns="0" rIns="0" bIns="0" rtlCol="0" anchor="ctr"/>
          <a:lstStyle/>
          <a:p>
            <a:pPr indent="0" marL="0">
              <a:buNone/>
            </a:pPr>
            <a:r>
              <a:rPr lang="en-US" sz="2400" b="1" dirty="0">
                <a:solidFill>
                  <a:srgbClr val="3182F6"/>
                </a:solidFill>
                <a:latin typeface="Arial Black" pitchFamily="34" charset="0"/>
                <a:ea typeface="Arial Black" pitchFamily="34" charset="-122"/>
                <a:cs typeface="Arial Black" pitchFamily="34" charset="-120"/>
              </a:rPr>
              <a:t>02</a:t>
            </a:r>
            <a:endParaRPr lang="en-US" sz="2400" dirty="0"/>
          </a:p>
        </p:txBody>
      </p:sp>
      <p:sp>
        <p:nvSpPr>
          <p:cNvPr id="14" name="Text 12"/>
          <p:cNvSpPr txBox="1"/>
          <p:nvPr/>
        </p:nvSpPr>
        <p:spPr>
          <a:xfrm>
            <a:off x="1508760" y="3172968"/>
            <a:ext cx="4206240" cy="274320"/>
          </a:xfrm>
          <a:prstGeom prst="rect">
            <a:avLst/>
          </a:prstGeom>
          <a:noFill/>
          <a:ln/>
        </p:spPr>
        <p:txBody>
          <a:bodyPr wrap="square" lIns="0" tIns="0" rIns="0" bIns="0" rtlCol="0" anchor="t"/>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비전과 미션</a:t>
            </a:r>
            <a:endParaRPr lang="en-US" sz="1500" dirty="0"/>
          </a:p>
        </p:txBody>
      </p:sp>
      <p:sp>
        <p:nvSpPr>
          <p:cNvPr id="15" name="Text 13"/>
          <p:cNvSpPr txBox="1"/>
          <p:nvPr/>
        </p:nvSpPr>
        <p:spPr>
          <a:xfrm>
            <a:off x="1508760" y="3447288"/>
            <a:ext cx="4206240" cy="228600"/>
          </a:xfrm>
          <a:prstGeom prst="rect">
            <a:avLst/>
          </a:prstGeom>
          <a:noFill/>
          <a:ln/>
        </p:spPr>
        <p:txBody>
          <a:bodyPr wrap="square" lIns="0" tIns="0" rIns="0" bIns="0" rtlCol="0" anchor="t"/>
          <a:lstStyle/>
          <a:p>
            <a:pPr indent="0" marL="0">
              <a:buNone/>
            </a:pPr>
            <a:r>
              <a:rPr lang="en-US" sz="950" dirty="0">
                <a:solidFill>
                  <a:srgbClr val="94A3B8"/>
                </a:solidFill>
                <a:latin typeface="Malgun Gothic" pitchFamily="34" charset="0"/>
                <a:ea typeface="Malgun Gothic" pitchFamily="34" charset="-122"/>
                <a:cs typeface="Malgun Gothic" pitchFamily="34" charset="-120"/>
              </a:rPr>
              <a:t>Vision &amp; Mission</a:t>
            </a:r>
            <a:endParaRPr lang="en-US" sz="950" dirty="0"/>
          </a:p>
        </p:txBody>
      </p:sp>
      <p:sp>
        <p:nvSpPr>
          <p:cNvPr id="16" name="Text 14"/>
          <p:cNvSpPr txBox="1"/>
          <p:nvPr/>
        </p:nvSpPr>
        <p:spPr>
          <a:xfrm>
            <a:off x="640080" y="3922776"/>
            <a:ext cx="731520" cy="457200"/>
          </a:xfrm>
          <a:prstGeom prst="rect">
            <a:avLst/>
          </a:prstGeom>
          <a:noFill/>
          <a:ln/>
        </p:spPr>
        <p:txBody>
          <a:bodyPr wrap="square" lIns="0" tIns="0" rIns="0" bIns="0" rtlCol="0" anchor="ctr"/>
          <a:lstStyle/>
          <a:p>
            <a:pPr indent="0" marL="0">
              <a:buNone/>
            </a:pPr>
            <a:r>
              <a:rPr lang="en-US" sz="2400" b="1" dirty="0">
                <a:solidFill>
                  <a:srgbClr val="3182F6"/>
                </a:solidFill>
                <a:latin typeface="Arial Black" pitchFamily="34" charset="0"/>
                <a:ea typeface="Arial Black" pitchFamily="34" charset="-122"/>
                <a:cs typeface="Arial Black" pitchFamily="34" charset="-120"/>
              </a:rPr>
              <a:t>03</a:t>
            </a:r>
            <a:endParaRPr lang="en-US" sz="2400" dirty="0"/>
          </a:p>
        </p:txBody>
      </p:sp>
      <p:sp>
        <p:nvSpPr>
          <p:cNvPr id="17" name="Text 15"/>
          <p:cNvSpPr txBox="1"/>
          <p:nvPr/>
        </p:nvSpPr>
        <p:spPr>
          <a:xfrm>
            <a:off x="1508760" y="3922776"/>
            <a:ext cx="4206240" cy="274320"/>
          </a:xfrm>
          <a:prstGeom prst="rect">
            <a:avLst/>
          </a:prstGeom>
          <a:noFill/>
          <a:ln/>
        </p:spPr>
        <p:txBody>
          <a:bodyPr wrap="square" lIns="0" tIns="0" rIns="0" bIns="0" rtlCol="0" anchor="t"/>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고객의 과제와 플릿의 해법</a:t>
            </a:r>
            <a:endParaRPr lang="en-US" sz="1500" dirty="0"/>
          </a:p>
        </p:txBody>
      </p:sp>
      <p:sp>
        <p:nvSpPr>
          <p:cNvPr id="18" name="Text 16"/>
          <p:cNvSpPr txBox="1"/>
          <p:nvPr/>
        </p:nvSpPr>
        <p:spPr>
          <a:xfrm>
            <a:off x="1508760" y="4197096"/>
            <a:ext cx="4206240" cy="228600"/>
          </a:xfrm>
          <a:prstGeom prst="rect">
            <a:avLst/>
          </a:prstGeom>
          <a:noFill/>
          <a:ln/>
        </p:spPr>
        <p:txBody>
          <a:bodyPr wrap="square" lIns="0" tIns="0" rIns="0" bIns="0" rtlCol="0" anchor="t"/>
          <a:lstStyle/>
          <a:p>
            <a:pPr indent="0" marL="0">
              <a:buNone/>
            </a:pPr>
            <a:r>
              <a:rPr lang="en-US" sz="950" dirty="0">
                <a:solidFill>
                  <a:srgbClr val="94A3B8"/>
                </a:solidFill>
                <a:latin typeface="Malgun Gothic" pitchFamily="34" charset="0"/>
                <a:ea typeface="Malgun Gothic" pitchFamily="34" charset="-122"/>
                <a:cs typeface="Malgun Gothic" pitchFamily="34" charset="-120"/>
              </a:rPr>
              <a:t>Problem &amp; Solution</a:t>
            </a:r>
            <a:endParaRPr lang="en-US" sz="950" dirty="0"/>
          </a:p>
        </p:txBody>
      </p:sp>
      <p:sp>
        <p:nvSpPr>
          <p:cNvPr id="19" name="Text 17"/>
          <p:cNvSpPr txBox="1"/>
          <p:nvPr/>
        </p:nvSpPr>
        <p:spPr>
          <a:xfrm>
            <a:off x="640080" y="4672584"/>
            <a:ext cx="731520" cy="457200"/>
          </a:xfrm>
          <a:prstGeom prst="rect">
            <a:avLst/>
          </a:prstGeom>
          <a:noFill/>
          <a:ln/>
        </p:spPr>
        <p:txBody>
          <a:bodyPr wrap="square" lIns="0" tIns="0" rIns="0" bIns="0" rtlCol="0" anchor="ctr"/>
          <a:lstStyle/>
          <a:p>
            <a:pPr indent="0" marL="0">
              <a:buNone/>
            </a:pPr>
            <a:r>
              <a:rPr lang="en-US" sz="2400" b="1" dirty="0">
                <a:solidFill>
                  <a:srgbClr val="3182F6"/>
                </a:solidFill>
                <a:latin typeface="Arial Black" pitchFamily="34" charset="0"/>
                <a:ea typeface="Arial Black" pitchFamily="34" charset="-122"/>
                <a:cs typeface="Arial Black" pitchFamily="34" charset="-120"/>
              </a:rPr>
              <a:t>04</a:t>
            </a:r>
            <a:endParaRPr lang="en-US" sz="2400" dirty="0"/>
          </a:p>
        </p:txBody>
      </p:sp>
      <p:sp>
        <p:nvSpPr>
          <p:cNvPr id="20" name="Text 18"/>
          <p:cNvSpPr txBox="1"/>
          <p:nvPr/>
        </p:nvSpPr>
        <p:spPr>
          <a:xfrm>
            <a:off x="1508760" y="4672584"/>
            <a:ext cx="4206240" cy="274320"/>
          </a:xfrm>
          <a:prstGeom prst="rect">
            <a:avLst/>
          </a:prstGeom>
          <a:noFill/>
          <a:ln/>
        </p:spPr>
        <p:txBody>
          <a:bodyPr wrap="square" lIns="0" tIns="0" rIns="0" bIns="0" rtlCol="0" anchor="t"/>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대행 범위</a:t>
            </a:r>
            <a:endParaRPr lang="en-US" sz="1500" dirty="0"/>
          </a:p>
        </p:txBody>
      </p:sp>
      <p:sp>
        <p:nvSpPr>
          <p:cNvPr id="21" name="Text 19"/>
          <p:cNvSpPr txBox="1"/>
          <p:nvPr/>
        </p:nvSpPr>
        <p:spPr>
          <a:xfrm>
            <a:off x="1508760" y="4946904"/>
            <a:ext cx="4206240" cy="228600"/>
          </a:xfrm>
          <a:prstGeom prst="rect">
            <a:avLst/>
          </a:prstGeom>
          <a:noFill/>
          <a:ln/>
        </p:spPr>
        <p:txBody>
          <a:bodyPr wrap="square" lIns="0" tIns="0" rIns="0" bIns="0" rtlCol="0" anchor="t"/>
          <a:lstStyle/>
          <a:p>
            <a:pPr indent="0" marL="0">
              <a:buNone/>
            </a:pPr>
            <a:r>
              <a:rPr lang="en-US" sz="950" dirty="0">
                <a:solidFill>
                  <a:srgbClr val="94A3B8"/>
                </a:solidFill>
                <a:latin typeface="Malgun Gothic" pitchFamily="34" charset="0"/>
                <a:ea typeface="Malgun Gothic" pitchFamily="34" charset="-122"/>
                <a:cs typeface="Malgun Gothic" pitchFamily="34" charset="-120"/>
              </a:rPr>
              <a:t>What We Do</a:t>
            </a:r>
            <a:endParaRPr lang="en-US" sz="950" dirty="0"/>
          </a:p>
        </p:txBody>
      </p:sp>
      <p:sp>
        <p:nvSpPr>
          <p:cNvPr id="22" name="Text 20"/>
          <p:cNvSpPr txBox="1"/>
          <p:nvPr/>
        </p:nvSpPr>
        <p:spPr>
          <a:xfrm>
            <a:off x="640080" y="5422392"/>
            <a:ext cx="731520" cy="457200"/>
          </a:xfrm>
          <a:prstGeom prst="rect">
            <a:avLst/>
          </a:prstGeom>
          <a:noFill/>
          <a:ln/>
        </p:spPr>
        <p:txBody>
          <a:bodyPr wrap="square" lIns="0" tIns="0" rIns="0" bIns="0" rtlCol="0" anchor="ctr"/>
          <a:lstStyle/>
          <a:p>
            <a:pPr indent="0" marL="0">
              <a:buNone/>
            </a:pPr>
            <a:r>
              <a:rPr lang="en-US" sz="2400" b="1" dirty="0">
                <a:solidFill>
                  <a:srgbClr val="3182F6"/>
                </a:solidFill>
                <a:latin typeface="Arial Black" pitchFamily="34" charset="0"/>
                <a:ea typeface="Arial Black" pitchFamily="34" charset="-122"/>
                <a:cs typeface="Arial Black" pitchFamily="34" charset="-120"/>
              </a:rPr>
              <a:t>05</a:t>
            </a:r>
            <a:endParaRPr lang="en-US" sz="2400" dirty="0"/>
          </a:p>
        </p:txBody>
      </p:sp>
      <p:sp>
        <p:nvSpPr>
          <p:cNvPr id="23" name="Text 21"/>
          <p:cNvSpPr txBox="1"/>
          <p:nvPr/>
        </p:nvSpPr>
        <p:spPr>
          <a:xfrm>
            <a:off x="1508760" y="5422392"/>
            <a:ext cx="4206240" cy="274320"/>
          </a:xfrm>
          <a:prstGeom prst="rect">
            <a:avLst/>
          </a:prstGeom>
          <a:noFill/>
          <a:ln/>
        </p:spPr>
        <p:txBody>
          <a:bodyPr wrap="square" lIns="0" tIns="0" rIns="0" bIns="0" rtlCol="0" anchor="t"/>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서비스 상세</a:t>
            </a:r>
            <a:endParaRPr lang="en-US" sz="1500" dirty="0"/>
          </a:p>
        </p:txBody>
      </p:sp>
      <p:sp>
        <p:nvSpPr>
          <p:cNvPr id="24" name="Text 22"/>
          <p:cNvSpPr txBox="1"/>
          <p:nvPr/>
        </p:nvSpPr>
        <p:spPr>
          <a:xfrm>
            <a:off x="1508760" y="5696712"/>
            <a:ext cx="4206240" cy="228600"/>
          </a:xfrm>
          <a:prstGeom prst="rect">
            <a:avLst/>
          </a:prstGeom>
          <a:noFill/>
          <a:ln/>
        </p:spPr>
        <p:txBody>
          <a:bodyPr wrap="square" lIns="0" tIns="0" rIns="0" bIns="0" rtlCol="0" anchor="t"/>
          <a:lstStyle/>
          <a:p>
            <a:pPr indent="0" marL="0">
              <a:buNone/>
            </a:pPr>
            <a:r>
              <a:rPr lang="en-US" sz="950" dirty="0">
                <a:solidFill>
                  <a:srgbClr val="94A3B8"/>
                </a:solidFill>
                <a:latin typeface="Malgun Gothic" pitchFamily="34" charset="0"/>
                <a:ea typeface="Malgun Gothic" pitchFamily="34" charset="-122"/>
                <a:cs typeface="Malgun Gothic" pitchFamily="34" charset="-120"/>
              </a:rPr>
              <a:t>Service Details</a:t>
            </a:r>
            <a:endParaRPr lang="en-US" sz="950" dirty="0"/>
          </a:p>
        </p:txBody>
      </p:sp>
      <p:sp>
        <p:nvSpPr>
          <p:cNvPr id="25" name="Text 23"/>
          <p:cNvSpPr txBox="1"/>
          <p:nvPr/>
        </p:nvSpPr>
        <p:spPr>
          <a:xfrm>
            <a:off x="6309360" y="2423160"/>
            <a:ext cx="731520" cy="457200"/>
          </a:xfrm>
          <a:prstGeom prst="rect">
            <a:avLst/>
          </a:prstGeom>
          <a:noFill/>
          <a:ln/>
        </p:spPr>
        <p:txBody>
          <a:bodyPr wrap="square" lIns="0" tIns="0" rIns="0" bIns="0" rtlCol="0" anchor="ctr"/>
          <a:lstStyle/>
          <a:p>
            <a:pPr indent="0" marL="0">
              <a:buNone/>
            </a:pPr>
            <a:r>
              <a:rPr lang="en-US" sz="2400" b="1" dirty="0">
                <a:solidFill>
                  <a:srgbClr val="3182F6"/>
                </a:solidFill>
                <a:latin typeface="Arial Black" pitchFamily="34" charset="0"/>
                <a:ea typeface="Arial Black" pitchFamily="34" charset="-122"/>
                <a:cs typeface="Arial Black" pitchFamily="34" charset="-120"/>
              </a:rPr>
              <a:t>06</a:t>
            </a:r>
            <a:endParaRPr lang="en-US" sz="2400" dirty="0"/>
          </a:p>
        </p:txBody>
      </p:sp>
      <p:sp>
        <p:nvSpPr>
          <p:cNvPr id="26" name="Text 24"/>
          <p:cNvSpPr txBox="1"/>
          <p:nvPr/>
        </p:nvSpPr>
        <p:spPr>
          <a:xfrm>
            <a:off x="7178040" y="2423160"/>
            <a:ext cx="4206240" cy="274320"/>
          </a:xfrm>
          <a:prstGeom prst="rect">
            <a:avLst/>
          </a:prstGeom>
          <a:noFill/>
          <a:ln/>
        </p:spPr>
        <p:txBody>
          <a:bodyPr wrap="square" lIns="0" tIns="0" rIns="0" bIns="0" rtlCol="0" anchor="t"/>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플릿의 차별점</a:t>
            </a:r>
            <a:endParaRPr lang="en-US" sz="1500" dirty="0"/>
          </a:p>
        </p:txBody>
      </p:sp>
      <p:sp>
        <p:nvSpPr>
          <p:cNvPr id="27" name="Text 25"/>
          <p:cNvSpPr txBox="1"/>
          <p:nvPr/>
        </p:nvSpPr>
        <p:spPr>
          <a:xfrm>
            <a:off x="7178040" y="2697480"/>
            <a:ext cx="4206240" cy="228600"/>
          </a:xfrm>
          <a:prstGeom prst="rect">
            <a:avLst/>
          </a:prstGeom>
          <a:noFill/>
          <a:ln/>
        </p:spPr>
        <p:txBody>
          <a:bodyPr wrap="square" lIns="0" tIns="0" rIns="0" bIns="0" rtlCol="0" anchor="t"/>
          <a:lstStyle/>
          <a:p>
            <a:pPr indent="0" marL="0">
              <a:buNone/>
            </a:pPr>
            <a:r>
              <a:rPr lang="en-US" sz="950" dirty="0">
                <a:solidFill>
                  <a:srgbClr val="94A3B8"/>
                </a:solidFill>
                <a:latin typeface="Malgun Gothic" pitchFamily="34" charset="0"/>
                <a:ea typeface="Malgun Gothic" pitchFamily="34" charset="-122"/>
                <a:cs typeface="Malgun Gothic" pitchFamily="34" charset="-120"/>
              </a:rPr>
              <a:t>Why Flit Union</a:t>
            </a:r>
            <a:endParaRPr lang="en-US" sz="950" dirty="0"/>
          </a:p>
        </p:txBody>
      </p:sp>
      <p:sp>
        <p:nvSpPr>
          <p:cNvPr id="28" name="Text 26"/>
          <p:cNvSpPr txBox="1"/>
          <p:nvPr/>
        </p:nvSpPr>
        <p:spPr>
          <a:xfrm>
            <a:off x="6309360" y="3172968"/>
            <a:ext cx="731520" cy="457200"/>
          </a:xfrm>
          <a:prstGeom prst="rect">
            <a:avLst/>
          </a:prstGeom>
          <a:noFill/>
          <a:ln/>
        </p:spPr>
        <p:txBody>
          <a:bodyPr wrap="square" lIns="0" tIns="0" rIns="0" bIns="0" rtlCol="0" anchor="ctr"/>
          <a:lstStyle/>
          <a:p>
            <a:pPr indent="0" marL="0">
              <a:buNone/>
            </a:pPr>
            <a:r>
              <a:rPr lang="en-US" sz="2400" b="1" dirty="0">
                <a:solidFill>
                  <a:srgbClr val="3182F6"/>
                </a:solidFill>
                <a:latin typeface="Arial Black" pitchFamily="34" charset="0"/>
                <a:ea typeface="Arial Black" pitchFamily="34" charset="-122"/>
                <a:cs typeface="Arial Black" pitchFamily="34" charset="-120"/>
              </a:rPr>
              <a:t>07</a:t>
            </a:r>
            <a:endParaRPr lang="en-US" sz="2400" dirty="0"/>
          </a:p>
        </p:txBody>
      </p:sp>
      <p:sp>
        <p:nvSpPr>
          <p:cNvPr id="29" name="Text 27"/>
          <p:cNvSpPr txBox="1"/>
          <p:nvPr/>
        </p:nvSpPr>
        <p:spPr>
          <a:xfrm>
            <a:off x="7178040" y="3172968"/>
            <a:ext cx="4206240" cy="274320"/>
          </a:xfrm>
          <a:prstGeom prst="rect">
            <a:avLst/>
          </a:prstGeom>
          <a:noFill/>
          <a:ln/>
        </p:spPr>
        <p:txBody>
          <a:bodyPr wrap="square" lIns="0" tIns="0" rIns="0" bIns="0" rtlCol="0" anchor="t"/>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운영 프로세스</a:t>
            </a:r>
            <a:endParaRPr lang="en-US" sz="1500" dirty="0"/>
          </a:p>
        </p:txBody>
      </p:sp>
      <p:sp>
        <p:nvSpPr>
          <p:cNvPr id="30" name="Text 28"/>
          <p:cNvSpPr txBox="1"/>
          <p:nvPr/>
        </p:nvSpPr>
        <p:spPr>
          <a:xfrm>
            <a:off x="7178040" y="3447288"/>
            <a:ext cx="4206240" cy="228600"/>
          </a:xfrm>
          <a:prstGeom prst="rect">
            <a:avLst/>
          </a:prstGeom>
          <a:noFill/>
          <a:ln/>
        </p:spPr>
        <p:txBody>
          <a:bodyPr wrap="square" lIns="0" tIns="0" rIns="0" bIns="0" rtlCol="0" anchor="t"/>
          <a:lstStyle/>
          <a:p>
            <a:pPr indent="0" marL="0">
              <a:buNone/>
            </a:pPr>
            <a:r>
              <a:rPr lang="en-US" sz="950" dirty="0">
                <a:solidFill>
                  <a:srgbClr val="94A3B8"/>
                </a:solidFill>
                <a:latin typeface="Malgun Gothic" pitchFamily="34" charset="0"/>
                <a:ea typeface="Malgun Gothic" pitchFamily="34" charset="-122"/>
                <a:cs typeface="Malgun Gothic" pitchFamily="34" charset="-120"/>
              </a:rPr>
              <a:t>Process</a:t>
            </a:r>
            <a:endParaRPr lang="en-US" sz="950" dirty="0"/>
          </a:p>
        </p:txBody>
      </p:sp>
      <p:sp>
        <p:nvSpPr>
          <p:cNvPr id="31" name="Text 29"/>
          <p:cNvSpPr txBox="1"/>
          <p:nvPr/>
        </p:nvSpPr>
        <p:spPr>
          <a:xfrm>
            <a:off x="6309360" y="3922776"/>
            <a:ext cx="731520" cy="457200"/>
          </a:xfrm>
          <a:prstGeom prst="rect">
            <a:avLst/>
          </a:prstGeom>
          <a:noFill/>
          <a:ln/>
        </p:spPr>
        <p:txBody>
          <a:bodyPr wrap="square" lIns="0" tIns="0" rIns="0" bIns="0" rtlCol="0" anchor="ctr"/>
          <a:lstStyle/>
          <a:p>
            <a:pPr indent="0" marL="0">
              <a:buNone/>
            </a:pPr>
            <a:r>
              <a:rPr lang="en-US" sz="2400" b="1" dirty="0">
                <a:solidFill>
                  <a:srgbClr val="3182F6"/>
                </a:solidFill>
                <a:latin typeface="Arial Black" pitchFamily="34" charset="0"/>
                <a:ea typeface="Arial Black" pitchFamily="34" charset="-122"/>
                <a:cs typeface="Arial Black" pitchFamily="34" charset="-120"/>
              </a:rPr>
              <a:t>08</a:t>
            </a:r>
            <a:endParaRPr lang="en-US" sz="2400" dirty="0"/>
          </a:p>
        </p:txBody>
      </p:sp>
      <p:sp>
        <p:nvSpPr>
          <p:cNvPr id="32" name="Text 30"/>
          <p:cNvSpPr txBox="1"/>
          <p:nvPr/>
        </p:nvSpPr>
        <p:spPr>
          <a:xfrm>
            <a:off x="7178040" y="3922776"/>
            <a:ext cx="4206240" cy="274320"/>
          </a:xfrm>
          <a:prstGeom prst="rect">
            <a:avLst/>
          </a:prstGeom>
          <a:noFill/>
          <a:ln/>
        </p:spPr>
        <p:txBody>
          <a:bodyPr wrap="square" lIns="0" tIns="0" rIns="0" bIns="0" rtlCol="0" anchor="t"/>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주요 실적 및 사례</a:t>
            </a:r>
            <a:endParaRPr lang="en-US" sz="1500" dirty="0"/>
          </a:p>
        </p:txBody>
      </p:sp>
      <p:sp>
        <p:nvSpPr>
          <p:cNvPr id="33" name="Text 31"/>
          <p:cNvSpPr txBox="1"/>
          <p:nvPr/>
        </p:nvSpPr>
        <p:spPr>
          <a:xfrm>
            <a:off x="7178040" y="4197096"/>
            <a:ext cx="4206240" cy="228600"/>
          </a:xfrm>
          <a:prstGeom prst="rect">
            <a:avLst/>
          </a:prstGeom>
          <a:noFill/>
          <a:ln/>
        </p:spPr>
        <p:txBody>
          <a:bodyPr wrap="square" lIns="0" tIns="0" rIns="0" bIns="0" rtlCol="0" anchor="t"/>
          <a:lstStyle/>
          <a:p>
            <a:pPr indent="0" marL="0">
              <a:buNone/>
            </a:pPr>
            <a:r>
              <a:rPr lang="en-US" sz="950" dirty="0">
                <a:solidFill>
                  <a:srgbClr val="94A3B8"/>
                </a:solidFill>
                <a:latin typeface="Malgun Gothic" pitchFamily="34" charset="0"/>
                <a:ea typeface="Malgun Gothic" pitchFamily="34" charset="-122"/>
                <a:cs typeface="Malgun Gothic" pitchFamily="34" charset="-120"/>
              </a:rPr>
              <a:t>Portfolio &amp; Case Study</a:t>
            </a:r>
            <a:endParaRPr lang="en-US" sz="950" dirty="0"/>
          </a:p>
        </p:txBody>
      </p:sp>
      <p:sp>
        <p:nvSpPr>
          <p:cNvPr id="34" name="Text 32"/>
          <p:cNvSpPr txBox="1"/>
          <p:nvPr/>
        </p:nvSpPr>
        <p:spPr>
          <a:xfrm>
            <a:off x="6309360" y="4672584"/>
            <a:ext cx="731520" cy="457200"/>
          </a:xfrm>
          <a:prstGeom prst="rect">
            <a:avLst/>
          </a:prstGeom>
          <a:noFill/>
          <a:ln/>
        </p:spPr>
        <p:txBody>
          <a:bodyPr wrap="square" lIns="0" tIns="0" rIns="0" bIns="0" rtlCol="0" anchor="ctr"/>
          <a:lstStyle/>
          <a:p>
            <a:pPr indent="0" marL="0">
              <a:buNone/>
            </a:pPr>
            <a:r>
              <a:rPr lang="en-US" sz="2400" b="1" dirty="0">
                <a:solidFill>
                  <a:srgbClr val="3182F6"/>
                </a:solidFill>
                <a:latin typeface="Arial Black" pitchFamily="34" charset="0"/>
                <a:ea typeface="Arial Black" pitchFamily="34" charset="-122"/>
                <a:cs typeface="Arial Black" pitchFamily="34" charset="-120"/>
              </a:rPr>
              <a:t>09</a:t>
            </a:r>
            <a:endParaRPr lang="en-US" sz="2400" dirty="0"/>
          </a:p>
        </p:txBody>
      </p:sp>
      <p:sp>
        <p:nvSpPr>
          <p:cNvPr id="35" name="Text 33"/>
          <p:cNvSpPr txBox="1"/>
          <p:nvPr/>
        </p:nvSpPr>
        <p:spPr>
          <a:xfrm>
            <a:off x="7178040" y="4672584"/>
            <a:ext cx="4206240" cy="274320"/>
          </a:xfrm>
          <a:prstGeom prst="rect">
            <a:avLst/>
          </a:prstGeom>
          <a:noFill/>
          <a:ln/>
        </p:spPr>
        <p:txBody>
          <a:bodyPr wrap="square" lIns="0" tIns="0" rIns="0" bIns="0" rtlCol="0" anchor="t"/>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협업 대상과 계약 안내</a:t>
            </a:r>
            <a:endParaRPr lang="en-US" sz="1500" dirty="0"/>
          </a:p>
        </p:txBody>
      </p:sp>
      <p:sp>
        <p:nvSpPr>
          <p:cNvPr id="36" name="Text 34"/>
          <p:cNvSpPr txBox="1"/>
          <p:nvPr/>
        </p:nvSpPr>
        <p:spPr>
          <a:xfrm>
            <a:off x="7178040" y="4946904"/>
            <a:ext cx="4206240" cy="228600"/>
          </a:xfrm>
          <a:prstGeom prst="rect">
            <a:avLst/>
          </a:prstGeom>
          <a:noFill/>
          <a:ln/>
        </p:spPr>
        <p:txBody>
          <a:bodyPr wrap="square" lIns="0" tIns="0" rIns="0" bIns="0" rtlCol="0" anchor="t"/>
          <a:lstStyle/>
          <a:p>
            <a:pPr indent="0" marL="0">
              <a:buNone/>
            </a:pPr>
            <a:r>
              <a:rPr lang="en-US" sz="950" dirty="0">
                <a:solidFill>
                  <a:srgbClr val="94A3B8"/>
                </a:solidFill>
                <a:latin typeface="Malgun Gothic" pitchFamily="34" charset="0"/>
                <a:ea typeface="Malgun Gothic" pitchFamily="34" charset="-122"/>
                <a:cs typeface="Malgun Gothic" pitchFamily="34" charset="-120"/>
              </a:rPr>
              <a:t>Partnership Guide</a:t>
            </a:r>
            <a:endParaRPr lang="en-US" sz="950" dirty="0"/>
          </a:p>
        </p:txBody>
      </p:sp>
      <p:sp>
        <p:nvSpPr>
          <p:cNvPr id="37" name="Text 35"/>
          <p:cNvSpPr txBox="1"/>
          <p:nvPr/>
        </p:nvSpPr>
        <p:spPr>
          <a:xfrm>
            <a:off x="6309360" y="5422392"/>
            <a:ext cx="731520" cy="457200"/>
          </a:xfrm>
          <a:prstGeom prst="rect">
            <a:avLst/>
          </a:prstGeom>
          <a:noFill/>
          <a:ln/>
        </p:spPr>
        <p:txBody>
          <a:bodyPr wrap="square" lIns="0" tIns="0" rIns="0" bIns="0" rtlCol="0" anchor="ctr"/>
          <a:lstStyle/>
          <a:p>
            <a:pPr indent="0" marL="0">
              <a:buNone/>
            </a:pPr>
            <a:r>
              <a:rPr lang="en-US" sz="2400" b="1" dirty="0">
                <a:solidFill>
                  <a:srgbClr val="3182F6"/>
                </a:solidFill>
                <a:latin typeface="Arial Black" pitchFamily="34" charset="0"/>
                <a:ea typeface="Arial Black" pitchFamily="34" charset="-122"/>
                <a:cs typeface="Arial Black" pitchFamily="34" charset="-120"/>
              </a:rPr>
              <a:t>10</a:t>
            </a:r>
            <a:endParaRPr lang="en-US" sz="2400" dirty="0"/>
          </a:p>
        </p:txBody>
      </p:sp>
      <p:sp>
        <p:nvSpPr>
          <p:cNvPr id="38" name="Text 36"/>
          <p:cNvSpPr txBox="1"/>
          <p:nvPr/>
        </p:nvSpPr>
        <p:spPr>
          <a:xfrm>
            <a:off x="7178040" y="5422392"/>
            <a:ext cx="4206240" cy="274320"/>
          </a:xfrm>
          <a:prstGeom prst="rect">
            <a:avLst/>
          </a:prstGeom>
          <a:noFill/>
          <a:ln/>
        </p:spPr>
        <p:txBody>
          <a:bodyPr wrap="square" lIns="0" tIns="0" rIns="0" bIns="0" rtlCol="0" anchor="t"/>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문의</a:t>
            </a:r>
            <a:endParaRPr lang="en-US" sz="1500" dirty="0"/>
          </a:p>
        </p:txBody>
      </p:sp>
      <p:sp>
        <p:nvSpPr>
          <p:cNvPr id="39" name="Text 37"/>
          <p:cNvSpPr txBox="1"/>
          <p:nvPr/>
        </p:nvSpPr>
        <p:spPr>
          <a:xfrm>
            <a:off x="7178040" y="5696712"/>
            <a:ext cx="4206240" cy="228600"/>
          </a:xfrm>
          <a:prstGeom prst="rect">
            <a:avLst/>
          </a:prstGeom>
          <a:noFill/>
          <a:ln/>
        </p:spPr>
        <p:txBody>
          <a:bodyPr wrap="square" lIns="0" tIns="0" rIns="0" bIns="0" rtlCol="0" anchor="t"/>
          <a:lstStyle/>
          <a:p>
            <a:pPr indent="0" marL="0">
              <a:buNone/>
            </a:pPr>
            <a:r>
              <a:rPr lang="en-US" sz="950" dirty="0">
                <a:solidFill>
                  <a:srgbClr val="94A3B8"/>
                </a:solidFill>
                <a:latin typeface="Malgun Gothic" pitchFamily="34" charset="0"/>
                <a:ea typeface="Malgun Gothic" pitchFamily="34" charset="-122"/>
                <a:cs typeface="Malgun Gothic" pitchFamily="34" charset="-120"/>
              </a:rPr>
              <a:t>Contact</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44"/>
        </a:solidFill>
      </p:bgPr>
    </p:bg>
    <p:spTree>
      <p:nvGrpSpPr>
        <p:cNvPr id="1" name=""/>
        <p:cNvGrpSpPr/>
        <p:nvPr/>
      </p:nvGrpSpPr>
      <p:grpSpPr>
        <a:xfrm>
          <a:off x="0" y="0"/>
          <a:ext cx="0" cy="0"/>
          <a:chOff x="0" y="0"/>
          <a:chExt cx="0" cy="0"/>
        </a:xfrm>
      </p:grpSpPr>
      <p:sp>
        <p:nvSpPr>
          <p:cNvPr id="2" name="Shape 0"/>
          <p:cNvSpPr/>
          <p:nvPr/>
        </p:nvSpPr>
        <p:spPr>
          <a:xfrm>
            <a:off x="9265615" y="-2377440"/>
            <a:ext cx="5120640" cy="5120640"/>
          </a:xfrm>
          <a:prstGeom prst="ellipse">
            <a:avLst/>
          </a:prstGeom>
          <a:solidFill>
            <a:srgbClr val="12305F"/>
          </a:solidFill>
          <a:ln w="12700">
            <a:solidFill>
              <a:srgbClr val="12305F"/>
            </a:solidFill>
            <a:prstDash val="solid"/>
          </a:ln>
        </p:spPr>
      </p:sp>
      <p:sp>
        <p:nvSpPr>
          <p:cNvPr id="3" name="Shape 1"/>
          <p:cNvSpPr/>
          <p:nvPr/>
        </p:nvSpPr>
        <p:spPr>
          <a:xfrm>
            <a:off x="-1645920" y="5029200"/>
            <a:ext cx="3657600" cy="3657600"/>
          </a:xfrm>
          <a:prstGeom prst="ellipse">
            <a:avLst/>
          </a:prstGeom>
          <a:solidFill>
            <a:srgbClr val="12305F"/>
          </a:solidFill>
          <a:ln w="12700">
            <a:solidFill>
              <a:srgbClr val="12305F"/>
            </a:solidFill>
            <a:prstDash val="solid"/>
          </a:ln>
        </p:spPr>
      </p:sp>
      <p:sp>
        <p:nvSpPr>
          <p:cNvPr id="4" name="Text 2"/>
          <p:cNvSpPr txBox="1"/>
          <p:nvPr/>
        </p:nvSpPr>
        <p:spPr>
          <a:xfrm>
            <a:off x="640080" y="384048"/>
            <a:ext cx="1155700" cy="266700"/>
          </a:xfrm>
          <a:prstGeom prst="rect">
            <a:avLst/>
          </a:prstGeom>
          <a:noFill/>
          <a:ln/>
        </p:spPr>
        <p:txBody>
          <a:bodyPr wrap="square" lIns="0" tIns="0" rIns="0" bIns="0" rtlCol="0" anchor="ctr"/>
          <a:lstStyle/>
          <a:p>
            <a:pPr indent="0" marL="0">
              <a:buNone/>
            </a:pPr>
            <a:r>
              <a:rPr lang="en-US" sz="1400" b="1" dirty="0">
                <a:solidFill>
                  <a:srgbClr val="3182F6"/>
                </a:solidFill>
                <a:latin typeface="Arial Black" pitchFamily="34" charset="0"/>
                <a:ea typeface="Arial Black" pitchFamily="34" charset="-122"/>
                <a:cs typeface="Arial Black" pitchFamily="34" charset="-120"/>
              </a:rPr>
              <a:t>Flit</a:t>
            </a:r>
            <a:pPr indent="0" marL="0">
              <a:buNone/>
            </a:pPr>
            <a:r>
              <a:rPr lang="en-US" sz="1400" b="1" dirty="0">
                <a:solidFill>
                  <a:srgbClr val="FFFFFF"/>
                </a:solidFill>
                <a:latin typeface="Arial Black" pitchFamily="34" charset="0"/>
                <a:ea typeface="Arial Black" pitchFamily="34" charset="-122"/>
                <a:cs typeface="Arial Black" pitchFamily="34" charset="-120"/>
              </a:rPr>
              <a:t>Union</a:t>
            </a:r>
            <a:endParaRPr lang="en-US" sz="1400" dirty="0"/>
          </a:p>
        </p:txBody>
      </p:sp>
      <p:sp>
        <p:nvSpPr>
          <p:cNvPr id="5" name="Text 3"/>
          <p:cNvSpPr txBox="1"/>
          <p:nvPr/>
        </p:nvSpPr>
        <p:spPr>
          <a:xfrm>
            <a:off x="640080" y="868680"/>
            <a:ext cx="5486400" cy="274320"/>
          </a:xfrm>
          <a:prstGeom prst="rect">
            <a:avLst/>
          </a:prstGeom>
          <a:noFill/>
          <a:ln/>
        </p:spPr>
        <p:txBody>
          <a:bodyPr wrap="square" lIns="0" tIns="0" rIns="0" bIns="0" rtlCol="0" anchor="t"/>
          <a:lstStyle/>
          <a:p>
            <a:pPr indent="0" marL="0">
              <a:buNone/>
            </a:pPr>
            <a:r>
              <a:rPr lang="en-US" sz="1100" b="1" spc="300" kern="0" dirty="0">
                <a:solidFill>
                  <a:srgbClr val="93C5FD"/>
                </a:solidFill>
                <a:latin typeface="Malgun Gothic" pitchFamily="34" charset="0"/>
                <a:ea typeface="Malgun Gothic" pitchFamily="34" charset="-122"/>
                <a:cs typeface="Malgun Gothic" pitchFamily="34" charset="-120"/>
              </a:rPr>
              <a:t>01  COMPANY OVERVIEW</a:t>
            </a:r>
            <a:endParaRPr lang="en-US" sz="1100" dirty="0"/>
          </a:p>
        </p:txBody>
      </p:sp>
      <p:sp>
        <p:nvSpPr>
          <p:cNvPr id="6" name="Text 4"/>
          <p:cNvSpPr txBox="1"/>
          <p:nvPr/>
        </p:nvSpPr>
        <p:spPr>
          <a:xfrm>
            <a:off x="640080" y="1143000"/>
            <a:ext cx="10911535" cy="594360"/>
          </a:xfrm>
          <a:prstGeom prst="rect">
            <a:avLst/>
          </a:prstGeom>
          <a:noFill/>
          <a:ln/>
        </p:spPr>
        <p:txBody>
          <a:bodyPr wrap="square" lIns="0" tIns="0" rIns="0" bIns="0" rtlCol="0" anchor="t"/>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회사 개요</a:t>
            </a:r>
            <a:endParaRPr lang="en-US" sz="2800" dirty="0"/>
          </a:p>
        </p:txBody>
      </p:sp>
      <p:sp>
        <p:nvSpPr>
          <p:cNvPr id="7" name="Text 5"/>
          <p:cNvSpPr txBox="1"/>
          <p:nvPr/>
        </p:nvSpPr>
        <p:spPr>
          <a:xfrm>
            <a:off x="640080" y="1737360"/>
            <a:ext cx="10911535" cy="411480"/>
          </a:xfrm>
          <a:prstGeom prst="rect">
            <a:avLst/>
          </a:prstGeom>
          <a:noFill/>
          <a:ln/>
        </p:spPr>
        <p:txBody>
          <a:bodyPr wrap="square" lIns="0" tIns="0" rIns="0" bIns="0" rtlCol="0" anchor="t"/>
          <a:lstStyle/>
          <a:p>
            <a:pPr indent="0" marL="0">
              <a:buNone/>
            </a:pPr>
            <a:r>
              <a:rPr lang="en-US" sz="1300" dirty="0">
                <a:solidFill>
                  <a:srgbClr val="D6E4F8"/>
                </a:solidFill>
                <a:latin typeface="Malgun Gothic" pitchFamily="34" charset="0"/>
                <a:ea typeface="Malgun Gothic" pitchFamily="34" charset="-122"/>
                <a:cs typeface="Malgun Gothic" pitchFamily="34" charset="-120"/>
              </a:rPr>
              <a:t>플릿 유니온은 행사 주최자를 위한 행사 기획·운영 대행 전문 기업입니다.</a:t>
            </a:r>
            <a:endParaRPr lang="en-US" sz="1300" dirty="0"/>
          </a:p>
        </p:txBody>
      </p:sp>
      <p:sp>
        <p:nvSpPr>
          <p:cNvPr id="8" name="Text 6"/>
          <p:cNvSpPr txBox="1"/>
          <p:nvPr/>
        </p:nvSpPr>
        <p:spPr>
          <a:xfrm>
            <a:off x="640080" y="6400800"/>
            <a:ext cx="3657600" cy="228600"/>
          </a:xfrm>
          <a:prstGeom prst="rect">
            <a:avLst/>
          </a:prstGeom>
          <a:noFill/>
          <a:ln/>
        </p:spPr>
        <p:txBody>
          <a:bodyPr wrap="square" lIns="0" tIns="0" rIns="0" bIns="0" rtlCol="0" anchor="t"/>
          <a:lstStyle/>
          <a:p>
            <a:pPr indent="0" marL="0">
              <a:buNone/>
            </a:pPr>
            <a:r>
              <a:rPr lang="en-US" sz="900" dirty="0">
                <a:solidFill>
                  <a:srgbClr val="94A3B8"/>
                </a:solidFill>
                <a:latin typeface="Malgun Gothic" pitchFamily="34" charset="0"/>
                <a:ea typeface="Malgun Gothic" pitchFamily="34" charset="-122"/>
                <a:cs typeface="Malgun Gothic" pitchFamily="34" charset="-120"/>
              </a:rPr>
              <a:t>플릿 유니온 회사소개서</a:t>
            </a:r>
            <a:endParaRPr lang="en-US" sz="900" dirty="0"/>
          </a:p>
        </p:txBody>
      </p:sp>
      <p:sp>
        <p:nvSpPr>
          <p:cNvPr id="9" name="Text 7"/>
          <p:cNvSpPr txBox="1"/>
          <p:nvPr/>
        </p:nvSpPr>
        <p:spPr>
          <a:xfrm>
            <a:off x="10637215" y="6400800"/>
            <a:ext cx="914400" cy="228600"/>
          </a:xfrm>
          <a:prstGeom prst="rect">
            <a:avLst/>
          </a:prstGeom>
          <a:noFill/>
          <a:ln/>
        </p:spPr>
        <p:txBody>
          <a:bodyPr wrap="square" lIns="0" tIns="0" rIns="0" bIns="0" rtlCol="0" anchor="t"/>
          <a:lstStyle/>
          <a:p>
            <a:pPr algn="r" indent="0" marL="0">
              <a:buNone/>
            </a:pPr>
            <a:r>
              <a:rPr lang="en-US" sz="900" dirty="0">
                <a:solidFill>
                  <a:srgbClr val="94A3B8"/>
                </a:solidFill>
                <a:latin typeface="Malgun Gothic" pitchFamily="34" charset="0"/>
                <a:ea typeface="Malgun Gothic" pitchFamily="34" charset="-122"/>
                <a:cs typeface="Malgun Gothic" pitchFamily="34" charset="-120"/>
              </a:rPr>
              <a:t>03</a:t>
            </a:r>
            <a:endParaRPr lang="en-US" sz="900" dirty="0"/>
          </a:p>
        </p:txBody>
      </p:sp>
      <p:sp>
        <p:nvSpPr>
          <p:cNvPr id="10" name="Shape 8"/>
          <p:cNvSpPr/>
          <p:nvPr/>
        </p:nvSpPr>
        <p:spPr>
          <a:xfrm>
            <a:off x="640080" y="2331720"/>
            <a:ext cx="5120640" cy="3840480"/>
          </a:xfrm>
          <a:prstGeom prst="roundRect">
            <a:avLst>
              <a:gd name="adj" fmla="val 2381"/>
            </a:avLst>
          </a:prstGeom>
          <a:solidFill>
            <a:srgbClr val="FFFFFF"/>
          </a:solidFill>
          <a:ln w="12700">
            <a:solidFill>
              <a:srgbClr val="FFFFFF"/>
            </a:solidFill>
            <a:prstDash val="solid"/>
          </a:ln>
        </p:spPr>
      </p:sp>
      <p:sp>
        <p:nvSpPr>
          <p:cNvPr id="11" name="Text 9"/>
          <p:cNvSpPr txBox="1"/>
          <p:nvPr/>
        </p:nvSpPr>
        <p:spPr>
          <a:xfrm>
            <a:off x="1005840" y="2587752"/>
            <a:ext cx="2743200" cy="320040"/>
          </a:xfrm>
          <a:prstGeom prst="rect">
            <a:avLst/>
          </a:prstGeom>
          <a:noFill/>
          <a:ln/>
        </p:spPr>
        <p:txBody>
          <a:bodyPr wrap="square" lIns="0" tIns="0" rIns="0" bIns="0" rtlCol="0" anchor="t"/>
          <a:lstStyle/>
          <a:p>
            <a:pPr indent="0" marL="0">
              <a:buNone/>
            </a:pPr>
            <a:r>
              <a:rPr lang="en-US" sz="1500" b="1" dirty="0">
                <a:solidFill>
                  <a:srgbClr val="0F172A"/>
                </a:solidFill>
                <a:latin typeface="Malgun Gothic" pitchFamily="34" charset="0"/>
                <a:ea typeface="Malgun Gothic" pitchFamily="34" charset="-122"/>
                <a:cs typeface="Malgun Gothic" pitchFamily="34" charset="-120"/>
              </a:rPr>
              <a:t>기업 정보</a:t>
            </a:r>
            <a:endParaRPr lang="en-US" sz="1500" dirty="0"/>
          </a:p>
        </p:txBody>
      </p:sp>
      <p:sp>
        <p:nvSpPr>
          <p:cNvPr id="12" name="Text 10"/>
          <p:cNvSpPr txBox="1"/>
          <p:nvPr/>
        </p:nvSpPr>
        <p:spPr>
          <a:xfrm>
            <a:off x="1005840" y="2990088"/>
            <a:ext cx="1280160" cy="310896"/>
          </a:xfrm>
          <a:prstGeom prst="rect">
            <a:avLst/>
          </a:prstGeom>
          <a:noFill/>
          <a:ln/>
        </p:spPr>
        <p:txBody>
          <a:bodyPr wrap="square" lIns="0" tIns="0" rIns="0" bIns="0" rtlCol="0" anchor="t"/>
          <a:lstStyle/>
          <a:p>
            <a:pPr indent="0" marL="0">
              <a:buNone/>
            </a:pPr>
            <a:r>
              <a:rPr lang="en-US" sz="1050" b="1" dirty="0">
                <a:solidFill>
                  <a:srgbClr val="3182F6"/>
                </a:solidFill>
                <a:latin typeface="Malgun Gothic" pitchFamily="34" charset="0"/>
                <a:ea typeface="Malgun Gothic" pitchFamily="34" charset="-122"/>
                <a:cs typeface="Malgun Gothic" pitchFamily="34" charset="-120"/>
              </a:rPr>
              <a:t>회사명</a:t>
            </a:r>
            <a:endParaRPr lang="en-US" sz="1050" dirty="0"/>
          </a:p>
        </p:txBody>
      </p:sp>
      <p:sp>
        <p:nvSpPr>
          <p:cNvPr id="13" name="Text 11"/>
          <p:cNvSpPr txBox="1"/>
          <p:nvPr/>
        </p:nvSpPr>
        <p:spPr>
          <a:xfrm>
            <a:off x="2286000" y="2990088"/>
            <a:ext cx="3200400" cy="310896"/>
          </a:xfrm>
          <a:prstGeom prst="rect">
            <a:avLst/>
          </a:prstGeom>
          <a:noFill/>
          <a:ln/>
        </p:spPr>
        <p:txBody>
          <a:bodyPr wrap="square" lIns="0" tIns="0" rIns="0" bIns="0" rtlCol="0" anchor="t"/>
          <a:lstStyle/>
          <a:p>
            <a:pPr indent="0" marL="0">
              <a:lnSpc>
                <a:spcPct val="120000"/>
              </a:lnSpc>
              <a:buNone/>
            </a:pPr>
            <a:r>
              <a:rPr lang="en-US" sz="1050" dirty="0">
                <a:solidFill>
                  <a:srgbClr val="0F172A"/>
                </a:solidFill>
                <a:latin typeface="Malgun Gothic" pitchFamily="34" charset="0"/>
                <a:ea typeface="Malgun Gothic" pitchFamily="34" charset="-122"/>
                <a:cs typeface="Malgun Gothic" pitchFamily="34" charset="-120"/>
              </a:rPr>
              <a:t>플릿 유니온 (Flit Union)</a:t>
            </a:r>
            <a:endParaRPr lang="en-US" sz="1050" dirty="0"/>
          </a:p>
        </p:txBody>
      </p:sp>
      <p:sp>
        <p:nvSpPr>
          <p:cNvPr id="14" name="Text 12"/>
          <p:cNvSpPr txBox="1"/>
          <p:nvPr/>
        </p:nvSpPr>
        <p:spPr>
          <a:xfrm>
            <a:off x="1005840" y="3355848"/>
            <a:ext cx="1280160" cy="566928"/>
          </a:xfrm>
          <a:prstGeom prst="rect">
            <a:avLst/>
          </a:prstGeom>
          <a:noFill/>
          <a:ln/>
        </p:spPr>
        <p:txBody>
          <a:bodyPr wrap="square" lIns="0" tIns="0" rIns="0" bIns="0" rtlCol="0" anchor="t"/>
          <a:lstStyle/>
          <a:p>
            <a:pPr indent="0" marL="0">
              <a:buNone/>
            </a:pPr>
            <a:r>
              <a:rPr lang="en-US" sz="1050" b="1" dirty="0">
                <a:solidFill>
                  <a:srgbClr val="3182F6"/>
                </a:solidFill>
                <a:latin typeface="Malgun Gothic" pitchFamily="34" charset="0"/>
                <a:ea typeface="Malgun Gothic" pitchFamily="34" charset="-122"/>
                <a:cs typeface="Malgun Gothic" pitchFamily="34" charset="-120"/>
              </a:rPr>
              <a:t>사업 영역</a:t>
            </a:r>
            <a:endParaRPr lang="en-US" sz="1050" dirty="0"/>
          </a:p>
        </p:txBody>
      </p:sp>
      <p:sp>
        <p:nvSpPr>
          <p:cNvPr id="15" name="Text 13"/>
          <p:cNvSpPr txBox="1"/>
          <p:nvPr/>
        </p:nvSpPr>
        <p:spPr>
          <a:xfrm>
            <a:off x="2286000" y="3355848"/>
            <a:ext cx="3200400" cy="566928"/>
          </a:xfrm>
          <a:prstGeom prst="rect">
            <a:avLst/>
          </a:prstGeom>
          <a:noFill/>
          <a:ln/>
        </p:spPr>
        <p:txBody>
          <a:bodyPr wrap="square" lIns="0" tIns="0" rIns="0" bIns="0" rtlCol="0" anchor="t"/>
          <a:lstStyle/>
          <a:p>
            <a:pPr indent="0" marL="0">
              <a:lnSpc>
                <a:spcPct val="120000"/>
              </a:lnSpc>
              <a:buNone/>
            </a:pPr>
            <a:r>
              <a:rPr lang="en-US" sz="1050" dirty="0">
                <a:solidFill>
                  <a:srgbClr val="0F172A"/>
                </a:solidFill>
                <a:latin typeface="Malgun Gothic" pitchFamily="34" charset="0"/>
                <a:ea typeface="Malgun Gothic" pitchFamily="34" charset="-122"/>
                <a:cs typeface="Malgun Gothic" pitchFamily="34" charset="-120"/>
              </a:rPr>
              <a:t>행사 기획·운영 대행 · 푸드트럭/셀러 섭외 · 체험부스 운영 · 무대·공연 연출 · 장비 렌탈</a:t>
            </a:r>
            <a:endParaRPr lang="en-US" sz="1050" dirty="0"/>
          </a:p>
        </p:txBody>
      </p:sp>
      <p:sp>
        <p:nvSpPr>
          <p:cNvPr id="16" name="Text 14"/>
          <p:cNvSpPr txBox="1"/>
          <p:nvPr/>
        </p:nvSpPr>
        <p:spPr>
          <a:xfrm>
            <a:off x="1005840" y="3977640"/>
            <a:ext cx="1280160" cy="310896"/>
          </a:xfrm>
          <a:prstGeom prst="rect">
            <a:avLst/>
          </a:prstGeom>
          <a:noFill/>
          <a:ln/>
        </p:spPr>
        <p:txBody>
          <a:bodyPr wrap="square" lIns="0" tIns="0" rIns="0" bIns="0" rtlCol="0" anchor="t"/>
          <a:lstStyle/>
          <a:p>
            <a:pPr indent="0" marL="0">
              <a:buNone/>
            </a:pPr>
            <a:r>
              <a:rPr lang="en-US" sz="1050" b="1" dirty="0">
                <a:solidFill>
                  <a:srgbClr val="3182F6"/>
                </a:solidFill>
                <a:latin typeface="Malgun Gothic" pitchFamily="34" charset="0"/>
                <a:ea typeface="Malgun Gothic" pitchFamily="34" charset="-122"/>
                <a:cs typeface="Malgun Gothic" pitchFamily="34" charset="-120"/>
              </a:rPr>
              <a:t>운영 플랫폼</a:t>
            </a:r>
            <a:endParaRPr lang="en-US" sz="1050" dirty="0"/>
          </a:p>
        </p:txBody>
      </p:sp>
      <p:sp>
        <p:nvSpPr>
          <p:cNvPr id="17" name="Text 15"/>
          <p:cNvSpPr txBox="1"/>
          <p:nvPr/>
        </p:nvSpPr>
        <p:spPr>
          <a:xfrm>
            <a:off x="2286000" y="3977640"/>
            <a:ext cx="3200400" cy="310896"/>
          </a:xfrm>
          <a:prstGeom prst="rect">
            <a:avLst/>
          </a:prstGeom>
          <a:noFill/>
          <a:ln/>
        </p:spPr>
        <p:txBody>
          <a:bodyPr wrap="square" lIns="0" tIns="0" rIns="0" bIns="0" rtlCol="0" anchor="t"/>
          <a:lstStyle/>
          <a:p>
            <a:pPr indent="0" marL="0">
              <a:lnSpc>
                <a:spcPct val="120000"/>
              </a:lnSpc>
              <a:buNone/>
            </a:pPr>
            <a:r>
              <a:rPr lang="en-US" sz="1050" dirty="0">
                <a:solidFill>
                  <a:srgbClr val="0F172A"/>
                </a:solidFill>
                <a:latin typeface="Malgun Gothic" pitchFamily="34" charset="0"/>
                <a:ea typeface="Malgun Gothic" pitchFamily="34" charset="-122"/>
                <a:cs typeface="Malgun Gothic" pitchFamily="34" charset="-120"/>
              </a:rPr>
              <a:t>플릿(Flit) 셀러 플랫폼</a:t>
            </a:r>
            <a:endParaRPr lang="en-US" sz="1050" dirty="0"/>
          </a:p>
        </p:txBody>
      </p:sp>
      <p:sp>
        <p:nvSpPr>
          <p:cNvPr id="18" name="Text 16"/>
          <p:cNvSpPr txBox="1"/>
          <p:nvPr/>
        </p:nvSpPr>
        <p:spPr>
          <a:xfrm>
            <a:off x="1005840" y="4343400"/>
            <a:ext cx="1280160" cy="310896"/>
          </a:xfrm>
          <a:prstGeom prst="rect">
            <a:avLst/>
          </a:prstGeom>
          <a:noFill/>
          <a:ln/>
        </p:spPr>
        <p:txBody>
          <a:bodyPr wrap="square" lIns="0" tIns="0" rIns="0" bIns="0" rtlCol="0" anchor="t"/>
          <a:lstStyle/>
          <a:p>
            <a:pPr indent="0" marL="0">
              <a:buNone/>
            </a:pPr>
            <a:r>
              <a:rPr lang="en-US" sz="1050" b="1" dirty="0">
                <a:solidFill>
                  <a:srgbClr val="3182F6"/>
                </a:solidFill>
                <a:latin typeface="Malgun Gothic" pitchFamily="34" charset="0"/>
                <a:ea typeface="Malgun Gothic" pitchFamily="34" charset="-122"/>
                <a:cs typeface="Malgun Gothic" pitchFamily="34" charset="-120"/>
              </a:rPr>
              <a:t>서비스 지역</a:t>
            </a:r>
            <a:endParaRPr lang="en-US" sz="1050" dirty="0"/>
          </a:p>
        </p:txBody>
      </p:sp>
      <p:sp>
        <p:nvSpPr>
          <p:cNvPr id="19" name="Text 17"/>
          <p:cNvSpPr txBox="1"/>
          <p:nvPr/>
        </p:nvSpPr>
        <p:spPr>
          <a:xfrm>
            <a:off x="2286000" y="4343400"/>
            <a:ext cx="3200400" cy="310896"/>
          </a:xfrm>
          <a:prstGeom prst="rect">
            <a:avLst/>
          </a:prstGeom>
          <a:noFill/>
          <a:ln/>
        </p:spPr>
        <p:txBody>
          <a:bodyPr wrap="square" lIns="0" tIns="0" rIns="0" bIns="0" rtlCol="0" anchor="t"/>
          <a:lstStyle/>
          <a:p>
            <a:pPr indent="0" marL="0">
              <a:lnSpc>
                <a:spcPct val="120000"/>
              </a:lnSpc>
              <a:buNone/>
            </a:pPr>
            <a:r>
              <a:rPr lang="en-US" sz="1050" dirty="0">
                <a:solidFill>
                  <a:srgbClr val="0F172A"/>
                </a:solidFill>
                <a:latin typeface="Malgun Gothic" pitchFamily="34" charset="0"/>
                <a:ea typeface="Malgun Gothic" pitchFamily="34" charset="-122"/>
                <a:cs typeface="Malgun Gothic" pitchFamily="34" charset="-120"/>
              </a:rPr>
              <a:t>전국 (수도권 직영, 지방 현지 파트너 운영)</a:t>
            </a:r>
            <a:endParaRPr lang="en-US" sz="1050" dirty="0"/>
          </a:p>
        </p:txBody>
      </p:sp>
      <p:sp>
        <p:nvSpPr>
          <p:cNvPr id="20" name="Text 18"/>
          <p:cNvSpPr txBox="1"/>
          <p:nvPr/>
        </p:nvSpPr>
        <p:spPr>
          <a:xfrm>
            <a:off x="1005840" y="4709160"/>
            <a:ext cx="1280160" cy="310896"/>
          </a:xfrm>
          <a:prstGeom prst="rect">
            <a:avLst/>
          </a:prstGeom>
          <a:noFill/>
          <a:ln/>
        </p:spPr>
        <p:txBody>
          <a:bodyPr wrap="square" lIns="0" tIns="0" rIns="0" bIns="0" rtlCol="0" anchor="t"/>
          <a:lstStyle/>
          <a:p>
            <a:pPr indent="0" marL="0">
              <a:buNone/>
            </a:pPr>
            <a:r>
              <a:rPr lang="en-US" sz="1050" b="1" dirty="0">
                <a:solidFill>
                  <a:srgbClr val="3182F6"/>
                </a:solidFill>
                <a:latin typeface="Malgun Gothic" pitchFamily="34" charset="0"/>
                <a:ea typeface="Malgun Gothic" pitchFamily="34" charset="-122"/>
                <a:cs typeface="Malgun Gothic" pitchFamily="34" charset="-120"/>
              </a:rPr>
              <a:t>홈페이지</a:t>
            </a:r>
            <a:endParaRPr lang="en-US" sz="1050" dirty="0"/>
          </a:p>
        </p:txBody>
      </p:sp>
      <p:sp>
        <p:nvSpPr>
          <p:cNvPr id="21" name="Text 19"/>
          <p:cNvSpPr txBox="1"/>
          <p:nvPr/>
        </p:nvSpPr>
        <p:spPr>
          <a:xfrm>
            <a:off x="2286000" y="4709160"/>
            <a:ext cx="3200400" cy="310896"/>
          </a:xfrm>
          <a:prstGeom prst="rect">
            <a:avLst/>
          </a:prstGeom>
          <a:noFill/>
          <a:ln/>
        </p:spPr>
        <p:txBody>
          <a:bodyPr wrap="square" lIns="0" tIns="0" rIns="0" bIns="0" rtlCol="0" anchor="t"/>
          <a:lstStyle/>
          <a:p>
            <a:pPr indent="0" marL="0">
              <a:lnSpc>
                <a:spcPct val="120000"/>
              </a:lnSpc>
              <a:buNone/>
            </a:pPr>
            <a:r>
              <a:rPr lang="en-US" sz="1050" dirty="0">
                <a:solidFill>
                  <a:srgbClr val="0F172A"/>
                </a:solidFill>
                <a:latin typeface="Malgun Gothic" pitchFamily="34" charset="0"/>
                <a:ea typeface="Malgun Gothic" pitchFamily="34" charset="-122"/>
                <a:cs typeface="Malgun Gothic" pitchFamily="34" charset="-120"/>
              </a:rPr>
              <a:t>www.flitunion.com</a:t>
            </a:r>
            <a:endParaRPr lang="en-US" sz="1050" dirty="0"/>
          </a:p>
        </p:txBody>
      </p:sp>
      <p:sp>
        <p:nvSpPr>
          <p:cNvPr id="22" name="Text 20"/>
          <p:cNvSpPr txBox="1"/>
          <p:nvPr/>
        </p:nvSpPr>
        <p:spPr>
          <a:xfrm>
            <a:off x="1005840" y="5074920"/>
            <a:ext cx="1280160" cy="310896"/>
          </a:xfrm>
          <a:prstGeom prst="rect">
            <a:avLst/>
          </a:prstGeom>
          <a:noFill/>
          <a:ln/>
        </p:spPr>
        <p:txBody>
          <a:bodyPr wrap="square" lIns="0" tIns="0" rIns="0" bIns="0" rtlCol="0" anchor="t"/>
          <a:lstStyle/>
          <a:p>
            <a:pPr indent="0" marL="0">
              <a:buNone/>
            </a:pPr>
            <a:r>
              <a:rPr lang="en-US" sz="1050" b="1" dirty="0">
                <a:solidFill>
                  <a:srgbClr val="3182F6"/>
                </a:solidFill>
                <a:latin typeface="Malgun Gothic" pitchFamily="34" charset="0"/>
                <a:ea typeface="Malgun Gothic" pitchFamily="34" charset="-122"/>
                <a:cs typeface="Malgun Gothic" pitchFamily="34" charset="-120"/>
              </a:rPr>
              <a:t>이메일</a:t>
            </a:r>
            <a:endParaRPr lang="en-US" sz="1050" dirty="0"/>
          </a:p>
        </p:txBody>
      </p:sp>
      <p:sp>
        <p:nvSpPr>
          <p:cNvPr id="23" name="Text 21"/>
          <p:cNvSpPr txBox="1"/>
          <p:nvPr/>
        </p:nvSpPr>
        <p:spPr>
          <a:xfrm>
            <a:off x="2286000" y="5074920"/>
            <a:ext cx="3200400" cy="310896"/>
          </a:xfrm>
          <a:prstGeom prst="rect">
            <a:avLst/>
          </a:prstGeom>
          <a:noFill/>
          <a:ln/>
        </p:spPr>
        <p:txBody>
          <a:bodyPr wrap="square" lIns="0" tIns="0" rIns="0" bIns="0" rtlCol="0" anchor="t"/>
          <a:lstStyle/>
          <a:p>
            <a:pPr indent="0" marL="0">
              <a:lnSpc>
                <a:spcPct val="120000"/>
              </a:lnSpc>
              <a:buNone/>
            </a:pPr>
            <a:r>
              <a:rPr lang="en-US" sz="1050" dirty="0">
                <a:solidFill>
                  <a:srgbClr val="0F172A"/>
                </a:solidFill>
                <a:latin typeface="Malgun Gothic" pitchFamily="34" charset="0"/>
                <a:ea typeface="Malgun Gothic" pitchFamily="34" charset="-122"/>
                <a:cs typeface="Malgun Gothic" pitchFamily="34" charset="-120"/>
              </a:rPr>
              <a:t>hello@flitunion.com</a:t>
            </a:r>
            <a:endParaRPr lang="en-US" sz="1050" dirty="0"/>
          </a:p>
        </p:txBody>
      </p:sp>
      <p:sp>
        <p:nvSpPr>
          <p:cNvPr id="24" name="Text 22"/>
          <p:cNvSpPr txBox="1"/>
          <p:nvPr/>
        </p:nvSpPr>
        <p:spPr>
          <a:xfrm>
            <a:off x="1005840" y="5440680"/>
            <a:ext cx="1280160" cy="310896"/>
          </a:xfrm>
          <a:prstGeom prst="rect">
            <a:avLst/>
          </a:prstGeom>
          <a:noFill/>
          <a:ln/>
        </p:spPr>
        <p:txBody>
          <a:bodyPr wrap="square" lIns="0" tIns="0" rIns="0" bIns="0" rtlCol="0" anchor="t"/>
          <a:lstStyle/>
          <a:p>
            <a:pPr indent="0" marL="0">
              <a:buNone/>
            </a:pPr>
            <a:r>
              <a:rPr lang="en-US" sz="1050" b="1" dirty="0">
                <a:solidFill>
                  <a:srgbClr val="3182F6"/>
                </a:solidFill>
                <a:latin typeface="Malgun Gothic" pitchFamily="34" charset="0"/>
                <a:ea typeface="Malgun Gothic" pitchFamily="34" charset="-122"/>
                <a:cs typeface="Malgun Gothic" pitchFamily="34" charset="-120"/>
              </a:rPr>
              <a:t>전화</a:t>
            </a:r>
            <a:endParaRPr lang="en-US" sz="1050" dirty="0"/>
          </a:p>
        </p:txBody>
      </p:sp>
      <p:sp>
        <p:nvSpPr>
          <p:cNvPr id="25" name="Text 23"/>
          <p:cNvSpPr txBox="1"/>
          <p:nvPr/>
        </p:nvSpPr>
        <p:spPr>
          <a:xfrm>
            <a:off x="2286000" y="5440680"/>
            <a:ext cx="3200400" cy="310896"/>
          </a:xfrm>
          <a:prstGeom prst="rect">
            <a:avLst/>
          </a:prstGeom>
          <a:noFill/>
          <a:ln/>
        </p:spPr>
        <p:txBody>
          <a:bodyPr wrap="square" lIns="0" tIns="0" rIns="0" bIns="0" rtlCol="0" anchor="t"/>
          <a:lstStyle/>
          <a:p>
            <a:pPr indent="0" marL="0">
              <a:lnSpc>
                <a:spcPct val="120000"/>
              </a:lnSpc>
              <a:buNone/>
            </a:pPr>
            <a:r>
              <a:rPr lang="en-US" sz="1050" dirty="0">
                <a:solidFill>
                  <a:srgbClr val="0F172A"/>
                </a:solidFill>
                <a:latin typeface="Malgun Gothic" pitchFamily="34" charset="0"/>
                <a:ea typeface="Malgun Gothic" pitchFamily="34" charset="-122"/>
                <a:cs typeface="Malgun Gothic" pitchFamily="34" charset="-120"/>
              </a:rPr>
              <a:t>010-8018-8492</a:t>
            </a:r>
            <a:endParaRPr lang="en-US" sz="1050" dirty="0"/>
          </a:p>
        </p:txBody>
      </p:sp>
      <p:sp>
        <p:nvSpPr>
          <p:cNvPr id="26" name="Shape 24"/>
          <p:cNvSpPr/>
          <p:nvPr/>
        </p:nvSpPr>
        <p:spPr>
          <a:xfrm>
            <a:off x="6217920" y="2331720"/>
            <a:ext cx="2529688" cy="1783080"/>
          </a:xfrm>
          <a:prstGeom prst="roundRect">
            <a:avLst>
              <a:gd name="adj" fmla="val 5128"/>
            </a:avLst>
          </a:prstGeom>
          <a:solidFill>
            <a:srgbClr val="3182F6"/>
          </a:solidFill>
          <a:ln w="12700">
            <a:solidFill>
              <a:srgbClr val="3182F6"/>
            </a:solidFill>
            <a:prstDash val="solid"/>
          </a:ln>
        </p:spPr>
      </p:sp>
      <p:sp>
        <p:nvSpPr>
          <p:cNvPr id="27" name="Text 25"/>
          <p:cNvSpPr txBox="1"/>
          <p:nvPr/>
        </p:nvSpPr>
        <p:spPr>
          <a:xfrm>
            <a:off x="6537960" y="2651760"/>
            <a:ext cx="1889608" cy="731520"/>
          </a:xfrm>
          <a:prstGeom prst="rect">
            <a:avLst/>
          </a:prstGeom>
          <a:noFill/>
          <a:ln/>
        </p:spPr>
        <p:txBody>
          <a:bodyPr wrap="square" lIns="0" tIns="0" rIns="0" bIns="0" rtlCol="0" anchor="t"/>
          <a:lstStyle/>
          <a:p>
            <a:pPr indent="0" marL="0">
              <a:buNone/>
            </a:pPr>
            <a:r>
              <a:rPr lang="en-US" sz="4000" b="1" dirty="0">
                <a:solidFill>
                  <a:srgbClr val="FFFFFF"/>
                </a:solidFill>
                <a:latin typeface="Arial Black" pitchFamily="34" charset="0"/>
                <a:ea typeface="Arial Black" pitchFamily="34" charset="-122"/>
                <a:cs typeface="Arial Black" pitchFamily="34" charset="-120"/>
              </a:rPr>
              <a:t>50+</a:t>
            </a:r>
            <a:endParaRPr lang="en-US" sz="4000" dirty="0"/>
          </a:p>
        </p:txBody>
      </p:sp>
      <p:sp>
        <p:nvSpPr>
          <p:cNvPr id="28" name="Text 26"/>
          <p:cNvSpPr txBox="1"/>
          <p:nvPr/>
        </p:nvSpPr>
        <p:spPr>
          <a:xfrm>
            <a:off x="6537960" y="3429000"/>
            <a:ext cx="1889608" cy="274320"/>
          </a:xfrm>
          <a:prstGeom prst="rect">
            <a:avLst/>
          </a:prstGeom>
          <a:noFill/>
          <a:ln/>
        </p:spPr>
        <p:txBody>
          <a:bodyPr wrap="square" lIns="0" tIns="0" rIns="0" bIns="0" rtlCol="0" anchor="t"/>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운영 행사</a:t>
            </a:r>
            <a:endParaRPr lang="en-US" sz="1300" dirty="0"/>
          </a:p>
        </p:txBody>
      </p:sp>
      <p:sp>
        <p:nvSpPr>
          <p:cNvPr id="29" name="Text 27"/>
          <p:cNvSpPr txBox="1"/>
          <p:nvPr/>
        </p:nvSpPr>
        <p:spPr>
          <a:xfrm>
            <a:off x="6537960" y="3703320"/>
            <a:ext cx="1889608" cy="274320"/>
          </a:xfrm>
          <a:prstGeom prst="rect">
            <a:avLst/>
          </a:prstGeom>
          <a:noFill/>
          <a:ln/>
        </p:spPr>
        <p:txBody>
          <a:bodyPr wrap="square" lIns="0" tIns="0" rIns="0" bIns="0" rtlCol="0" anchor="t"/>
          <a:lstStyle/>
          <a:p>
            <a:pPr indent="0" marL="0">
              <a:buNone/>
            </a:pPr>
            <a:r>
              <a:rPr lang="en-US" sz="1000" dirty="0">
                <a:solidFill>
                  <a:srgbClr val="D6E4F8"/>
                </a:solidFill>
                <a:latin typeface="Malgun Gothic" pitchFamily="34" charset="0"/>
                <a:ea typeface="Malgun Gothic" pitchFamily="34" charset="-122"/>
                <a:cs typeface="Malgun Gothic" pitchFamily="34" charset="-120"/>
              </a:rPr>
              <a:t>대학·아파트·축제·카페</a:t>
            </a:r>
            <a:endParaRPr lang="en-US" sz="1000" dirty="0"/>
          </a:p>
        </p:txBody>
      </p:sp>
      <p:sp>
        <p:nvSpPr>
          <p:cNvPr id="30" name="Shape 28"/>
          <p:cNvSpPr/>
          <p:nvPr/>
        </p:nvSpPr>
        <p:spPr>
          <a:xfrm>
            <a:off x="9021928" y="2331720"/>
            <a:ext cx="2529688" cy="1783080"/>
          </a:xfrm>
          <a:prstGeom prst="roundRect">
            <a:avLst>
              <a:gd name="adj" fmla="val 5128"/>
            </a:avLst>
          </a:prstGeom>
          <a:solidFill>
            <a:srgbClr val="12305F"/>
          </a:solidFill>
          <a:ln w="12700">
            <a:solidFill>
              <a:srgbClr val="1F5FD0"/>
            </a:solidFill>
            <a:prstDash val="solid"/>
          </a:ln>
        </p:spPr>
      </p:sp>
      <p:sp>
        <p:nvSpPr>
          <p:cNvPr id="31" name="Text 29"/>
          <p:cNvSpPr txBox="1"/>
          <p:nvPr/>
        </p:nvSpPr>
        <p:spPr>
          <a:xfrm>
            <a:off x="9341968" y="2651760"/>
            <a:ext cx="1889608" cy="731520"/>
          </a:xfrm>
          <a:prstGeom prst="rect">
            <a:avLst/>
          </a:prstGeom>
          <a:noFill/>
          <a:ln/>
        </p:spPr>
        <p:txBody>
          <a:bodyPr wrap="square" lIns="0" tIns="0" rIns="0" bIns="0" rtlCol="0" anchor="t"/>
          <a:lstStyle/>
          <a:p>
            <a:pPr indent="0" marL="0">
              <a:buNone/>
            </a:pPr>
            <a:r>
              <a:rPr lang="en-US" sz="4000" b="1" dirty="0">
                <a:solidFill>
                  <a:srgbClr val="FFFFFF"/>
                </a:solidFill>
                <a:latin typeface="Arial Black" pitchFamily="34" charset="0"/>
                <a:ea typeface="Arial Black" pitchFamily="34" charset="-122"/>
                <a:cs typeface="Arial Black" pitchFamily="34" charset="-120"/>
              </a:rPr>
              <a:t>500+</a:t>
            </a:r>
            <a:endParaRPr lang="en-US" sz="4000" dirty="0"/>
          </a:p>
        </p:txBody>
      </p:sp>
      <p:sp>
        <p:nvSpPr>
          <p:cNvPr id="32" name="Text 30"/>
          <p:cNvSpPr txBox="1"/>
          <p:nvPr/>
        </p:nvSpPr>
        <p:spPr>
          <a:xfrm>
            <a:off x="9341968" y="3429000"/>
            <a:ext cx="1889608" cy="274320"/>
          </a:xfrm>
          <a:prstGeom prst="rect">
            <a:avLst/>
          </a:prstGeom>
          <a:noFill/>
          <a:ln/>
        </p:spPr>
        <p:txBody>
          <a:bodyPr wrap="square" lIns="0" tIns="0" rIns="0" bIns="0" rtlCol="0" anchor="t"/>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Flit 셀러 DB</a:t>
            </a:r>
            <a:endParaRPr lang="en-US" sz="1300" dirty="0"/>
          </a:p>
        </p:txBody>
      </p:sp>
      <p:sp>
        <p:nvSpPr>
          <p:cNvPr id="33" name="Text 31"/>
          <p:cNvSpPr txBox="1"/>
          <p:nvPr/>
        </p:nvSpPr>
        <p:spPr>
          <a:xfrm>
            <a:off x="9341968" y="3703320"/>
            <a:ext cx="1889608" cy="274320"/>
          </a:xfrm>
          <a:prstGeom prst="rect">
            <a:avLst/>
          </a:prstGeom>
          <a:noFill/>
          <a:ln/>
        </p:spPr>
        <p:txBody>
          <a:bodyPr wrap="square" lIns="0" tIns="0" rIns="0" bIns="0" rtlCol="0" anchor="t"/>
          <a:lstStyle/>
          <a:p>
            <a:pPr indent="0" marL="0">
              <a:buNone/>
            </a:pPr>
            <a:r>
              <a:rPr lang="en-US" sz="1000" dirty="0">
                <a:solidFill>
                  <a:srgbClr val="94A3B8"/>
                </a:solidFill>
                <a:latin typeface="Malgun Gothic" pitchFamily="34" charset="0"/>
                <a:ea typeface="Malgun Gothic" pitchFamily="34" charset="-122"/>
                <a:cs typeface="Malgun Gothic" pitchFamily="34" charset="-120"/>
              </a:rPr>
              <a:t>리뷰·참가 이력 보유 셀러</a:t>
            </a:r>
            <a:endParaRPr lang="en-US" sz="1000" dirty="0"/>
          </a:p>
        </p:txBody>
      </p:sp>
      <p:sp>
        <p:nvSpPr>
          <p:cNvPr id="34" name="Shape 32"/>
          <p:cNvSpPr/>
          <p:nvPr/>
        </p:nvSpPr>
        <p:spPr>
          <a:xfrm>
            <a:off x="6217920" y="4389120"/>
            <a:ext cx="2529688" cy="1783080"/>
          </a:xfrm>
          <a:prstGeom prst="roundRect">
            <a:avLst>
              <a:gd name="adj" fmla="val 5128"/>
            </a:avLst>
          </a:prstGeom>
          <a:solidFill>
            <a:srgbClr val="12305F"/>
          </a:solidFill>
          <a:ln w="12700">
            <a:solidFill>
              <a:srgbClr val="1F5FD0"/>
            </a:solidFill>
            <a:prstDash val="solid"/>
          </a:ln>
        </p:spPr>
      </p:sp>
      <p:sp>
        <p:nvSpPr>
          <p:cNvPr id="35" name="Text 33"/>
          <p:cNvSpPr txBox="1"/>
          <p:nvPr/>
        </p:nvSpPr>
        <p:spPr>
          <a:xfrm>
            <a:off x="6537960" y="4709160"/>
            <a:ext cx="1889608" cy="731520"/>
          </a:xfrm>
          <a:prstGeom prst="rect">
            <a:avLst/>
          </a:prstGeom>
          <a:noFill/>
          <a:ln/>
        </p:spPr>
        <p:txBody>
          <a:bodyPr wrap="square" lIns="0" tIns="0" rIns="0" bIns="0" rtlCol="0" anchor="t"/>
          <a:lstStyle/>
          <a:p>
            <a:pPr indent="0" marL="0">
              <a:buNone/>
            </a:pPr>
            <a:r>
              <a:rPr lang="en-US" sz="4000" b="1" dirty="0">
                <a:solidFill>
                  <a:srgbClr val="FFFFFF"/>
                </a:solidFill>
                <a:latin typeface="Arial Black" pitchFamily="34" charset="0"/>
                <a:ea typeface="Arial Black" pitchFamily="34" charset="-122"/>
                <a:cs typeface="Arial Black" pitchFamily="34" charset="-120"/>
              </a:rPr>
              <a:t>100+</a:t>
            </a:r>
            <a:endParaRPr lang="en-US" sz="4000" dirty="0"/>
          </a:p>
        </p:txBody>
      </p:sp>
      <p:sp>
        <p:nvSpPr>
          <p:cNvPr id="36" name="Text 34"/>
          <p:cNvSpPr txBox="1"/>
          <p:nvPr/>
        </p:nvSpPr>
        <p:spPr>
          <a:xfrm>
            <a:off x="6537960" y="5486400"/>
            <a:ext cx="1889608" cy="274320"/>
          </a:xfrm>
          <a:prstGeom prst="rect">
            <a:avLst/>
          </a:prstGeom>
          <a:noFill/>
          <a:ln/>
        </p:spPr>
        <p:txBody>
          <a:bodyPr wrap="square" lIns="0" tIns="0" rIns="0" bIns="0" rtlCol="0" anchor="t"/>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푸드트럭 DB</a:t>
            </a:r>
            <a:endParaRPr lang="en-US" sz="1300" dirty="0"/>
          </a:p>
        </p:txBody>
      </p:sp>
      <p:sp>
        <p:nvSpPr>
          <p:cNvPr id="37" name="Text 35"/>
          <p:cNvSpPr txBox="1"/>
          <p:nvPr/>
        </p:nvSpPr>
        <p:spPr>
          <a:xfrm>
            <a:off x="6537960" y="5760720"/>
            <a:ext cx="1889608" cy="274320"/>
          </a:xfrm>
          <a:prstGeom prst="rect">
            <a:avLst/>
          </a:prstGeom>
          <a:noFill/>
          <a:ln/>
        </p:spPr>
        <p:txBody>
          <a:bodyPr wrap="square" lIns="0" tIns="0" rIns="0" bIns="0" rtlCol="0" anchor="t"/>
          <a:lstStyle/>
          <a:p>
            <a:pPr indent="0" marL="0">
              <a:buNone/>
            </a:pPr>
            <a:r>
              <a:rPr lang="en-US" sz="1000" dirty="0">
                <a:solidFill>
                  <a:srgbClr val="94A3B8"/>
                </a:solidFill>
                <a:latin typeface="Malgun Gothic" pitchFamily="34" charset="0"/>
                <a:ea typeface="Malgun Gothic" pitchFamily="34" charset="-122"/>
                <a:cs typeface="Malgun Gothic" pitchFamily="34" charset="-120"/>
              </a:rPr>
              <a:t>위생·허가 검증 완료</a:t>
            </a:r>
            <a:endParaRPr lang="en-US" sz="1000" dirty="0"/>
          </a:p>
        </p:txBody>
      </p:sp>
      <p:sp>
        <p:nvSpPr>
          <p:cNvPr id="38" name="Shape 36"/>
          <p:cNvSpPr/>
          <p:nvPr/>
        </p:nvSpPr>
        <p:spPr>
          <a:xfrm>
            <a:off x="9021928" y="4389120"/>
            <a:ext cx="2529688" cy="1783080"/>
          </a:xfrm>
          <a:prstGeom prst="roundRect">
            <a:avLst>
              <a:gd name="adj" fmla="val 5128"/>
            </a:avLst>
          </a:prstGeom>
          <a:solidFill>
            <a:srgbClr val="12305F"/>
          </a:solidFill>
          <a:ln w="12700">
            <a:solidFill>
              <a:srgbClr val="1F5FD0"/>
            </a:solidFill>
            <a:prstDash val="solid"/>
          </a:ln>
        </p:spPr>
      </p:sp>
      <p:sp>
        <p:nvSpPr>
          <p:cNvPr id="39" name="Text 37"/>
          <p:cNvSpPr txBox="1"/>
          <p:nvPr/>
        </p:nvSpPr>
        <p:spPr>
          <a:xfrm>
            <a:off x="9341968" y="4709160"/>
            <a:ext cx="1889608" cy="731520"/>
          </a:xfrm>
          <a:prstGeom prst="rect">
            <a:avLst/>
          </a:prstGeom>
          <a:noFill/>
          <a:ln/>
        </p:spPr>
        <p:txBody>
          <a:bodyPr wrap="square" lIns="0" tIns="0" rIns="0" bIns="0" rtlCol="0" anchor="t"/>
          <a:lstStyle/>
          <a:p>
            <a:pPr indent="0" marL="0">
              <a:buNone/>
            </a:pPr>
            <a:r>
              <a:rPr lang="en-US" sz="4000" b="1" dirty="0">
                <a:solidFill>
                  <a:srgbClr val="FFFFFF"/>
                </a:solidFill>
                <a:latin typeface="Arial Black" pitchFamily="34" charset="0"/>
                <a:ea typeface="Arial Black" pitchFamily="34" charset="-122"/>
                <a:cs typeface="Arial Black" pitchFamily="34" charset="-120"/>
              </a:rPr>
              <a:t>98%</a:t>
            </a:r>
            <a:endParaRPr lang="en-US" sz="4000" dirty="0"/>
          </a:p>
        </p:txBody>
      </p:sp>
      <p:sp>
        <p:nvSpPr>
          <p:cNvPr id="40" name="Text 38"/>
          <p:cNvSpPr txBox="1"/>
          <p:nvPr/>
        </p:nvSpPr>
        <p:spPr>
          <a:xfrm>
            <a:off x="9341968" y="5486400"/>
            <a:ext cx="1889608" cy="274320"/>
          </a:xfrm>
          <a:prstGeom prst="rect">
            <a:avLst/>
          </a:prstGeom>
          <a:noFill/>
          <a:ln/>
        </p:spPr>
        <p:txBody>
          <a:bodyPr wrap="square" lIns="0" tIns="0" rIns="0" bIns="0" rtlCol="0" anchor="t"/>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재의뢰율</a:t>
            </a:r>
            <a:endParaRPr lang="en-US" sz="1300" dirty="0"/>
          </a:p>
        </p:txBody>
      </p:sp>
      <p:sp>
        <p:nvSpPr>
          <p:cNvPr id="41" name="Text 39"/>
          <p:cNvSpPr txBox="1"/>
          <p:nvPr/>
        </p:nvSpPr>
        <p:spPr>
          <a:xfrm>
            <a:off x="9341968" y="5760720"/>
            <a:ext cx="1889608" cy="274320"/>
          </a:xfrm>
          <a:prstGeom prst="rect">
            <a:avLst/>
          </a:prstGeom>
          <a:noFill/>
          <a:ln/>
        </p:spPr>
        <p:txBody>
          <a:bodyPr wrap="square" lIns="0" tIns="0" rIns="0" bIns="0" rtlCol="0" anchor="t"/>
          <a:lstStyle/>
          <a:p>
            <a:pPr indent="0" marL="0">
              <a:buNone/>
            </a:pPr>
            <a:r>
              <a:rPr lang="en-US" sz="1000" dirty="0">
                <a:solidFill>
                  <a:srgbClr val="94A3B8"/>
                </a:solidFill>
                <a:latin typeface="Malgun Gothic" pitchFamily="34" charset="0"/>
                <a:ea typeface="Malgun Gothic" pitchFamily="34" charset="-122"/>
                <a:cs typeface="Malgun Gothic" pitchFamily="34" charset="-120"/>
              </a:rPr>
              <a:t>운영 대행 고객 기준</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44"/>
        </a:solidFill>
      </p:bgPr>
    </p:bg>
    <p:spTree>
      <p:nvGrpSpPr>
        <p:cNvPr id="1" name=""/>
        <p:cNvGrpSpPr/>
        <p:nvPr/>
      </p:nvGrpSpPr>
      <p:grpSpPr>
        <a:xfrm>
          <a:off x="0" y="0"/>
          <a:ext cx="0" cy="0"/>
          <a:chOff x="0" y="0"/>
          <a:chExt cx="0" cy="0"/>
        </a:xfrm>
      </p:grpSpPr>
      <p:sp>
        <p:nvSpPr>
          <p:cNvPr id="2" name="Shape 0"/>
          <p:cNvSpPr/>
          <p:nvPr/>
        </p:nvSpPr>
        <p:spPr>
          <a:xfrm>
            <a:off x="9265615" y="-2377440"/>
            <a:ext cx="5120640" cy="5120640"/>
          </a:xfrm>
          <a:prstGeom prst="ellipse">
            <a:avLst/>
          </a:prstGeom>
          <a:solidFill>
            <a:srgbClr val="12305F"/>
          </a:solidFill>
          <a:ln w="12700">
            <a:solidFill>
              <a:srgbClr val="12305F"/>
            </a:solidFill>
            <a:prstDash val="solid"/>
          </a:ln>
        </p:spPr>
      </p:sp>
      <p:sp>
        <p:nvSpPr>
          <p:cNvPr id="3" name="Shape 1"/>
          <p:cNvSpPr/>
          <p:nvPr/>
        </p:nvSpPr>
        <p:spPr>
          <a:xfrm>
            <a:off x="-1645920" y="5029200"/>
            <a:ext cx="3657600" cy="3657600"/>
          </a:xfrm>
          <a:prstGeom prst="ellipse">
            <a:avLst/>
          </a:prstGeom>
          <a:solidFill>
            <a:srgbClr val="12305F"/>
          </a:solidFill>
          <a:ln w="12700">
            <a:solidFill>
              <a:srgbClr val="12305F"/>
            </a:solidFill>
            <a:prstDash val="solid"/>
          </a:ln>
        </p:spPr>
      </p:sp>
      <p:sp>
        <p:nvSpPr>
          <p:cNvPr id="4" name="Text 2"/>
          <p:cNvSpPr txBox="1"/>
          <p:nvPr/>
        </p:nvSpPr>
        <p:spPr>
          <a:xfrm>
            <a:off x="640080" y="384048"/>
            <a:ext cx="1155700" cy="266700"/>
          </a:xfrm>
          <a:prstGeom prst="rect">
            <a:avLst/>
          </a:prstGeom>
          <a:noFill/>
          <a:ln/>
        </p:spPr>
        <p:txBody>
          <a:bodyPr wrap="square" lIns="0" tIns="0" rIns="0" bIns="0" rtlCol="0" anchor="ctr"/>
          <a:lstStyle/>
          <a:p>
            <a:pPr indent="0" marL="0">
              <a:buNone/>
            </a:pPr>
            <a:r>
              <a:rPr lang="en-US" sz="1400" b="1" dirty="0">
                <a:solidFill>
                  <a:srgbClr val="3182F6"/>
                </a:solidFill>
                <a:latin typeface="Arial Black" pitchFamily="34" charset="0"/>
                <a:ea typeface="Arial Black" pitchFamily="34" charset="-122"/>
                <a:cs typeface="Arial Black" pitchFamily="34" charset="-120"/>
              </a:rPr>
              <a:t>Flit</a:t>
            </a:r>
            <a:pPr indent="0" marL="0">
              <a:buNone/>
            </a:pPr>
            <a:r>
              <a:rPr lang="en-US" sz="1400" b="1" dirty="0">
                <a:solidFill>
                  <a:srgbClr val="FFFFFF"/>
                </a:solidFill>
                <a:latin typeface="Arial Black" pitchFamily="34" charset="0"/>
                <a:ea typeface="Arial Black" pitchFamily="34" charset="-122"/>
                <a:cs typeface="Arial Black" pitchFamily="34" charset="-120"/>
              </a:rPr>
              <a:t>Union</a:t>
            </a:r>
            <a:endParaRPr lang="en-US" sz="1400" dirty="0"/>
          </a:p>
        </p:txBody>
      </p:sp>
      <p:sp>
        <p:nvSpPr>
          <p:cNvPr id="5" name="Text 3"/>
          <p:cNvSpPr txBox="1"/>
          <p:nvPr/>
        </p:nvSpPr>
        <p:spPr>
          <a:xfrm>
            <a:off x="640080" y="868680"/>
            <a:ext cx="5486400" cy="274320"/>
          </a:xfrm>
          <a:prstGeom prst="rect">
            <a:avLst/>
          </a:prstGeom>
          <a:noFill/>
          <a:ln/>
        </p:spPr>
        <p:txBody>
          <a:bodyPr wrap="square" lIns="0" tIns="0" rIns="0" bIns="0" rtlCol="0" anchor="t"/>
          <a:lstStyle/>
          <a:p>
            <a:pPr indent="0" marL="0">
              <a:buNone/>
            </a:pPr>
            <a:r>
              <a:rPr lang="en-US" sz="1100" b="1" spc="300" kern="0" dirty="0">
                <a:solidFill>
                  <a:srgbClr val="93C5FD"/>
                </a:solidFill>
                <a:latin typeface="Malgun Gothic" pitchFamily="34" charset="0"/>
                <a:ea typeface="Malgun Gothic" pitchFamily="34" charset="-122"/>
                <a:cs typeface="Malgun Gothic" pitchFamily="34" charset="-120"/>
              </a:rPr>
              <a:t>02  VISION &amp; MISSION</a:t>
            </a:r>
            <a:endParaRPr lang="en-US" sz="1100" dirty="0"/>
          </a:p>
        </p:txBody>
      </p:sp>
      <p:sp>
        <p:nvSpPr>
          <p:cNvPr id="6" name="Text 4"/>
          <p:cNvSpPr txBox="1"/>
          <p:nvPr/>
        </p:nvSpPr>
        <p:spPr>
          <a:xfrm>
            <a:off x="640080" y="1143000"/>
            <a:ext cx="10911535" cy="594360"/>
          </a:xfrm>
          <a:prstGeom prst="rect">
            <a:avLst/>
          </a:prstGeom>
          <a:noFill/>
          <a:ln/>
        </p:spPr>
        <p:txBody>
          <a:bodyPr wrap="square" lIns="0" tIns="0" rIns="0" bIns="0" rtlCol="0" anchor="t"/>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비전과 미션</a:t>
            </a:r>
            <a:endParaRPr lang="en-US" sz="2800" dirty="0"/>
          </a:p>
        </p:txBody>
      </p:sp>
      <p:sp>
        <p:nvSpPr>
          <p:cNvPr id="7" name="Text 5"/>
          <p:cNvSpPr txBox="1"/>
          <p:nvPr/>
        </p:nvSpPr>
        <p:spPr>
          <a:xfrm>
            <a:off x="640080" y="1737360"/>
            <a:ext cx="10911535" cy="411480"/>
          </a:xfrm>
          <a:prstGeom prst="rect">
            <a:avLst/>
          </a:prstGeom>
          <a:noFill/>
          <a:ln/>
        </p:spPr>
        <p:txBody>
          <a:bodyPr wrap="square" lIns="0" tIns="0" rIns="0" bIns="0" rtlCol="0" anchor="t"/>
          <a:lstStyle/>
          <a:p>
            <a:pPr indent="0" marL="0">
              <a:buNone/>
            </a:pPr>
            <a:r>
              <a:rPr lang="en-US" sz="1300" dirty="0">
                <a:solidFill>
                  <a:srgbClr val="D6E4F8"/>
                </a:solidFill>
                <a:latin typeface="Malgun Gothic" pitchFamily="34" charset="0"/>
                <a:ea typeface="Malgun Gothic" pitchFamily="34" charset="-122"/>
                <a:cs typeface="Malgun Gothic" pitchFamily="34" charset="-120"/>
              </a:rPr>
              <a:t>플릿 유니온이 지향하는 가치입니다.</a:t>
            </a:r>
            <a:endParaRPr lang="en-US" sz="1300" dirty="0"/>
          </a:p>
        </p:txBody>
      </p:sp>
      <p:sp>
        <p:nvSpPr>
          <p:cNvPr id="8" name="Text 6"/>
          <p:cNvSpPr txBox="1"/>
          <p:nvPr/>
        </p:nvSpPr>
        <p:spPr>
          <a:xfrm>
            <a:off x="640080" y="6400800"/>
            <a:ext cx="3657600" cy="228600"/>
          </a:xfrm>
          <a:prstGeom prst="rect">
            <a:avLst/>
          </a:prstGeom>
          <a:noFill/>
          <a:ln/>
        </p:spPr>
        <p:txBody>
          <a:bodyPr wrap="square" lIns="0" tIns="0" rIns="0" bIns="0" rtlCol="0" anchor="t"/>
          <a:lstStyle/>
          <a:p>
            <a:pPr indent="0" marL="0">
              <a:buNone/>
            </a:pPr>
            <a:r>
              <a:rPr lang="en-US" sz="900" dirty="0">
                <a:solidFill>
                  <a:srgbClr val="94A3B8"/>
                </a:solidFill>
                <a:latin typeface="Malgun Gothic" pitchFamily="34" charset="0"/>
                <a:ea typeface="Malgun Gothic" pitchFamily="34" charset="-122"/>
                <a:cs typeface="Malgun Gothic" pitchFamily="34" charset="-120"/>
              </a:rPr>
              <a:t>플릿 유니온 회사소개서</a:t>
            </a:r>
            <a:endParaRPr lang="en-US" sz="900" dirty="0"/>
          </a:p>
        </p:txBody>
      </p:sp>
      <p:sp>
        <p:nvSpPr>
          <p:cNvPr id="9" name="Text 7"/>
          <p:cNvSpPr txBox="1"/>
          <p:nvPr/>
        </p:nvSpPr>
        <p:spPr>
          <a:xfrm>
            <a:off x="10637215" y="6400800"/>
            <a:ext cx="914400" cy="228600"/>
          </a:xfrm>
          <a:prstGeom prst="rect">
            <a:avLst/>
          </a:prstGeom>
          <a:noFill/>
          <a:ln/>
        </p:spPr>
        <p:txBody>
          <a:bodyPr wrap="square" lIns="0" tIns="0" rIns="0" bIns="0" rtlCol="0" anchor="t"/>
          <a:lstStyle/>
          <a:p>
            <a:pPr algn="r" indent="0" marL="0">
              <a:buNone/>
            </a:pPr>
            <a:r>
              <a:rPr lang="en-US" sz="900" dirty="0">
                <a:solidFill>
                  <a:srgbClr val="94A3B8"/>
                </a:solidFill>
                <a:latin typeface="Malgun Gothic" pitchFamily="34" charset="0"/>
                <a:ea typeface="Malgun Gothic" pitchFamily="34" charset="-122"/>
                <a:cs typeface="Malgun Gothic" pitchFamily="34" charset="-120"/>
              </a:rPr>
              <a:t>04</a:t>
            </a:r>
            <a:endParaRPr lang="en-US" sz="900" dirty="0"/>
          </a:p>
        </p:txBody>
      </p:sp>
      <p:sp>
        <p:nvSpPr>
          <p:cNvPr id="10" name="Shape 8"/>
          <p:cNvSpPr/>
          <p:nvPr/>
        </p:nvSpPr>
        <p:spPr>
          <a:xfrm>
            <a:off x="640080" y="2331720"/>
            <a:ext cx="10911535" cy="1417320"/>
          </a:xfrm>
          <a:prstGeom prst="roundRect">
            <a:avLst>
              <a:gd name="adj" fmla="val 6452"/>
            </a:avLst>
          </a:prstGeom>
          <a:solidFill>
            <a:srgbClr val="12305F"/>
          </a:solidFill>
          <a:ln w="12700">
            <a:solidFill>
              <a:srgbClr val="1F5FD0"/>
            </a:solidFill>
            <a:prstDash val="solid"/>
          </a:ln>
        </p:spPr>
      </p:sp>
      <p:sp>
        <p:nvSpPr>
          <p:cNvPr id="11" name="Text 9"/>
          <p:cNvSpPr txBox="1"/>
          <p:nvPr/>
        </p:nvSpPr>
        <p:spPr>
          <a:xfrm>
            <a:off x="1051560" y="2514600"/>
            <a:ext cx="1828800" cy="274320"/>
          </a:xfrm>
          <a:prstGeom prst="rect">
            <a:avLst/>
          </a:prstGeom>
          <a:noFill/>
          <a:ln/>
        </p:spPr>
        <p:txBody>
          <a:bodyPr wrap="square" lIns="0" tIns="0" rIns="0" bIns="0" rtlCol="0" anchor="t"/>
          <a:lstStyle/>
          <a:p>
            <a:pPr indent="0" marL="0">
              <a:buNone/>
            </a:pPr>
            <a:r>
              <a:rPr lang="en-US" sz="1000" b="1" spc="300" kern="0" dirty="0">
                <a:solidFill>
                  <a:srgbClr val="93C5FD"/>
                </a:solidFill>
                <a:latin typeface="Malgun Gothic" pitchFamily="34" charset="0"/>
                <a:ea typeface="Malgun Gothic" pitchFamily="34" charset="-122"/>
                <a:cs typeface="Malgun Gothic" pitchFamily="34" charset="-120"/>
              </a:rPr>
              <a:t>VISION</a:t>
            </a:r>
            <a:endParaRPr lang="en-US" sz="1000" dirty="0"/>
          </a:p>
        </p:txBody>
      </p:sp>
      <p:sp>
        <p:nvSpPr>
          <p:cNvPr id="12" name="Text 10"/>
          <p:cNvSpPr txBox="1"/>
          <p:nvPr/>
        </p:nvSpPr>
        <p:spPr>
          <a:xfrm>
            <a:off x="1051560" y="2788920"/>
            <a:ext cx="10088575" cy="457200"/>
          </a:xfrm>
          <a:prstGeom prst="rect">
            <a:avLst/>
          </a:prstGeom>
          <a:noFill/>
          <a:ln/>
        </p:spPr>
        <p:txBody>
          <a:bodyPr wrap="square" lIns="0" tIns="0" rIns="0" bIns="0" rtlCol="0" anchor="t"/>
          <a:lstStyle/>
          <a:p>
            <a:pPr indent="0" marL="0">
              <a:buNone/>
            </a:pPr>
            <a:r>
              <a:rPr lang="en-US" sz="2200" b="1" dirty="0">
                <a:solidFill>
                  <a:srgbClr val="FFFFFF"/>
                </a:solidFill>
                <a:latin typeface="Malgun Gothic" pitchFamily="34" charset="0"/>
                <a:ea typeface="Malgun Gothic" pitchFamily="34" charset="-122"/>
                <a:cs typeface="Malgun Gothic" pitchFamily="34" charset="-120"/>
              </a:rPr>
              <a:t>어떤 공간이든, 어떤 행사든 사람이 모이게 만듭니다.</a:t>
            </a:r>
            <a:endParaRPr lang="en-US" sz="2200" dirty="0"/>
          </a:p>
        </p:txBody>
      </p:sp>
      <p:sp>
        <p:nvSpPr>
          <p:cNvPr id="13" name="Text 11"/>
          <p:cNvSpPr txBox="1"/>
          <p:nvPr/>
        </p:nvSpPr>
        <p:spPr>
          <a:xfrm>
            <a:off x="1051560" y="3246120"/>
            <a:ext cx="10088575" cy="457200"/>
          </a:xfrm>
          <a:prstGeom prst="rect">
            <a:avLst/>
          </a:prstGeom>
          <a:noFill/>
          <a:ln/>
        </p:spPr>
        <p:txBody>
          <a:bodyPr wrap="square" lIns="0" tIns="0" rIns="0" bIns="0" rtlCol="0" anchor="t"/>
          <a:lstStyle/>
          <a:p>
            <a:pPr indent="0" marL="0">
              <a:buNone/>
            </a:pPr>
            <a:r>
              <a:rPr lang="en-US" sz="1150" dirty="0">
                <a:solidFill>
                  <a:srgbClr val="D6E4F8"/>
                </a:solidFill>
                <a:latin typeface="Malgun Gothic" pitchFamily="34" charset="0"/>
                <a:ea typeface="Malgun Gothic" pitchFamily="34" charset="-122"/>
                <a:cs typeface="Malgun Gothic" pitchFamily="34" charset="-120"/>
              </a:rPr>
              <a:t>행사 현장과 유휴 공간에 검증된 셀러와 운영 시스템을 연결하여, 주최자에게는 부담 없는 행사를, 셀러에게는 판매의 기회를, 방문객에게는 기억에 남는 경험을 제공합니다.</a:t>
            </a:r>
            <a:endParaRPr lang="en-US" sz="1150" dirty="0"/>
          </a:p>
        </p:txBody>
      </p:sp>
      <p:sp>
        <p:nvSpPr>
          <p:cNvPr id="14" name="Shape 12"/>
          <p:cNvSpPr/>
          <p:nvPr/>
        </p:nvSpPr>
        <p:spPr>
          <a:xfrm>
            <a:off x="640080" y="4023360"/>
            <a:ext cx="3454298" cy="2148840"/>
          </a:xfrm>
          <a:prstGeom prst="roundRect">
            <a:avLst>
              <a:gd name="adj" fmla="val 4255"/>
            </a:avLst>
          </a:prstGeom>
          <a:solidFill>
            <a:srgbClr val="FFFFFF"/>
          </a:solidFill>
          <a:ln w="12700">
            <a:solidFill>
              <a:srgbClr val="FFFFFF"/>
            </a:solidFill>
            <a:prstDash val="solid"/>
          </a:ln>
        </p:spPr>
      </p:sp>
      <p:sp>
        <p:nvSpPr>
          <p:cNvPr id="15" name="Shape 13"/>
          <p:cNvSpPr/>
          <p:nvPr/>
        </p:nvSpPr>
        <p:spPr>
          <a:xfrm>
            <a:off x="960120" y="4343400"/>
            <a:ext cx="548640" cy="548640"/>
          </a:xfrm>
          <a:prstGeom prst="ellipse">
            <a:avLst/>
          </a:prstGeom>
          <a:solidFill>
            <a:srgbClr val="3182F6"/>
          </a:solidFill>
          <a:ln w="12700">
            <a:solidFill>
              <a:srgbClr val="3182F6"/>
            </a:solidFill>
            <a:prstDash val="solid"/>
          </a:ln>
        </p:spPr>
      </p:sp>
      <p:pic>
        <p:nvPicPr>
          <p:cNvPr id="16" name="Image 0" descr="preencoded.png">    </p:cNvPr>
          <p:cNvPicPr>
            <a:picLocks noChangeAspect="1"/>
          </p:cNvPicPr>
          <p:nvPr/>
        </p:nvPicPr>
        <p:blipFill>
          <a:blip r:embed="rId1"/>
          <a:stretch>
            <a:fillRect/>
          </a:stretch>
        </p:blipFill>
        <p:spPr>
          <a:xfrm>
            <a:off x="1097280" y="4480560"/>
            <a:ext cx="274320" cy="274320"/>
          </a:xfrm>
          <a:prstGeom prst="rect">
            <a:avLst/>
          </a:prstGeom>
        </p:spPr>
      </p:pic>
      <p:sp>
        <p:nvSpPr>
          <p:cNvPr id="17" name="Text 14"/>
          <p:cNvSpPr txBox="1"/>
          <p:nvPr/>
        </p:nvSpPr>
        <p:spPr>
          <a:xfrm>
            <a:off x="960120" y="5029200"/>
            <a:ext cx="2814218" cy="320040"/>
          </a:xfrm>
          <a:prstGeom prst="rect">
            <a:avLst/>
          </a:prstGeom>
          <a:noFill/>
          <a:ln/>
        </p:spPr>
        <p:txBody>
          <a:bodyPr wrap="square" lIns="0" tIns="0" rIns="0" bIns="0" rtlCol="0" anchor="t"/>
          <a:lstStyle/>
          <a:p>
            <a:pPr indent="0" marL="0">
              <a:buNone/>
            </a:pPr>
            <a:r>
              <a:rPr lang="en-US" sz="1400" b="1" dirty="0">
                <a:solidFill>
                  <a:srgbClr val="0F172A"/>
                </a:solidFill>
                <a:latin typeface="Malgun Gothic" pitchFamily="34" charset="0"/>
                <a:ea typeface="Malgun Gothic" pitchFamily="34" charset="-122"/>
                <a:cs typeface="Malgun Gothic" pitchFamily="34" charset="-120"/>
              </a:rPr>
              <a:t>검증 (Verified)</a:t>
            </a:r>
            <a:endParaRPr lang="en-US" sz="1400" dirty="0"/>
          </a:p>
        </p:txBody>
      </p:sp>
      <p:sp>
        <p:nvSpPr>
          <p:cNvPr id="18" name="Text 15"/>
          <p:cNvSpPr txBox="1"/>
          <p:nvPr/>
        </p:nvSpPr>
        <p:spPr>
          <a:xfrm>
            <a:off x="960120" y="5349240"/>
            <a:ext cx="2814218" cy="731520"/>
          </a:xfrm>
          <a:prstGeom prst="rect">
            <a:avLst/>
          </a:prstGeom>
          <a:noFill/>
          <a:ln/>
        </p:spPr>
        <p:txBody>
          <a:bodyPr wrap="square" lIns="0" tIns="0" rIns="0" bIns="0" rtlCol="0" anchor="t"/>
          <a:lstStyle/>
          <a:p>
            <a:pPr indent="0" marL="0">
              <a:lnSpc>
                <a:spcPct val="125000"/>
              </a:lnSpc>
              <a:buNone/>
            </a:pPr>
            <a:r>
              <a:rPr lang="en-US" sz="1050" dirty="0">
                <a:solidFill>
                  <a:srgbClr val="475569"/>
                </a:solidFill>
                <a:latin typeface="Malgun Gothic" pitchFamily="34" charset="0"/>
                <a:ea typeface="Malgun Gothic" pitchFamily="34" charset="-122"/>
                <a:cs typeface="Malgun Gothic" pitchFamily="34" charset="-120"/>
              </a:rPr>
              <a:t>플릿 플랫폼의 리뷰 점수와 참가 이력을 기반으로 셀러를 선발하여 불참·품질 미달 리스크를 최소화합니다.</a:t>
            </a:r>
            <a:endParaRPr lang="en-US" sz="1050" dirty="0"/>
          </a:p>
        </p:txBody>
      </p:sp>
      <p:sp>
        <p:nvSpPr>
          <p:cNvPr id="19" name="Shape 16"/>
          <p:cNvSpPr/>
          <p:nvPr/>
        </p:nvSpPr>
        <p:spPr>
          <a:xfrm>
            <a:off x="4368698" y="4023360"/>
            <a:ext cx="3454298" cy="2148840"/>
          </a:xfrm>
          <a:prstGeom prst="roundRect">
            <a:avLst>
              <a:gd name="adj" fmla="val 4255"/>
            </a:avLst>
          </a:prstGeom>
          <a:solidFill>
            <a:srgbClr val="FFFFFF"/>
          </a:solidFill>
          <a:ln w="12700">
            <a:solidFill>
              <a:srgbClr val="FFFFFF"/>
            </a:solidFill>
            <a:prstDash val="solid"/>
          </a:ln>
        </p:spPr>
      </p:sp>
      <p:sp>
        <p:nvSpPr>
          <p:cNvPr id="20" name="Shape 17"/>
          <p:cNvSpPr/>
          <p:nvPr/>
        </p:nvSpPr>
        <p:spPr>
          <a:xfrm>
            <a:off x="4688738" y="4343400"/>
            <a:ext cx="548640" cy="548640"/>
          </a:xfrm>
          <a:prstGeom prst="ellipse">
            <a:avLst/>
          </a:prstGeom>
          <a:solidFill>
            <a:srgbClr val="3182F6"/>
          </a:solidFill>
          <a:ln w="12700">
            <a:solidFill>
              <a:srgbClr val="3182F6"/>
            </a:solidFill>
            <a:prstDash val="solid"/>
          </a:ln>
        </p:spPr>
      </p:sp>
      <p:pic>
        <p:nvPicPr>
          <p:cNvPr id="21" name="Image 1" descr="preencoded.png">    </p:cNvPr>
          <p:cNvPicPr>
            <a:picLocks noChangeAspect="1"/>
          </p:cNvPicPr>
          <p:nvPr/>
        </p:nvPicPr>
        <p:blipFill>
          <a:blip r:embed="rId2"/>
          <a:stretch>
            <a:fillRect/>
          </a:stretch>
        </p:blipFill>
        <p:spPr>
          <a:xfrm>
            <a:off x="4825898" y="4480560"/>
            <a:ext cx="274320" cy="274320"/>
          </a:xfrm>
          <a:prstGeom prst="rect">
            <a:avLst/>
          </a:prstGeom>
        </p:spPr>
      </p:pic>
      <p:sp>
        <p:nvSpPr>
          <p:cNvPr id="22" name="Text 18"/>
          <p:cNvSpPr txBox="1"/>
          <p:nvPr/>
        </p:nvSpPr>
        <p:spPr>
          <a:xfrm>
            <a:off x="4688738" y="5029200"/>
            <a:ext cx="2814218" cy="320040"/>
          </a:xfrm>
          <a:prstGeom prst="rect">
            <a:avLst/>
          </a:prstGeom>
          <a:noFill/>
          <a:ln/>
        </p:spPr>
        <p:txBody>
          <a:bodyPr wrap="square" lIns="0" tIns="0" rIns="0" bIns="0" rtlCol="0" anchor="t"/>
          <a:lstStyle/>
          <a:p>
            <a:pPr indent="0" marL="0">
              <a:buNone/>
            </a:pPr>
            <a:r>
              <a:rPr lang="en-US" sz="1400" b="1" dirty="0">
                <a:solidFill>
                  <a:srgbClr val="0F172A"/>
                </a:solidFill>
                <a:latin typeface="Malgun Gothic" pitchFamily="34" charset="0"/>
                <a:ea typeface="Malgun Gothic" pitchFamily="34" charset="-122"/>
                <a:cs typeface="Malgun Gothic" pitchFamily="34" charset="-120"/>
              </a:rPr>
              <a:t>원스톱 (One-Stop)</a:t>
            </a:r>
            <a:endParaRPr lang="en-US" sz="1400" dirty="0"/>
          </a:p>
        </p:txBody>
      </p:sp>
      <p:sp>
        <p:nvSpPr>
          <p:cNvPr id="23" name="Text 19"/>
          <p:cNvSpPr txBox="1"/>
          <p:nvPr/>
        </p:nvSpPr>
        <p:spPr>
          <a:xfrm>
            <a:off x="4688738" y="5349240"/>
            <a:ext cx="2814218" cy="731520"/>
          </a:xfrm>
          <a:prstGeom prst="rect">
            <a:avLst/>
          </a:prstGeom>
          <a:noFill/>
          <a:ln/>
        </p:spPr>
        <p:txBody>
          <a:bodyPr wrap="square" lIns="0" tIns="0" rIns="0" bIns="0" rtlCol="0" anchor="t"/>
          <a:lstStyle/>
          <a:p>
            <a:pPr indent="0" marL="0">
              <a:lnSpc>
                <a:spcPct val="125000"/>
              </a:lnSpc>
              <a:buNone/>
            </a:pPr>
            <a:r>
              <a:rPr lang="en-US" sz="1050" dirty="0">
                <a:solidFill>
                  <a:srgbClr val="475569"/>
                </a:solidFill>
                <a:latin typeface="Malgun Gothic" pitchFamily="34" charset="0"/>
                <a:ea typeface="Malgun Gothic" pitchFamily="34" charset="-122"/>
                <a:cs typeface="Malgun Gothic" pitchFamily="34" charset="-120"/>
              </a:rPr>
              <a:t>행사 기획, 셀러·푸드트럭 모집, 체험부스 운영, 무대·공연 연출, 장비 렌탈, 현장 운영, 정산까지 전 과정을 하나의 창구에서 책임집니다.</a:t>
            </a:r>
            <a:endParaRPr lang="en-US" sz="1050" dirty="0"/>
          </a:p>
        </p:txBody>
      </p:sp>
      <p:sp>
        <p:nvSpPr>
          <p:cNvPr id="24" name="Shape 20"/>
          <p:cNvSpPr/>
          <p:nvPr/>
        </p:nvSpPr>
        <p:spPr>
          <a:xfrm>
            <a:off x="8097317" y="4023360"/>
            <a:ext cx="3454298" cy="2148840"/>
          </a:xfrm>
          <a:prstGeom prst="roundRect">
            <a:avLst>
              <a:gd name="adj" fmla="val 4255"/>
            </a:avLst>
          </a:prstGeom>
          <a:solidFill>
            <a:srgbClr val="FFFFFF"/>
          </a:solidFill>
          <a:ln w="12700">
            <a:solidFill>
              <a:srgbClr val="FFFFFF"/>
            </a:solidFill>
            <a:prstDash val="solid"/>
          </a:ln>
        </p:spPr>
      </p:sp>
      <p:sp>
        <p:nvSpPr>
          <p:cNvPr id="25" name="Shape 21"/>
          <p:cNvSpPr/>
          <p:nvPr/>
        </p:nvSpPr>
        <p:spPr>
          <a:xfrm>
            <a:off x="8417357" y="4343400"/>
            <a:ext cx="548640" cy="548640"/>
          </a:xfrm>
          <a:prstGeom prst="ellipse">
            <a:avLst/>
          </a:prstGeom>
          <a:solidFill>
            <a:srgbClr val="3182F6"/>
          </a:solidFill>
          <a:ln w="12700">
            <a:solidFill>
              <a:srgbClr val="3182F6"/>
            </a:solidFill>
            <a:prstDash val="solid"/>
          </a:ln>
        </p:spPr>
      </p:sp>
      <p:pic>
        <p:nvPicPr>
          <p:cNvPr id="26" name="Image 2" descr="preencoded.png">    </p:cNvPr>
          <p:cNvPicPr>
            <a:picLocks noChangeAspect="1"/>
          </p:cNvPicPr>
          <p:nvPr/>
        </p:nvPicPr>
        <p:blipFill>
          <a:blip r:embed="rId3"/>
          <a:stretch>
            <a:fillRect/>
          </a:stretch>
        </p:blipFill>
        <p:spPr>
          <a:xfrm>
            <a:off x="8554517" y="4480560"/>
            <a:ext cx="274320" cy="274320"/>
          </a:xfrm>
          <a:prstGeom prst="rect">
            <a:avLst/>
          </a:prstGeom>
        </p:spPr>
      </p:pic>
      <p:sp>
        <p:nvSpPr>
          <p:cNvPr id="27" name="Text 22"/>
          <p:cNvSpPr txBox="1"/>
          <p:nvPr/>
        </p:nvSpPr>
        <p:spPr>
          <a:xfrm>
            <a:off x="8417357" y="5029200"/>
            <a:ext cx="2814218" cy="320040"/>
          </a:xfrm>
          <a:prstGeom prst="rect">
            <a:avLst/>
          </a:prstGeom>
          <a:noFill/>
          <a:ln/>
        </p:spPr>
        <p:txBody>
          <a:bodyPr wrap="square" lIns="0" tIns="0" rIns="0" bIns="0" rtlCol="0" anchor="t"/>
          <a:lstStyle/>
          <a:p>
            <a:pPr indent="0" marL="0">
              <a:buNone/>
            </a:pPr>
            <a:r>
              <a:rPr lang="en-US" sz="1400" b="1" dirty="0">
                <a:solidFill>
                  <a:srgbClr val="0F172A"/>
                </a:solidFill>
                <a:latin typeface="Malgun Gothic" pitchFamily="34" charset="0"/>
                <a:ea typeface="Malgun Gothic" pitchFamily="34" charset="-122"/>
                <a:cs typeface="Malgun Gothic" pitchFamily="34" charset="-120"/>
              </a:rPr>
              <a:t>투명 (Transparent)</a:t>
            </a:r>
            <a:endParaRPr lang="en-US" sz="1400" dirty="0"/>
          </a:p>
        </p:txBody>
      </p:sp>
      <p:sp>
        <p:nvSpPr>
          <p:cNvPr id="28" name="Text 23"/>
          <p:cNvSpPr txBox="1"/>
          <p:nvPr/>
        </p:nvSpPr>
        <p:spPr>
          <a:xfrm>
            <a:off x="8417357" y="5349240"/>
            <a:ext cx="2814218" cy="731520"/>
          </a:xfrm>
          <a:prstGeom prst="rect">
            <a:avLst/>
          </a:prstGeom>
          <a:noFill/>
          <a:ln/>
        </p:spPr>
        <p:txBody>
          <a:bodyPr wrap="square" lIns="0" tIns="0" rIns="0" bIns="0" rtlCol="0" anchor="t"/>
          <a:lstStyle/>
          <a:p>
            <a:pPr indent="0" marL="0">
              <a:lnSpc>
                <a:spcPct val="125000"/>
              </a:lnSpc>
              <a:buNone/>
            </a:pPr>
            <a:r>
              <a:rPr lang="en-US" sz="1050" dirty="0">
                <a:solidFill>
                  <a:srgbClr val="475569"/>
                </a:solidFill>
                <a:latin typeface="Malgun Gothic" pitchFamily="34" charset="0"/>
                <a:ea typeface="Malgun Gothic" pitchFamily="34" charset="-122"/>
                <a:cs typeface="Malgun Gothic" pitchFamily="34" charset="-120"/>
              </a:rPr>
              <a:t>방문자 수, 셀러별 매출, 참가비 정산 내역을 담은 결과 보고서를 행사 종료 후 48시간 이내에 제공합니다.</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44"/>
        </a:solidFill>
      </p:bgPr>
    </p:bg>
    <p:spTree>
      <p:nvGrpSpPr>
        <p:cNvPr id="1" name=""/>
        <p:cNvGrpSpPr/>
        <p:nvPr/>
      </p:nvGrpSpPr>
      <p:grpSpPr>
        <a:xfrm>
          <a:off x="0" y="0"/>
          <a:ext cx="0" cy="0"/>
          <a:chOff x="0" y="0"/>
          <a:chExt cx="0" cy="0"/>
        </a:xfrm>
      </p:grpSpPr>
      <p:sp>
        <p:nvSpPr>
          <p:cNvPr id="2" name="Shape 0"/>
          <p:cNvSpPr/>
          <p:nvPr/>
        </p:nvSpPr>
        <p:spPr>
          <a:xfrm>
            <a:off x="9265615" y="-2377440"/>
            <a:ext cx="5120640" cy="5120640"/>
          </a:xfrm>
          <a:prstGeom prst="ellipse">
            <a:avLst/>
          </a:prstGeom>
          <a:solidFill>
            <a:srgbClr val="12305F"/>
          </a:solidFill>
          <a:ln w="12700">
            <a:solidFill>
              <a:srgbClr val="12305F"/>
            </a:solidFill>
            <a:prstDash val="solid"/>
          </a:ln>
        </p:spPr>
      </p:sp>
      <p:sp>
        <p:nvSpPr>
          <p:cNvPr id="3" name="Shape 1"/>
          <p:cNvSpPr/>
          <p:nvPr/>
        </p:nvSpPr>
        <p:spPr>
          <a:xfrm>
            <a:off x="-1645920" y="5029200"/>
            <a:ext cx="3657600" cy="3657600"/>
          </a:xfrm>
          <a:prstGeom prst="ellipse">
            <a:avLst/>
          </a:prstGeom>
          <a:solidFill>
            <a:srgbClr val="12305F"/>
          </a:solidFill>
          <a:ln w="12700">
            <a:solidFill>
              <a:srgbClr val="12305F"/>
            </a:solidFill>
            <a:prstDash val="solid"/>
          </a:ln>
        </p:spPr>
      </p:sp>
      <p:sp>
        <p:nvSpPr>
          <p:cNvPr id="4" name="Text 2"/>
          <p:cNvSpPr txBox="1"/>
          <p:nvPr/>
        </p:nvSpPr>
        <p:spPr>
          <a:xfrm>
            <a:off x="640080" y="384048"/>
            <a:ext cx="1155700" cy="266700"/>
          </a:xfrm>
          <a:prstGeom prst="rect">
            <a:avLst/>
          </a:prstGeom>
          <a:noFill/>
          <a:ln/>
        </p:spPr>
        <p:txBody>
          <a:bodyPr wrap="square" lIns="0" tIns="0" rIns="0" bIns="0" rtlCol="0" anchor="ctr"/>
          <a:lstStyle/>
          <a:p>
            <a:pPr indent="0" marL="0">
              <a:buNone/>
            </a:pPr>
            <a:r>
              <a:rPr lang="en-US" sz="1400" b="1" dirty="0">
                <a:solidFill>
                  <a:srgbClr val="3182F6"/>
                </a:solidFill>
                <a:latin typeface="Arial Black" pitchFamily="34" charset="0"/>
                <a:ea typeface="Arial Black" pitchFamily="34" charset="-122"/>
                <a:cs typeface="Arial Black" pitchFamily="34" charset="-120"/>
              </a:rPr>
              <a:t>Flit</a:t>
            </a:r>
            <a:pPr indent="0" marL="0">
              <a:buNone/>
            </a:pPr>
            <a:r>
              <a:rPr lang="en-US" sz="1400" b="1" dirty="0">
                <a:solidFill>
                  <a:srgbClr val="FFFFFF"/>
                </a:solidFill>
                <a:latin typeface="Arial Black" pitchFamily="34" charset="0"/>
                <a:ea typeface="Arial Black" pitchFamily="34" charset="-122"/>
                <a:cs typeface="Arial Black" pitchFamily="34" charset="-120"/>
              </a:rPr>
              <a:t>Union</a:t>
            </a:r>
            <a:endParaRPr lang="en-US" sz="1400" dirty="0"/>
          </a:p>
        </p:txBody>
      </p:sp>
      <p:sp>
        <p:nvSpPr>
          <p:cNvPr id="5" name="Text 3"/>
          <p:cNvSpPr txBox="1"/>
          <p:nvPr/>
        </p:nvSpPr>
        <p:spPr>
          <a:xfrm>
            <a:off x="640080" y="868680"/>
            <a:ext cx="5486400" cy="274320"/>
          </a:xfrm>
          <a:prstGeom prst="rect">
            <a:avLst/>
          </a:prstGeom>
          <a:noFill/>
          <a:ln/>
        </p:spPr>
        <p:txBody>
          <a:bodyPr wrap="square" lIns="0" tIns="0" rIns="0" bIns="0" rtlCol="0" anchor="t"/>
          <a:lstStyle/>
          <a:p>
            <a:pPr indent="0" marL="0">
              <a:buNone/>
            </a:pPr>
            <a:r>
              <a:rPr lang="en-US" sz="1100" b="1" spc="300" kern="0" dirty="0">
                <a:solidFill>
                  <a:srgbClr val="93C5FD"/>
                </a:solidFill>
                <a:latin typeface="Malgun Gothic" pitchFamily="34" charset="0"/>
                <a:ea typeface="Malgun Gothic" pitchFamily="34" charset="-122"/>
                <a:cs typeface="Malgun Gothic" pitchFamily="34" charset="-120"/>
              </a:rPr>
              <a:t>03  PROBLEM &amp; SOLUTION</a:t>
            </a:r>
            <a:endParaRPr lang="en-US" sz="1100" dirty="0"/>
          </a:p>
        </p:txBody>
      </p:sp>
      <p:sp>
        <p:nvSpPr>
          <p:cNvPr id="6" name="Text 4"/>
          <p:cNvSpPr txBox="1"/>
          <p:nvPr/>
        </p:nvSpPr>
        <p:spPr>
          <a:xfrm>
            <a:off x="640080" y="1143000"/>
            <a:ext cx="10911535" cy="594360"/>
          </a:xfrm>
          <a:prstGeom prst="rect">
            <a:avLst/>
          </a:prstGeom>
          <a:noFill/>
          <a:ln/>
        </p:spPr>
        <p:txBody>
          <a:bodyPr wrap="square" lIns="0" tIns="0" rIns="0" bIns="0" rtlCol="0" anchor="t"/>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고객의 과제와 플릿의 해법</a:t>
            </a:r>
            <a:endParaRPr lang="en-US" sz="2800" dirty="0"/>
          </a:p>
        </p:txBody>
      </p:sp>
      <p:sp>
        <p:nvSpPr>
          <p:cNvPr id="7" name="Text 5"/>
          <p:cNvSpPr txBox="1"/>
          <p:nvPr/>
        </p:nvSpPr>
        <p:spPr>
          <a:xfrm>
            <a:off x="640080" y="1737360"/>
            <a:ext cx="10911535" cy="411480"/>
          </a:xfrm>
          <a:prstGeom prst="rect">
            <a:avLst/>
          </a:prstGeom>
          <a:noFill/>
          <a:ln/>
        </p:spPr>
        <p:txBody>
          <a:bodyPr wrap="square" lIns="0" tIns="0" rIns="0" bIns="0" rtlCol="0" anchor="t"/>
          <a:lstStyle/>
          <a:p>
            <a:pPr indent="0" marL="0">
              <a:buNone/>
            </a:pPr>
            <a:r>
              <a:rPr lang="en-US" sz="1300" dirty="0">
                <a:solidFill>
                  <a:srgbClr val="D6E4F8"/>
                </a:solidFill>
                <a:latin typeface="Malgun Gothic" pitchFamily="34" charset="0"/>
                <a:ea typeface="Malgun Gothic" pitchFamily="34" charset="-122"/>
                <a:cs typeface="Malgun Gothic" pitchFamily="34" charset="-120"/>
              </a:rPr>
              <a:t>행사 담당자가 실제로 겪는 문제를 플릿 유니온이 해결합니다.</a:t>
            </a:r>
            <a:endParaRPr lang="en-US" sz="1300" dirty="0"/>
          </a:p>
        </p:txBody>
      </p:sp>
      <p:sp>
        <p:nvSpPr>
          <p:cNvPr id="8" name="Text 6"/>
          <p:cNvSpPr txBox="1"/>
          <p:nvPr/>
        </p:nvSpPr>
        <p:spPr>
          <a:xfrm>
            <a:off x="640080" y="6400800"/>
            <a:ext cx="3657600" cy="228600"/>
          </a:xfrm>
          <a:prstGeom prst="rect">
            <a:avLst/>
          </a:prstGeom>
          <a:noFill/>
          <a:ln/>
        </p:spPr>
        <p:txBody>
          <a:bodyPr wrap="square" lIns="0" tIns="0" rIns="0" bIns="0" rtlCol="0" anchor="t"/>
          <a:lstStyle/>
          <a:p>
            <a:pPr indent="0" marL="0">
              <a:buNone/>
            </a:pPr>
            <a:r>
              <a:rPr lang="en-US" sz="900" dirty="0">
                <a:solidFill>
                  <a:srgbClr val="94A3B8"/>
                </a:solidFill>
                <a:latin typeface="Malgun Gothic" pitchFamily="34" charset="0"/>
                <a:ea typeface="Malgun Gothic" pitchFamily="34" charset="-122"/>
                <a:cs typeface="Malgun Gothic" pitchFamily="34" charset="-120"/>
              </a:rPr>
              <a:t>플릿 유니온 회사소개서</a:t>
            </a:r>
            <a:endParaRPr lang="en-US" sz="900" dirty="0"/>
          </a:p>
        </p:txBody>
      </p:sp>
      <p:sp>
        <p:nvSpPr>
          <p:cNvPr id="9" name="Text 7"/>
          <p:cNvSpPr txBox="1"/>
          <p:nvPr/>
        </p:nvSpPr>
        <p:spPr>
          <a:xfrm>
            <a:off x="10637215" y="6400800"/>
            <a:ext cx="914400" cy="228600"/>
          </a:xfrm>
          <a:prstGeom prst="rect">
            <a:avLst/>
          </a:prstGeom>
          <a:noFill/>
          <a:ln/>
        </p:spPr>
        <p:txBody>
          <a:bodyPr wrap="square" lIns="0" tIns="0" rIns="0" bIns="0" rtlCol="0" anchor="t"/>
          <a:lstStyle/>
          <a:p>
            <a:pPr algn="r" indent="0" marL="0">
              <a:buNone/>
            </a:pPr>
            <a:r>
              <a:rPr lang="en-US" sz="900" dirty="0">
                <a:solidFill>
                  <a:srgbClr val="94A3B8"/>
                </a:solidFill>
                <a:latin typeface="Malgun Gothic" pitchFamily="34" charset="0"/>
                <a:ea typeface="Malgun Gothic" pitchFamily="34" charset="-122"/>
                <a:cs typeface="Malgun Gothic" pitchFamily="34" charset="-120"/>
              </a:rPr>
              <a:t>05</a:t>
            </a:r>
            <a:endParaRPr lang="en-US" sz="900" dirty="0"/>
          </a:p>
        </p:txBody>
      </p:sp>
      <p:sp>
        <p:nvSpPr>
          <p:cNvPr id="10" name="Shape 8"/>
          <p:cNvSpPr/>
          <p:nvPr/>
        </p:nvSpPr>
        <p:spPr>
          <a:xfrm>
            <a:off x="640080" y="2377440"/>
            <a:ext cx="3454298" cy="3794760"/>
          </a:xfrm>
          <a:prstGeom prst="roundRect">
            <a:avLst>
              <a:gd name="adj" fmla="val 2647"/>
            </a:avLst>
          </a:prstGeom>
          <a:solidFill>
            <a:srgbClr val="FFFFFF"/>
          </a:solidFill>
          <a:ln w="12700">
            <a:solidFill>
              <a:srgbClr val="FFFFFF"/>
            </a:solidFill>
            <a:prstDash val="solid"/>
          </a:ln>
        </p:spPr>
      </p:sp>
      <p:sp>
        <p:nvSpPr>
          <p:cNvPr id="11" name="Shape 9"/>
          <p:cNvSpPr/>
          <p:nvPr/>
        </p:nvSpPr>
        <p:spPr>
          <a:xfrm>
            <a:off x="960120" y="2697480"/>
            <a:ext cx="548640" cy="548640"/>
          </a:xfrm>
          <a:prstGeom prst="ellipse">
            <a:avLst/>
          </a:prstGeom>
          <a:solidFill>
            <a:srgbClr val="3182F6"/>
          </a:solidFill>
          <a:ln w="12700">
            <a:solidFill>
              <a:srgbClr val="3182F6"/>
            </a:solidFill>
            <a:prstDash val="solid"/>
          </a:ln>
        </p:spPr>
      </p:sp>
      <p:pic>
        <p:nvPicPr>
          <p:cNvPr id="12" name="Image 0" descr="preencoded.png">    </p:cNvPr>
          <p:cNvPicPr>
            <a:picLocks noChangeAspect="1"/>
          </p:cNvPicPr>
          <p:nvPr/>
        </p:nvPicPr>
        <p:blipFill>
          <a:blip r:embed="rId1"/>
          <a:stretch>
            <a:fillRect/>
          </a:stretch>
        </p:blipFill>
        <p:spPr>
          <a:xfrm>
            <a:off x="1097280" y="2834640"/>
            <a:ext cx="274320" cy="274320"/>
          </a:xfrm>
          <a:prstGeom prst="rect">
            <a:avLst/>
          </a:prstGeom>
        </p:spPr>
      </p:pic>
      <p:sp>
        <p:nvSpPr>
          <p:cNvPr id="13" name="Text 10"/>
          <p:cNvSpPr txBox="1"/>
          <p:nvPr/>
        </p:nvSpPr>
        <p:spPr>
          <a:xfrm>
            <a:off x="1645920" y="2788920"/>
            <a:ext cx="2174138" cy="365760"/>
          </a:xfrm>
          <a:prstGeom prst="rect">
            <a:avLst/>
          </a:prstGeom>
          <a:noFill/>
          <a:ln/>
        </p:spPr>
        <p:txBody>
          <a:bodyPr wrap="square" lIns="0" tIns="0" rIns="0" bIns="0" rtlCol="0" anchor="ctr"/>
          <a:lstStyle/>
          <a:p>
            <a:pPr indent="0" marL="0">
              <a:buNone/>
            </a:pPr>
            <a:r>
              <a:rPr lang="en-US" sz="1100" b="1" dirty="0">
                <a:solidFill>
                  <a:srgbClr val="3182F6"/>
                </a:solidFill>
                <a:latin typeface="Malgun Gothic" pitchFamily="34" charset="0"/>
                <a:ea typeface="Malgun Gothic" pitchFamily="34" charset="-122"/>
                <a:cs typeface="Malgun Gothic" pitchFamily="34" charset="-120"/>
              </a:rPr>
              <a:t>대학교 · 학생회</a:t>
            </a:r>
            <a:endParaRPr lang="en-US" sz="1100" dirty="0"/>
          </a:p>
        </p:txBody>
      </p:sp>
      <p:sp>
        <p:nvSpPr>
          <p:cNvPr id="14" name="Text 11"/>
          <p:cNvSpPr txBox="1"/>
          <p:nvPr/>
        </p:nvSpPr>
        <p:spPr>
          <a:xfrm>
            <a:off x="960120" y="3429000"/>
            <a:ext cx="2814218" cy="777240"/>
          </a:xfrm>
          <a:prstGeom prst="rect">
            <a:avLst/>
          </a:prstGeom>
          <a:noFill/>
          <a:ln/>
        </p:spPr>
        <p:txBody>
          <a:bodyPr wrap="square" lIns="0" tIns="0" rIns="0" bIns="0" rtlCol="0" anchor="t"/>
          <a:lstStyle/>
          <a:p>
            <a:pPr indent="0" marL="0">
              <a:lnSpc>
                <a:spcPct val="120000"/>
              </a:lnSpc>
              <a:buNone/>
            </a:pPr>
            <a:r>
              <a:rPr lang="en-US" sz="1400" b="1" dirty="0">
                <a:solidFill>
                  <a:srgbClr val="0F172A"/>
                </a:solidFill>
                <a:latin typeface="Malgun Gothic" pitchFamily="34" charset="0"/>
                <a:ea typeface="Malgun Gothic" pitchFamily="34" charset="-122"/>
                <a:cs typeface="Malgun Gothic" pitchFamily="34" charset="-120"/>
              </a:rPr>
              <a:t>행사 일정은 잡혔는데, 셀러 모집과 현장 운영을 감당할 인력이 없습니다.</a:t>
            </a:r>
            <a:endParaRPr lang="en-US" sz="1400" dirty="0"/>
          </a:p>
        </p:txBody>
      </p:sp>
      <p:sp>
        <p:nvSpPr>
          <p:cNvPr id="15" name="Shape 12"/>
          <p:cNvSpPr/>
          <p:nvPr/>
        </p:nvSpPr>
        <p:spPr>
          <a:xfrm>
            <a:off x="960120" y="4297680"/>
            <a:ext cx="2814218" cy="1600200"/>
          </a:xfrm>
          <a:prstGeom prst="roundRect">
            <a:avLst>
              <a:gd name="adj" fmla="val 5714"/>
            </a:avLst>
          </a:prstGeom>
          <a:solidFill>
            <a:srgbClr val="EAF2FF"/>
          </a:solidFill>
          <a:ln w="12700">
            <a:solidFill>
              <a:srgbClr val="EAF2FF"/>
            </a:solidFill>
            <a:prstDash val="solid"/>
          </a:ln>
        </p:spPr>
      </p:sp>
      <p:sp>
        <p:nvSpPr>
          <p:cNvPr id="16" name="Text 13"/>
          <p:cNvSpPr txBox="1"/>
          <p:nvPr/>
        </p:nvSpPr>
        <p:spPr>
          <a:xfrm>
            <a:off x="1143000" y="4434840"/>
            <a:ext cx="1828800" cy="228600"/>
          </a:xfrm>
          <a:prstGeom prst="rect">
            <a:avLst/>
          </a:prstGeom>
          <a:noFill/>
          <a:ln/>
        </p:spPr>
        <p:txBody>
          <a:bodyPr wrap="square" lIns="0" tIns="0" rIns="0" bIns="0" rtlCol="0" anchor="t"/>
          <a:lstStyle/>
          <a:p>
            <a:pPr indent="0" marL="0">
              <a:buNone/>
            </a:pPr>
            <a:r>
              <a:rPr lang="en-US" sz="950" b="1" dirty="0">
                <a:solidFill>
                  <a:srgbClr val="3182F6"/>
                </a:solidFill>
                <a:latin typeface="Malgun Gothic" pitchFamily="34" charset="0"/>
                <a:ea typeface="Malgun Gothic" pitchFamily="34" charset="-122"/>
                <a:cs typeface="Malgun Gothic" pitchFamily="34" charset="-120"/>
              </a:rPr>
              <a:t>플릿의 해법</a:t>
            </a:r>
            <a:endParaRPr lang="en-US" sz="950" dirty="0"/>
          </a:p>
        </p:txBody>
      </p:sp>
      <p:sp>
        <p:nvSpPr>
          <p:cNvPr id="17" name="Text 14"/>
          <p:cNvSpPr txBox="1"/>
          <p:nvPr/>
        </p:nvSpPr>
        <p:spPr>
          <a:xfrm>
            <a:off x="1143000" y="4663440"/>
            <a:ext cx="2448458" cy="1188720"/>
          </a:xfrm>
          <a:prstGeom prst="rect">
            <a:avLst/>
          </a:prstGeom>
          <a:noFill/>
          <a:ln/>
        </p:spPr>
        <p:txBody>
          <a:bodyPr wrap="square" lIns="0" tIns="0" rIns="0" bIns="0" rtlCol="0" anchor="t"/>
          <a:lstStyle/>
          <a:p>
            <a:pPr indent="0" marL="0">
              <a:lnSpc>
                <a:spcPct val="125000"/>
              </a:lnSpc>
              <a:buNone/>
            </a:pPr>
            <a:r>
              <a:rPr lang="en-US" sz="1050" dirty="0">
                <a:solidFill>
                  <a:srgbClr val="475569"/>
                </a:solidFill>
                <a:latin typeface="Malgun Gothic" pitchFamily="34" charset="0"/>
                <a:ea typeface="Malgun Gothic" pitchFamily="34" charset="-122"/>
                <a:cs typeface="Malgun Gothic" pitchFamily="34" charset="-120"/>
              </a:rPr>
              <a:t>학생이 원하는 콘셉트를 함께 설계하고, 플릿 리뷰 데이터를 기반으로 평점 높은 셀러를 선발합니다. 모집 공고부터 당일 현장 운영, 정산까지 전담 매니저가 책임집니다.</a:t>
            </a:r>
            <a:endParaRPr lang="en-US" sz="1050" dirty="0"/>
          </a:p>
        </p:txBody>
      </p:sp>
      <p:sp>
        <p:nvSpPr>
          <p:cNvPr id="18" name="Shape 15"/>
          <p:cNvSpPr/>
          <p:nvPr/>
        </p:nvSpPr>
        <p:spPr>
          <a:xfrm>
            <a:off x="4368698" y="2377440"/>
            <a:ext cx="3454298" cy="3794760"/>
          </a:xfrm>
          <a:prstGeom prst="roundRect">
            <a:avLst>
              <a:gd name="adj" fmla="val 2647"/>
            </a:avLst>
          </a:prstGeom>
          <a:solidFill>
            <a:srgbClr val="FFFFFF"/>
          </a:solidFill>
          <a:ln w="12700">
            <a:solidFill>
              <a:srgbClr val="FFFFFF"/>
            </a:solidFill>
            <a:prstDash val="solid"/>
          </a:ln>
        </p:spPr>
      </p:sp>
      <p:sp>
        <p:nvSpPr>
          <p:cNvPr id="19" name="Shape 16"/>
          <p:cNvSpPr/>
          <p:nvPr/>
        </p:nvSpPr>
        <p:spPr>
          <a:xfrm>
            <a:off x="4688738" y="2697480"/>
            <a:ext cx="548640" cy="548640"/>
          </a:xfrm>
          <a:prstGeom prst="ellipse">
            <a:avLst/>
          </a:prstGeom>
          <a:solidFill>
            <a:srgbClr val="3182F6"/>
          </a:solidFill>
          <a:ln w="12700">
            <a:solidFill>
              <a:srgbClr val="3182F6"/>
            </a:solidFill>
            <a:prstDash val="solid"/>
          </a:ln>
        </p:spPr>
      </p:sp>
      <p:pic>
        <p:nvPicPr>
          <p:cNvPr id="20" name="Image 1" descr="preencoded.png">    </p:cNvPr>
          <p:cNvPicPr>
            <a:picLocks noChangeAspect="1"/>
          </p:cNvPicPr>
          <p:nvPr/>
        </p:nvPicPr>
        <p:blipFill>
          <a:blip r:embed="rId2"/>
          <a:stretch>
            <a:fillRect/>
          </a:stretch>
        </p:blipFill>
        <p:spPr>
          <a:xfrm>
            <a:off x="4825898" y="2834640"/>
            <a:ext cx="274320" cy="274320"/>
          </a:xfrm>
          <a:prstGeom prst="rect">
            <a:avLst/>
          </a:prstGeom>
        </p:spPr>
      </p:pic>
      <p:sp>
        <p:nvSpPr>
          <p:cNvPr id="21" name="Text 17"/>
          <p:cNvSpPr txBox="1"/>
          <p:nvPr/>
        </p:nvSpPr>
        <p:spPr>
          <a:xfrm>
            <a:off x="5374538" y="2788920"/>
            <a:ext cx="2174138" cy="365760"/>
          </a:xfrm>
          <a:prstGeom prst="rect">
            <a:avLst/>
          </a:prstGeom>
          <a:noFill/>
          <a:ln/>
        </p:spPr>
        <p:txBody>
          <a:bodyPr wrap="square" lIns="0" tIns="0" rIns="0" bIns="0" rtlCol="0" anchor="ctr"/>
          <a:lstStyle/>
          <a:p>
            <a:pPr indent="0" marL="0">
              <a:buNone/>
            </a:pPr>
            <a:r>
              <a:rPr lang="en-US" sz="1100" b="1" dirty="0">
                <a:solidFill>
                  <a:srgbClr val="3182F6"/>
                </a:solidFill>
                <a:latin typeface="Malgun Gothic" pitchFamily="34" charset="0"/>
                <a:ea typeface="Malgun Gothic" pitchFamily="34" charset="-122"/>
                <a:cs typeface="Malgun Gothic" pitchFamily="34" charset="-120"/>
              </a:rPr>
              <a:t>지자체 · 축제 주최 기관</a:t>
            </a:r>
            <a:endParaRPr lang="en-US" sz="1100" dirty="0"/>
          </a:p>
        </p:txBody>
      </p:sp>
      <p:sp>
        <p:nvSpPr>
          <p:cNvPr id="22" name="Text 18"/>
          <p:cNvSpPr txBox="1"/>
          <p:nvPr/>
        </p:nvSpPr>
        <p:spPr>
          <a:xfrm>
            <a:off x="4688738" y="3429000"/>
            <a:ext cx="2814218" cy="777240"/>
          </a:xfrm>
          <a:prstGeom prst="rect">
            <a:avLst/>
          </a:prstGeom>
          <a:noFill/>
          <a:ln/>
        </p:spPr>
        <p:txBody>
          <a:bodyPr wrap="square" lIns="0" tIns="0" rIns="0" bIns="0" rtlCol="0" anchor="t"/>
          <a:lstStyle/>
          <a:p>
            <a:pPr indent="0" marL="0">
              <a:lnSpc>
                <a:spcPct val="120000"/>
              </a:lnSpc>
              <a:buNone/>
            </a:pPr>
            <a:r>
              <a:rPr lang="en-US" sz="1400" b="1" dirty="0">
                <a:solidFill>
                  <a:srgbClr val="0F172A"/>
                </a:solidFill>
                <a:latin typeface="Malgun Gothic" pitchFamily="34" charset="0"/>
                <a:ea typeface="Malgun Gothic" pitchFamily="34" charset="-122"/>
                <a:cs typeface="Malgun Gothic" pitchFamily="34" charset="-120"/>
              </a:rPr>
              <a:t>부스 존의 셀러 퀄리티와 안전 관리를 어떻게 담보할 수 있습니까?</a:t>
            </a:r>
            <a:endParaRPr lang="en-US" sz="1400" dirty="0"/>
          </a:p>
        </p:txBody>
      </p:sp>
      <p:sp>
        <p:nvSpPr>
          <p:cNvPr id="23" name="Shape 19"/>
          <p:cNvSpPr/>
          <p:nvPr/>
        </p:nvSpPr>
        <p:spPr>
          <a:xfrm>
            <a:off x="4688738" y="4297680"/>
            <a:ext cx="2814218" cy="1600200"/>
          </a:xfrm>
          <a:prstGeom prst="roundRect">
            <a:avLst>
              <a:gd name="adj" fmla="val 5714"/>
            </a:avLst>
          </a:prstGeom>
          <a:solidFill>
            <a:srgbClr val="EAF2FF"/>
          </a:solidFill>
          <a:ln w="12700">
            <a:solidFill>
              <a:srgbClr val="EAF2FF"/>
            </a:solidFill>
            <a:prstDash val="solid"/>
          </a:ln>
        </p:spPr>
      </p:sp>
      <p:sp>
        <p:nvSpPr>
          <p:cNvPr id="24" name="Text 20"/>
          <p:cNvSpPr txBox="1"/>
          <p:nvPr/>
        </p:nvSpPr>
        <p:spPr>
          <a:xfrm>
            <a:off x="4871618" y="4434840"/>
            <a:ext cx="1828800" cy="228600"/>
          </a:xfrm>
          <a:prstGeom prst="rect">
            <a:avLst/>
          </a:prstGeom>
          <a:noFill/>
          <a:ln/>
        </p:spPr>
        <p:txBody>
          <a:bodyPr wrap="square" lIns="0" tIns="0" rIns="0" bIns="0" rtlCol="0" anchor="t"/>
          <a:lstStyle/>
          <a:p>
            <a:pPr indent="0" marL="0">
              <a:buNone/>
            </a:pPr>
            <a:r>
              <a:rPr lang="en-US" sz="950" b="1" dirty="0">
                <a:solidFill>
                  <a:srgbClr val="3182F6"/>
                </a:solidFill>
                <a:latin typeface="Malgun Gothic" pitchFamily="34" charset="0"/>
                <a:ea typeface="Malgun Gothic" pitchFamily="34" charset="-122"/>
                <a:cs typeface="Malgun Gothic" pitchFamily="34" charset="-120"/>
              </a:rPr>
              <a:t>플릿의 해법</a:t>
            </a:r>
            <a:endParaRPr lang="en-US" sz="950" dirty="0"/>
          </a:p>
        </p:txBody>
      </p:sp>
      <p:sp>
        <p:nvSpPr>
          <p:cNvPr id="25" name="Text 21"/>
          <p:cNvSpPr txBox="1"/>
          <p:nvPr/>
        </p:nvSpPr>
        <p:spPr>
          <a:xfrm>
            <a:off x="4871618" y="4663440"/>
            <a:ext cx="2448458" cy="1188720"/>
          </a:xfrm>
          <a:prstGeom prst="rect">
            <a:avLst/>
          </a:prstGeom>
          <a:noFill/>
          <a:ln/>
        </p:spPr>
        <p:txBody>
          <a:bodyPr wrap="square" lIns="0" tIns="0" rIns="0" bIns="0" rtlCol="0" anchor="t"/>
          <a:lstStyle/>
          <a:p>
            <a:pPr indent="0" marL="0">
              <a:lnSpc>
                <a:spcPct val="125000"/>
              </a:lnSpc>
              <a:buNone/>
            </a:pPr>
            <a:r>
              <a:rPr lang="en-US" sz="1050" dirty="0">
                <a:solidFill>
                  <a:srgbClr val="475569"/>
                </a:solidFill>
                <a:latin typeface="Malgun Gothic" pitchFamily="34" charset="0"/>
                <a:ea typeface="Malgun Gothic" pitchFamily="34" charset="-122"/>
                <a:cs typeface="Malgun Gothic" pitchFamily="34" charset="-120"/>
              </a:rPr>
              <a:t>축제 콘셉트에 맞는 셀러·푸드트럭을 선별 배치하고, 대규모 인파에 대응하는 동선 설계와 안전 인력을 배치합니다. 체험부스 직영 운영, 무대·음향 설치, 부스 장비 일괄 렌탈까지 한 번에 진행합니다.</a:t>
            </a:r>
            <a:endParaRPr lang="en-US" sz="1050" dirty="0"/>
          </a:p>
        </p:txBody>
      </p:sp>
      <p:sp>
        <p:nvSpPr>
          <p:cNvPr id="26" name="Shape 22"/>
          <p:cNvSpPr/>
          <p:nvPr/>
        </p:nvSpPr>
        <p:spPr>
          <a:xfrm>
            <a:off x="8097317" y="2377440"/>
            <a:ext cx="3454298" cy="3794760"/>
          </a:xfrm>
          <a:prstGeom prst="roundRect">
            <a:avLst>
              <a:gd name="adj" fmla="val 2647"/>
            </a:avLst>
          </a:prstGeom>
          <a:solidFill>
            <a:srgbClr val="FFFFFF"/>
          </a:solidFill>
          <a:ln w="12700">
            <a:solidFill>
              <a:srgbClr val="FFFFFF"/>
            </a:solidFill>
            <a:prstDash val="solid"/>
          </a:ln>
        </p:spPr>
      </p:sp>
      <p:sp>
        <p:nvSpPr>
          <p:cNvPr id="27" name="Shape 23"/>
          <p:cNvSpPr/>
          <p:nvPr/>
        </p:nvSpPr>
        <p:spPr>
          <a:xfrm>
            <a:off x="8417357" y="2697480"/>
            <a:ext cx="548640" cy="548640"/>
          </a:xfrm>
          <a:prstGeom prst="ellipse">
            <a:avLst/>
          </a:prstGeom>
          <a:solidFill>
            <a:srgbClr val="3182F6"/>
          </a:solidFill>
          <a:ln w="12700">
            <a:solidFill>
              <a:srgbClr val="3182F6"/>
            </a:solidFill>
            <a:prstDash val="solid"/>
          </a:ln>
        </p:spPr>
      </p:sp>
      <p:pic>
        <p:nvPicPr>
          <p:cNvPr id="28" name="Image 2" descr="preencoded.png">    </p:cNvPr>
          <p:cNvPicPr>
            <a:picLocks noChangeAspect="1"/>
          </p:cNvPicPr>
          <p:nvPr/>
        </p:nvPicPr>
        <p:blipFill>
          <a:blip r:embed="rId3"/>
          <a:stretch>
            <a:fillRect/>
          </a:stretch>
        </p:blipFill>
        <p:spPr>
          <a:xfrm>
            <a:off x="8554517" y="2834640"/>
            <a:ext cx="274320" cy="274320"/>
          </a:xfrm>
          <a:prstGeom prst="rect">
            <a:avLst/>
          </a:prstGeom>
        </p:spPr>
      </p:pic>
      <p:sp>
        <p:nvSpPr>
          <p:cNvPr id="29" name="Text 24"/>
          <p:cNvSpPr txBox="1"/>
          <p:nvPr/>
        </p:nvSpPr>
        <p:spPr>
          <a:xfrm>
            <a:off x="9103157" y="2788920"/>
            <a:ext cx="2174138" cy="365760"/>
          </a:xfrm>
          <a:prstGeom prst="rect">
            <a:avLst/>
          </a:prstGeom>
          <a:noFill/>
          <a:ln/>
        </p:spPr>
        <p:txBody>
          <a:bodyPr wrap="square" lIns="0" tIns="0" rIns="0" bIns="0" rtlCol="0" anchor="ctr"/>
          <a:lstStyle/>
          <a:p>
            <a:pPr indent="0" marL="0">
              <a:buNone/>
            </a:pPr>
            <a:r>
              <a:rPr lang="en-US" sz="1100" b="1" dirty="0">
                <a:solidFill>
                  <a:srgbClr val="3182F6"/>
                </a:solidFill>
                <a:latin typeface="Malgun Gothic" pitchFamily="34" charset="0"/>
                <a:ea typeface="Malgun Gothic" pitchFamily="34" charset="-122"/>
                <a:cs typeface="Malgun Gothic" pitchFamily="34" charset="-120"/>
              </a:rPr>
              <a:t>카페 · 건물주 · 유휴 공간</a:t>
            </a:r>
            <a:endParaRPr lang="en-US" sz="1100" dirty="0"/>
          </a:p>
        </p:txBody>
      </p:sp>
      <p:sp>
        <p:nvSpPr>
          <p:cNvPr id="30" name="Text 25"/>
          <p:cNvSpPr txBox="1"/>
          <p:nvPr/>
        </p:nvSpPr>
        <p:spPr>
          <a:xfrm>
            <a:off x="8417357" y="3429000"/>
            <a:ext cx="2814218" cy="777240"/>
          </a:xfrm>
          <a:prstGeom prst="rect">
            <a:avLst/>
          </a:prstGeom>
          <a:noFill/>
          <a:ln/>
        </p:spPr>
        <p:txBody>
          <a:bodyPr wrap="square" lIns="0" tIns="0" rIns="0" bIns="0" rtlCol="0" anchor="t"/>
          <a:lstStyle/>
          <a:p>
            <a:pPr indent="0" marL="0">
              <a:lnSpc>
                <a:spcPct val="120000"/>
              </a:lnSpc>
              <a:buNone/>
            </a:pPr>
            <a:r>
              <a:rPr lang="en-US" sz="1400" b="1" dirty="0">
                <a:solidFill>
                  <a:srgbClr val="0F172A"/>
                </a:solidFill>
                <a:latin typeface="Malgun Gothic" pitchFamily="34" charset="0"/>
                <a:ea typeface="Malgun Gothic" pitchFamily="34" charset="-122"/>
                <a:cs typeface="Malgun Gothic" pitchFamily="34" charset="-120"/>
              </a:rPr>
              <a:t>수익이 발생하지 않는 공간을 어떻게 활용할 수 있습니까?</a:t>
            </a:r>
            <a:endParaRPr lang="en-US" sz="1400" dirty="0"/>
          </a:p>
        </p:txBody>
      </p:sp>
      <p:sp>
        <p:nvSpPr>
          <p:cNvPr id="31" name="Shape 26"/>
          <p:cNvSpPr/>
          <p:nvPr/>
        </p:nvSpPr>
        <p:spPr>
          <a:xfrm>
            <a:off x="8417357" y="4297680"/>
            <a:ext cx="2814218" cy="1600200"/>
          </a:xfrm>
          <a:prstGeom prst="roundRect">
            <a:avLst>
              <a:gd name="adj" fmla="val 5714"/>
            </a:avLst>
          </a:prstGeom>
          <a:solidFill>
            <a:srgbClr val="EAF2FF"/>
          </a:solidFill>
          <a:ln w="12700">
            <a:solidFill>
              <a:srgbClr val="EAF2FF"/>
            </a:solidFill>
            <a:prstDash val="solid"/>
          </a:ln>
        </p:spPr>
      </p:sp>
      <p:sp>
        <p:nvSpPr>
          <p:cNvPr id="32" name="Text 27"/>
          <p:cNvSpPr txBox="1"/>
          <p:nvPr/>
        </p:nvSpPr>
        <p:spPr>
          <a:xfrm>
            <a:off x="8600237" y="4434840"/>
            <a:ext cx="1828800" cy="228600"/>
          </a:xfrm>
          <a:prstGeom prst="rect">
            <a:avLst/>
          </a:prstGeom>
          <a:noFill/>
          <a:ln/>
        </p:spPr>
        <p:txBody>
          <a:bodyPr wrap="square" lIns="0" tIns="0" rIns="0" bIns="0" rtlCol="0" anchor="t"/>
          <a:lstStyle/>
          <a:p>
            <a:pPr indent="0" marL="0">
              <a:buNone/>
            </a:pPr>
            <a:r>
              <a:rPr lang="en-US" sz="950" b="1" dirty="0">
                <a:solidFill>
                  <a:srgbClr val="3182F6"/>
                </a:solidFill>
                <a:latin typeface="Malgun Gothic" pitchFamily="34" charset="0"/>
                <a:ea typeface="Malgun Gothic" pitchFamily="34" charset="-122"/>
                <a:cs typeface="Malgun Gothic" pitchFamily="34" charset="-120"/>
              </a:rPr>
              <a:t>플릿의 해법</a:t>
            </a:r>
            <a:endParaRPr lang="en-US" sz="950" dirty="0"/>
          </a:p>
        </p:txBody>
      </p:sp>
      <p:sp>
        <p:nvSpPr>
          <p:cNvPr id="33" name="Text 28"/>
          <p:cNvSpPr txBox="1"/>
          <p:nvPr/>
        </p:nvSpPr>
        <p:spPr>
          <a:xfrm>
            <a:off x="8600237" y="4663440"/>
            <a:ext cx="2448458" cy="1188720"/>
          </a:xfrm>
          <a:prstGeom prst="rect">
            <a:avLst/>
          </a:prstGeom>
          <a:noFill/>
          <a:ln/>
        </p:spPr>
        <p:txBody>
          <a:bodyPr wrap="square" lIns="0" tIns="0" rIns="0" bIns="0" rtlCol="0" anchor="t"/>
          <a:lstStyle/>
          <a:p>
            <a:pPr indent="0" marL="0">
              <a:lnSpc>
                <a:spcPct val="125000"/>
              </a:lnSpc>
              <a:buNone/>
            </a:pPr>
            <a:r>
              <a:rPr lang="en-US" sz="1050" dirty="0">
                <a:solidFill>
                  <a:srgbClr val="475569"/>
                </a:solidFill>
                <a:latin typeface="Malgun Gothic" pitchFamily="34" charset="0"/>
                <a:ea typeface="Malgun Gothic" pitchFamily="34" charset="-122"/>
                <a:cs typeface="Malgun Gothic" pitchFamily="34" charset="-120"/>
              </a:rPr>
              <a:t>빈 주차장, 낮 시간 한산한 카페 홀, 비어 있는 건물 로비는 정기 마켓의 무대가 될 수 있습니다. 유동 인구를 분석하고 공간에 맞는 행사 모델을 설계합니다.</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F44"/>
        </a:solidFill>
      </p:bgPr>
    </p:bg>
    <p:spTree>
      <p:nvGrpSpPr>
        <p:cNvPr id="1" name=""/>
        <p:cNvGrpSpPr/>
        <p:nvPr/>
      </p:nvGrpSpPr>
      <p:grpSpPr>
        <a:xfrm>
          <a:off x="0" y="0"/>
          <a:ext cx="0" cy="0"/>
          <a:chOff x="0" y="0"/>
          <a:chExt cx="0" cy="0"/>
        </a:xfrm>
      </p:grpSpPr>
      <p:sp>
        <p:nvSpPr>
          <p:cNvPr id="2" name="Shape 0"/>
          <p:cNvSpPr/>
          <p:nvPr/>
        </p:nvSpPr>
        <p:spPr>
          <a:xfrm>
            <a:off x="9265615" y="-2377440"/>
            <a:ext cx="5120640" cy="5120640"/>
          </a:xfrm>
          <a:prstGeom prst="ellipse">
            <a:avLst/>
          </a:prstGeom>
          <a:solidFill>
            <a:srgbClr val="12305F"/>
          </a:solidFill>
          <a:ln w="12700">
            <a:solidFill>
              <a:srgbClr val="12305F"/>
            </a:solidFill>
            <a:prstDash val="solid"/>
          </a:ln>
        </p:spPr>
      </p:sp>
      <p:sp>
        <p:nvSpPr>
          <p:cNvPr id="3" name="Shape 1"/>
          <p:cNvSpPr/>
          <p:nvPr/>
        </p:nvSpPr>
        <p:spPr>
          <a:xfrm>
            <a:off x="-1645920" y="5029200"/>
            <a:ext cx="3657600" cy="3657600"/>
          </a:xfrm>
          <a:prstGeom prst="ellipse">
            <a:avLst/>
          </a:prstGeom>
          <a:solidFill>
            <a:srgbClr val="12305F"/>
          </a:solidFill>
          <a:ln w="12700">
            <a:solidFill>
              <a:srgbClr val="12305F"/>
            </a:solidFill>
            <a:prstDash val="solid"/>
          </a:ln>
        </p:spPr>
      </p:sp>
      <p:sp>
        <p:nvSpPr>
          <p:cNvPr id="4" name="Text 2"/>
          <p:cNvSpPr txBox="1"/>
          <p:nvPr/>
        </p:nvSpPr>
        <p:spPr>
          <a:xfrm>
            <a:off x="640080" y="384048"/>
            <a:ext cx="1155700" cy="266700"/>
          </a:xfrm>
          <a:prstGeom prst="rect">
            <a:avLst/>
          </a:prstGeom>
          <a:noFill/>
          <a:ln/>
        </p:spPr>
        <p:txBody>
          <a:bodyPr wrap="square" lIns="0" tIns="0" rIns="0" bIns="0" rtlCol="0" anchor="ctr"/>
          <a:lstStyle/>
          <a:p>
            <a:pPr indent="0" marL="0">
              <a:buNone/>
            </a:pPr>
            <a:r>
              <a:rPr lang="en-US" sz="1400" b="1" dirty="0">
                <a:solidFill>
                  <a:srgbClr val="3182F6"/>
                </a:solidFill>
                <a:latin typeface="Arial Black" pitchFamily="34" charset="0"/>
                <a:ea typeface="Arial Black" pitchFamily="34" charset="-122"/>
                <a:cs typeface="Arial Black" pitchFamily="34" charset="-120"/>
              </a:rPr>
              <a:t>Flit</a:t>
            </a:r>
            <a:pPr indent="0" marL="0">
              <a:buNone/>
            </a:pPr>
            <a:r>
              <a:rPr lang="en-US" sz="1400" b="1" dirty="0">
                <a:solidFill>
                  <a:srgbClr val="FFFFFF"/>
                </a:solidFill>
                <a:latin typeface="Arial Black" pitchFamily="34" charset="0"/>
                <a:ea typeface="Arial Black" pitchFamily="34" charset="-122"/>
                <a:cs typeface="Arial Black" pitchFamily="34" charset="-120"/>
              </a:rPr>
              <a:t>Union</a:t>
            </a:r>
            <a:endParaRPr lang="en-US" sz="1400" dirty="0"/>
          </a:p>
        </p:txBody>
      </p:sp>
      <p:sp>
        <p:nvSpPr>
          <p:cNvPr id="5" name="Text 3"/>
          <p:cNvSpPr txBox="1"/>
          <p:nvPr/>
        </p:nvSpPr>
        <p:spPr>
          <a:xfrm>
            <a:off x="640080" y="868680"/>
            <a:ext cx="5486400" cy="274320"/>
          </a:xfrm>
          <a:prstGeom prst="rect">
            <a:avLst/>
          </a:prstGeom>
          <a:noFill/>
          <a:ln/>
        </p:spPr>
        <p:txBody>
          <a:bodyPr wrap="square" lIns="0" tIns="0" rIns="0" bIns="0" rtlCol="0" anchor="t"/>
          <a:lstStyle/>
          <a:p>
            <a:pPr indent="0" marL="0">
              <a:buNone/>
            </a:pPr>
            <a:r>
              <a:rPr lang="en-US" sz="1100" b="1" spc="300" kern="0" dirty="0">
                <a:solidFill>
                  <a:srgbClr val="93C5FD"/>
                </a:solidFill>
                <a:latin typeface="Malgun Gothic" pitchFamily="34" charset="0"/>
                <a:ea typeface="Malgun Gothic" pitchFamily="34" charset="-122"/>
                <a:cs typeface="Malgun Gothic" pitchFamily="34" charset="-120"/>
              </a:rPr>
              <a:t>04  WHAT WE DO</a:t>
            </a:r>
            <a:endParaRPr lang="en-US" sz="1100" dirty="0"/>
          </a:p>
        </p:txBody>
      </p:sp>
      <p:sp>
        <p:nvSpPr>
          <p:cNvPr id="6" name="Text 4"/>
          <p:cNvSpPr txBox="1"/>
          <p:nvPr/>
        </p:nvSpPr>
        <p:spPr>
          <a:xfrm>
            <a:off x="640080" y="1143000"/>
            <a:ext cx="10911535" cy="594360"/>
          </a:xfrm>
          <a:prstGeom prst="rect">
            <a:avLst/>
          </a:prstGeom>
          <a:noFill/>
          <a:ln/>
        </p:spPr>
        <p:txBody>
          <a:bodyPr wrap="square" lIns="0" tIns="0" rIns="0" bIns="0" rtlCol="0" anchor="t"/>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대행 범위</a:t>
            </a:r>
            <a:endParaRPr lang="en-US" sz="2800" dirty="0"/>
          </a:p>
        </p:txBody>
      </p:sp>
      <p:sp>
        <p:nvSpPr>
          <p:cNvPr id="7" name="Text 5"/>
          <p:cNvSpPr txBox="1"/>
          <p:nvPr/>
        </p:nvSpPr>
        <p:spPr>
          <a:xfrm>
            <a:off x="640080" y="1737360"/>
            <a:ext cx="10911535" cy="411480"/>
          </a:xfrm>
          <a:prstGeom prst="rect">
            <a:avLst/>
          </a:prstGeom>
          <a:noFill/>
          <a:ln/>
        </p:spPr>
        <p:txBody>
          <a:bodyPr wrap="square" lIns="0" tIns="0" rIns="0" bIns="0" rtlCol="0" anchor="t"/>
          <a:lstStyle/>
          <a:p>
            <a:pPr indent="0" marL="0">
              <a:buNone/>
            </a:pPr>
            <a:r>
              <a:rPr lang="en-US" sz="1300" dirty="0">
                <a:solidFill>
                  <a:srgbClr val="D6E4F8"/>
                </a:solidFill>
                <a:latin typeface="Malgun Gothic" pitchFamily="34" charset="0"/>
                <a:ea typeface="Malgun Gothic" pitchFamily="34" charset="-122"/>
                <a:cs typeface="Malgun Gothic" pitchFamily="34" charset="-120"/>
              </a:rPr>
              <a:t>행사 기획과 운영, 푸드트럭·체험부스·플리마켓·무대공연까지 행사에 필요한 전부를 창구 하나로 대행합니다.</a:t>
            </a:r>
            <a:endParaRPr lang="en-US" sz="1300" dirty="0"/>
          </a:p>
        </p:txBody>
      </p:sp>
      <p:sp>
        <p:nvSpPr>
          <p:cNvPr id="8" name="Text 6"/>
          <p:cNvSpPr txBox="1"/>
          <p:nvPr/>
        </p:nvSpPr>
        <p:spPr>
          <a:xfrm>
            <a:off x="640080" y="6400800"/>
            <a:ext cx="3657600" cy="228600"/>
          </a:xfrm>
          <a:prstGeom prst="rect">
            <a:avLst/>
          </a:prstGeom>
          <a:noFill/>
          <a:ln/>
        </p:spPr>
        <p:txBody>
          <a:bodyPr wrap="square" lIns="0" tIns="0" rIns="0" bIns="0" rtlCol="0" anchor="t"/>
          <a:lstStyle/>
          <a:p>
            <a:pPr indent="0" marL="0">
              <a:buNone/>
            </a:pPr>
            <a:r>
              <a:rPr lang="en-US" sz="900" dirty="0">
                <a:solidFill>
                  <a:srgbClr val="94A3B8"/>
                </a:solidFill>
                <a:latin typeface="Malgun Gothic" pitchFamily="34" charset="0"/>
                <a:ea typeface="Malgun Gothic" pitchFamily="34" charset="-122"/>
                <a:cs typeface="Malgun Gothic" pitchFamily="34" charset="-120"/>
              </a:rPr>
              <a:t>플릿 유니온 회사소개서</a:t>
            </a:r>
            <a:endParaRPr lang="en-US" sz="900" dirty="0"/>
          </a:p>
        </p:txBody>
      </p:sp>
      <p:sp>
        <p:nvSpPr>
          <p:cNvPr id="9" name="Text 7"/>
          <p:cNvSpPr txBox="1"/>
          <p:nvPr/>
        </p:nvSpPr>
        <p:spPr>
          <a:xfrm>
            <a:off x="10637215" y="6400800"/>
            <a:ext cx="914400" cy="228600"/>
          </a:xfrm>
          <a:prstGeom prst="rect">
            <a:avLst/>
          </a:prstGeom>
          <a:noFill/>
          <a:ln/>
        </p:spPr>
        <p:txBody>
          <a:bodyPr wrap="square" lIns="0" tIns="0" rIns="0" bIns="0" rtlCol="0" anchor="t"/>
          <a:lstStyle/>
          <a:p>
            <a:pPr algn="r" indent="0" marL="0">
              <a:buNone/>
            </a:pPr>
            <a:r>
              <a:rPr lang="en-US" sz="900" dirty="0">
                <a:solidFill>
                  <a:srgbClr val="94A3B8"/>
                </a:solidFill>
                <a:latin typeface="Malgun Gothic" pitchFamily="34" charset="0"/>
                <a:ea typeface="Malgun Gothic" pitchFamily="34" charset="-122"/>
                <a:cs typeface="Malgun Gothic" pitchFamily="34" charset="-120"/>
              </a:rPr>
              <a:t>06</a:t>
            </a:r>
            <a:endParaRPr lang="en-US" sz="900" dirty="0"/>
          </a:p>
        </p:txBody>
      </p:sp>
      <p:sp>
        <p:nvSpPr>
          <p:cNvPr id="10" name="Shape 8"/>
          <p:cNvSpPr/>
          <p:nvPr/>
        </p:nvSpPr>
        <p:spPr>
          <a:xfrm>
            <a:off x="640080" y="2331720"/>
            <a:ext cx="3484778" cy="1783080"/>
          </a:xfrm>
          <a:prstGeom prst="roundRect">
            <a:avLst>
              <a:gd name="adj" fmla="val 5128"/>
            </a:avLst>
          </a:prstGeom>
          <a:solidFill>
            <a:srgbClr val="FFFFFF"/>
          </a:solidFill>
          <a:ln w="12700">
            <a:solidFill>
              <a:srgbClr val="FFFFFF"/>
            </a:solidFill>
            <a:prstDash val="solid"/>
          </a:ln>
        </p:spPr>
      </p:sp>
      <p:sp>
        <p:nvSpPr>
          <p:cNvPr id="11" name="Shape 9"/>
          <p:cNvSpPr/>
          <p:nvPr/>
        </p:nvSpPr>
        <p:spPr>
          <a:xfrm>
            <a:off x="914400" y="2606040"/>
            <a:ext cx="502920" cy="502920"/>
          </a:xfrm>
          <a:prstGeom prst="ellipse">
            <a:avLst/>
          </a:prstGeom>
          <a:solidFill>
            <a:srgbClr val="3182F6"/>
          </a:solidFill>
          <a:ln w="12700">
            <a:solidFill>
              <a:srgbClr val="3182F6"/>
            </a:solidFill>
            <a:prstDash val="solid"/>
          </a:ln>
        </p:spPr>
      </p:sp>
      <p:pic>
        <p:nvPicPr>
          <p:cNvPr id="12" name="Image 0" descr="preencoded.png">    </p:cNvPr>
          <p:cNvPicPr>
            <a:picLocks noChangeAspect="1"/>
          </p:cNvPicPr>
          <p:nvPr/>
        </p:nvPicPr>
        <p:blipFill>
          <a:blip r:embed="rId1"/>
          <a:stretch>
            <a:fillRect/>
          </a:stretch>
        </p:blipFill>
        <p:spPr>
          <a:xfrm>
            <a:off x="1040130" y="2731770"/>
            <a:ext cx="251460" cy="251460"/>
          </a:xfrm>
          <a:prstGeom prst="rect">
            <a:avLst/>
          </a:prstGeom>
        </p:spPr>
      </p:pic>
      <p:sp>
        <p:nvSpPr>
          <p:cNvPr id="13" name="Text 10"/>
          <p:cNvSpPr txBox="1"/>
          <p:nvPr/>
        </p:nvSpPr>
        <p:spPr>
          <a:xfrm>
            <a:off x="3301898" y="2587752"/>
            <a:ext cx="548640" cy="274320"/>
          </a:xfrm>
          <a:prstGeom prst="rect">
            <a:avLst/>
          </a:prstGeom>
          <a:noFill/>
          <a:ln/>
        </p:spPr>
        <p:txBody>
          <a:bodyPr wrap="square" lIns="0" tIns="0" rIns="0" bIns="0" rtlCol="0" anchor="t"/>
          <a:lstStyle/>
          <a:p>
            <a:pPr algn="r" indent="0" marL="0">
              <a:buNone/>
            </a:pPr>
            <a:r>
              <a:rPr lang="en-US" sz="1100" b="1" dirty="0">
                <a:solidFill>
                  <a:srgbClr val="D6E4F8"/>
                </a:solidFill>
                <a:latin typeface="Arial Black" pitchFamily="34" charset="0"/>
                <a:ea typeface="Arial Black" pitchFamily="34" charset="-122"/>
                <a:cs typeface="Arial Black" pitchFamily="34" charset="-120"/>
              </a:rPr>
              <a:t>01</a:t>
            </a:r>
            <a:endParaRPr lang="en-US" sz="1100" dirty="0"/>
          </a:p>
        </p:txBody>
      </p:sp>
      <p:sp>
        <p:nvSpPr>
          <p:cNvPr id="14" name="Text 11"/>
          <p:cNvSpPr txBox="1"/>
          <p:nvPr/>
        </p:nvSpPr>
        <p:spPr>
          <a:xfrm>
            <a:off x="1554480" y="2606040"/>
            <a:ext cx="1747418" cy="502920"/>
          </a:xfrm>
          <a:prstGeom prst="rect">
            <a:avLst/>
          </a:prstGeom>
          <a:noFill/>
          <a:ln/>
        </p:spPr>
        <p:txBody>
          <a:bodyPr wrap="square" lIns="0" tIns="0" rIns="0" bIns="0" rtlCol="0" anchor="ctr"/>
          <a:lstStyle/>
          <a:p>
            <a:pPr indent="0" marL="0">
              <a:buNone/>
            </a:pPr>
            <a:r>
              <a:rPr lang="en-US" sz="1500" b="1" dirty="0">
                <a:solidFill>
                  <a:srgbClr val="0F172A"/>
                </a:solidFill>
                <a:latin typeface="Malgun Gothic" pitchFamily="34" charset="0"/>
                <a:ea typeface="Malgun Gothic" pitchFamily="34" charset="-122"/>
                <a:cs typeface="Malgun Gothic" pitchFamily="34" charset="-120"/>
              </a:rPr>
              <a:t>행사 기획</a:t>
            </a:r>
            <a:endParaRPr lang="en-US" sz="1500" dirty="0"/>
          </a:p>
        </p:txBody>
      </p:sp>
      <p:sp>
        <p:nvSpPr>
          <p:cNvPr id="15" name="Text 12"/>
          <p:cNvSpPr txBox="1"/>
          <p:nvPr/>
        </p:nvSpPr>
        <p:spPr>
          <a:xfrm>
            <a:off x="914400" y="3246120"/>
            <a:ext cx="2936138" cy="777240"/>
          </a:xfrm>
          <a:prstGeom prst="rect">
            <a:avLst/>
          </a:prstGeom>
          <a:noFill/>
          <a:ln/>
        </p:spPr>
        <p:txBody>
          <a:bodyPr wrap="square" lIns="0" tIns="0" rIns="0" bIns="0" rtlCol="0" anchor="t"/>
          <a:lstStyle/>
          <a:p>
            <a:pPr indent="0" marL="0">
              <a:lnSpc>
                <a:spcPct val="125000"/>
              </a:lnSpc>
              <a:buNone/>
            </a:pPr>
            <a:r>
              <a:rPr lang="en-US" sz="1000" dirty="0">
                <a:solidFill>
                  <a:srgbClr val="475569"/>
                </a:solidFill>
                <a:latin typeface="Malgun Gothic" pitchFamily="34" charset="0"/>
                <a:ea typeface="Malgun Gothic" pitchFamily="34" charset="-122"/>
                <a:cs typeface="Malgun Gothic" pitchFamily="34" charset="-120"/>
              </a:rPr>
              <a:t>행사 목적·대상·예산에 맞춘 콘셉트와 프로그램 구성, 인허가·안전 계획 검토까지 기획 단계를 맡습니다.</a:t>
            </a:r>
            <a:endParaRPr lang="en-US" sz="1000" dirty="0"/>
          </a:p>
        </p:txBody>
      </p:sp>
      <p:sp>
        <p:nvSpPr>
          <p:cNvPr id="16" name="Shape 13"/>
          <p:cNvSpPr/>
          <p:nvPr/>
        </p:nvSpPr>
        <p:spPr>
          <a:xfrm>
            <a:off x="4353458" y="2331720"/>
            <a:ext cx="3484778" cy="1783080"/>
          </a:xfrm>
          <a:prstGeom prst="roundRect">
            <a:avLst>
              <a:gd name="adj" fmla="val 5128"/>
            </a:avLst>
          </a:prstGeom>
          <a:solidFill>
            <a:srgbClr val="FFFFFF"/>
          </a:solidFill>
          <a:ln w="12700">
            <a:solidFill>
              <a:srgbClr val="FFFFFF"/>
            </a:solidFill>
            <a:prstDash val="solid"/>
          </a:ln>
        </p:spPr>
      </p:sp>
      <p:sp>
        <p:nvSpPr>
          <p:cNvPr id="17" name="Shape 14"/>
          <p:cNvSpPr/>
          <p:nvPr/>
        </p:nvSpPr>
        <p:spPr>
          <a:xfrm>
            <a:off x="4627778" y="2606040"/>
            <a:ext cx="502920" cy="502920"/>
          </a:xfrm>
          <a:prstGeom prst="ellipse">
            <a:avLst/>
          </a:prstGeom>
          <a:solidFill>
            <a:srgbClr val="3182F6"/>
          </a:solidFill>
          <a:ln w="12700">
            <a:solidFill>
              <a:srgbClr val="3182F6"/>
            </a:solidFill>
            <a:prstDash val="solid"/>
          </a:ln>
        </p:spPr>
      </p:sp>
      <p:pic>
        <p:nvPicPr>
          <p:cNvPr id="18" name="Image 1" descr="preencoded.png">    </p:cNvPr>
          <p:cNvPicPr>
            <a:picLocks noChangeAspect="1"/>
          </p:cNvPicPr>
          <p:nvPr/>
        </p:nvPicPr>
        <p:blipFill>
          <a:blip r:embed="rId2"/>
          <a:stretch>
            <a:fillRect/>
          </a:stretch>
        </p:blipFill>
        <p:spPr>
          <a:xfrm>
            <a:off x="4753508" y="2731770"/>
            <a:ext cx="251460" cy="251460"/>
          </a:xfrm>
          <a:prstGeom prst="rect">
            <a:avLst/>
          </a:prstGeom>
        </p:spPr>
      </p:pic>
      <p:sp>
        <p:nvSpPr>
          <p:cNvPr id="19" name="Text 15"/>
          <p:cNvSpPr txBox="1"/>
          <p:nvPr/>
        </p:nvSpPr>
        <p:spPr>
          <a:xfrm>
            <a:off x="7015277" y="2587752"/>
            <a:ext cx="548640" cy="274320"/>
          </a:xfrm>
          <a:prstGeom prst="rect">
            <a:avLst/>
          </a:prstGeom>
          <a:noFill/>
          <a:ln/>
        </p:spPr>
        <p:txBody>
          <a:bodyPr wrap="square" lIns="0" tIns="0" rIns="0" bIns="0" rtlCol="0" anchor="t"/>
          <a:lstStyle/>
          <a:p>
            <a:pPr algn="r" indent="0" marL="0">
              <a:buNone/>
            </a:pPr>
            <a:r>
              <a:rPr lang="en-US" sz="1100" b="1" dirty="0">
                <a:solidFill>
                  <a:srgbClr val="D6E4F8"/>
                </a:solidFill>
                <a:latin typeface="Arial Black" pitchFamily="34" charset="0"/>
                <a:ea typeface="Arial Black" pitchFamily="34" charset="-122"/>
                <a:cs typeface="Arial Black" pitchFamily="34" charset="-120"/>
              </a:rPr>
              <a:t>02</a:t>
            </a:r>
            <a:endParaRPr lang="en-US" sz="1100" dirty="0"/>
          </a:p>
        </p:txBody>
      </p:sp>
      <p:sp>
        <p:nvSpPr>
          <p:cNvPr id="20" name="Text 16"/>
          <p:cNvSpPr txBox="1"/>
          <p:nvPr/>
        </p:nvSpPr>
        <p:spPr>
          <a:xfrm>
            <a:off x="5267858" y="2606040"/>
            <a:ext cx="1747418" cy="502920"/>
          </a:xfrm>
          <a:prstGeom prst="rect">
            <a:avLst/>
          </a:prstGeom>
          <a:noFill/>
          <a:ln/>
        </p:spPr>
        <p:txBody>
          <a:bodyPr wrap="square" lIns="0" tIns="0" rIns="0" bIns="0" rtlCol="0" anchor="ctr"/>
          <a:lstStyle/>
          <a:p>
            <a:pPr indent="0" marL="0">
              <a:buNone/>
            </a:pPr>
            <a:r>
              <a:rPr lang="en-US" sz="1500" b="1" dirty="0">
                <a:solidFill>
                  <a:srgbClr val="0F172A"/>
                </a:solidFill>
                <a:latin typeface="Malgun Gothic" pitchFamily="34" charset="0"/>
                <a:ea typeface="Malgun Gothic" pitchFamily="34" charset="-122"/>
                <a:cs typeface="Malgun Gothic" pitchFamily="34" charset="-120"/>
              </a:rPr>
              <a:t>행사 운영</a:t>
            </a:r>
            <a:endParaRPr lang="en-US" sz="1500" dirty="0"/>
          </a:p>
        </p:txBody>
      </p:sp>
      <p:sp>
        <p:nvSpPr>
          <p:cNvPr id="21" name="Text 17"/>
          <p:cNvSpPr txBox="1"/>
          <p:nvPr/>
        </p:nvSpPr>
        <p:spPr>
          <a:xfrm>
            <a:off x="4627778" y="3246120"/>
            <a:ext cx="2936138" cy="777240"/>
          </a:xfrm>
          <a:prstGeom prst="rect">
            <a:avLst/>
          </a:prstGeom>
          <a:noFill/>
          <a:ln/>
        </p:spPr>
        <p:txBody>
          <a:bodyPr wrap="square" lIns="0" tIns="0" rIns="0" bIns="0" rtlCol="0" anchor="t"/>
          <a:lstStyle/>
          <a:p>
            <a:pPr indent="0" marL="0">
              <a:lnSpc>
                <a:spcPct val="125000"/>
              </a:lnSpc>
              <a:buNone/>
            </a:pPr>
            <a:r>
              <a:rPr lang="en-US" sz="1000" dirty="0">
                <a:solidFill>
                  <a:srgbClr val="475569"/>
                </a:solidFill>
                <a:latin typeface="Malgun Gothic" pitchFamily="34" charset="0"/>
                <a:ea typeface="Malgun Gothic" pitchFamily="34" charset="-122"/>
                <a:cs typeface="Malgun Gothic" pitchFamily="34" charset="-120"/>
              </a:rPr>
              <a:t>전담 매니저가 당일 현장에 상주하여 설치, 입·퇴장, 방문객 안내, 돌발 대응, 철수와 정산·결과 보고까지 책임집니다.</a:t>
            </a:r>
            <a:endParaRPr lang="en-US" sz="1000" dirty="0"/>
          </a:p>
        </p:txBody>
      </p:sp>
      <p:sp>
        <p:nvSpPr>
          <p:cNvPr id="22" name="Shape 18"/>
          <p:cNvSpPr/>
          <p:nvPr/>
        </p:nvSpPr>
        <p:spPr>
          <a:xfrm>
            <a:off x="8066837" y="2331720"/>
            <a:ext cx="3484778" cy="1783080"/>
          </a:xfrm>
          <a:prstGeom prst="roundRect">
            <a:avLst>
              <a:gd name="adj" fmla="val 5128"/>
            </a:avLst>
          </a:prstGeom>
          <a:solidFill>
            <a:srgbClr val="FFFFFF"/>
          </a:solidFill>
          <a:ln w="12700">
            <a:solidFill>
              <a:srgbClr val="FFFFFF"/>
            </a:solidFill>
            <a:prstDash val="solid"/>
          </a:ln>
        </p:spPr>
      </p:sp>
      <p:sp>
        <p:nvSpPr>
          <p:cNvPr id="23" name="Shape 19"/>
          <p:cNvSpPr/>
          <p:nvPr/>
        </p:nvSpPr>
        <p:spPr>
          <a:xfrm>
            <a:off x="8341157" y="2606040"/>
            <a:ext cx="502920" cy="502920"/>
          </a:xfrm>
          <a:prstGeom prst="ellipse">
            <a:avLst/>
          </a:prstGeom>
          <a:solidFill>
            <a:srgbClr val="3182F6"/>
          </a:solidFill>
          <a:ln w="12700">
            <a:solidFill>
              <a:srgbClr val="3182F6"/>
            </a:solidFill>
            <a:prstDash val="solid"/>
          </a:ln>
        </p:spPr>
      </p:sp>
      <p:pic>
        <p:nvPicPr>
          <p:cNvPr id="24" name="Image 2" descr="preencoded.png">    </p:cNvPr>
          <p:cNvPicPr>
            <a:picLocks noChangeAspect="1"/>
          </p:cNvPicPr>
          <p:nvPr/>
        </p:nvPicPr>
        <p:blipFill>
          <a:blip r:embed="rId3"/>
          <a:stretch>
            <a:fillRect/>
          </a:stretch>
        </p:blipFill>
        <p:spPr>
          <a:xfrm>
            <a:off x="8466887" y="2731770"/>
            <a:ext cx="251460" cy="251460"/>
          </a:xfrm>
          <a:prstGeom prst="rect">
            <a:avLst/>
          </a:prstGeom>
        </p:spPr>
      </p:pic>
      <p:sp>
        <p:nvSpPr>
          <p:cNvPr id="25" name="Text 20"/>
          <p:cNvSpPr txBox="1"/>
          <p:nvPr/>
        </p:nvSpPr>
        <p:spPr>
          <a:xfrm>
            <a:off x="10728655" y="2587752"/>
            <a:ext cx="548640" cy="274320"/>
          </a:xfrm>
          <a:prstGeom prst="rect">
            <a:avLst/>
          </a:prstGeom>
          <a:noFill/>
          <a:ln/>
        </p:spPr>
        <p:txBody>
          <a:bodyPr wrap="square" lIns="0" tIns="0" rIns="0" bIns="0" rtlCol="0" anchor="t"/>
          <a:lstStyle/>
          <a:p>
            <a:pPr algn="r" indent="0" marL="0">
              <a:buNone/>
            </a:pPr>
            <a:r>
              <a:rPr lang="en-US" sz="1100" b="1" dirty="0">
                <a:solidFill>
                  <a:srgbClr val="D6E4F8"/>
                </a:solidFill>
                <a:latin typeface="Arial Black" pitchFamily="34" charset="0"/>
                <a:ea typeface="Arial Black" pitchFamily="34" charset="-122"/>
                <a:cs typeface="Arial Black" pitchFamily="34" charset="-120"/>
              </a:rPr>
              <a:t>03</a:t>
            </a:r>
            <a:endParaRPr lang="en-US" sz="1100" dirty="0"/>
          </a:p>
        </p:txBody>
      </p:sp>
      <p:sp>
        <p:nvSpPr>
          <p:cNvPr id="26" name="Text 21"/>
          <p:cNvSpPr txBox="1"/>
          <p:nvPr/>
        </p:nvSpPr>
        <p:spPr>
          <a:xfrm>
            <a:off x="8981237" y="2606040"/>
            <a:ext cx="1747418" cy="502920"/>
          </a:xfrm>
          <a:prstGeom prst="rect">
            <a:avLst/>
          </a:prstGeom>
          <a:noFill/>
          <a:ln/>
        </p:spPr>
        <p:txBody>
          <a:bodyPr wrap="square" lIns="0" tIns="0" rIns="0" bIns="0" rtlCol="0" anchor="ctr"/>
          <a:lstStyle/>
          <a:p>
            <a:pPr indent="0" marL="0">
              <a:buNone/>
            </a:pPr>
            <a:r>
              <a:rPr lang="en-US" sz="1500" b="1" dirty="0">
                <a:solidFill>
                  <a:srgbClr val="0F172A"/>
                </a:solidFill>
                <a:latin typeface="Malgun Gothic" pitchFamily="34" charset="0"/>
                <a:ea typeface="Malgun Gothic" pitchFamily="34" charset="-122"/>
                <a:cs typeface="Malgun Gothic" pitchFamily="34" charset="-120"/>
              </a:rPr>
              <a:t>푸드트럭</a:t>
            </a:r>
            <a:endParaRPr lang="en-US" sz="1500" dirty="0"/>
          </a:p>
        </p:txBody>
      </p:sp>
      <p:sp>
        <p:nvSpPr>
          <p:cNvPr id="27" name="Text 22"/>
          <p:cNvSpPr txBox="1"/>
          <p:nvPr/>
        </p:nvSpPr>
        <p:spPr>
          <a:xfrm>
            <a:off x="8341157" y="3246120"/>
            <a:ext cx="2936138" cy="777240"/>
          </a:xfrm>
          <a:prstGeom prst="rect">
            <a:avLst/>
          </a:prstGeom>
          <a:noFill/>
          <a:ln/>
        </p:spPr>
        <p:txBody>
          <a:bodyPr wrap="square" lIns="0" tIns="0" rIns="0" bIns="0" rtlCol="0" anchor="t"/>
          <a:lstStyle/>
          <a:p>
            <a:pPr indent="0" marL="0">
              <a:lnSpc>
                <a:spcPct val="125000"/>
              </a:lnSpc>
              <a:buNone/>
            </a:pPr>
            <a:r>
              <a:rPr lang="en-US" sz="1000" dirty="0">
                <a:solidFill>
                  <a:srgbClr val="475569"/>
                </a:solidFill>
                <a:latin typeface="Malgun Gothic" pitchFamily="34" charset="0"/>
                <a:ea typeface="Malgun Gothic" pitchFamily="34" charset="-122"/>
                <a:cs typeface="Malgun Gothic" pitchFamily="34" charset="-120"/>
              </a:rPr>
              <a:t>100대 이상의 검증된 푸드트럭 DB에서 행사 콘셉트에 맞게 매칭하고 계약·배치·전기·용수까지 관리합니다.</a:t>
            </a:r>
            <a:endParaRPr lang="en-US" sz="1000" dirty="0"/>
          </a:p>
        </p:txBody>
      </p:sp>
      <p:sp>
        <p:nvSpPr>
          <p:cNvPr id="28" name="Shape 23"/>
          <p:cNvSpPr/>
          <p:nvPr/>
        </p:nvSpPr>
        <p:spPr>
          <a:xfrm>
            <a:off x="640080" y="4315968"/>
            <a:ext cx="3484778" cy="1783080"/>
          </a:xfrm>
          <a:prstGeom prst="roundRect">
            <a:avLst>
              <a:gd name="adj" fmla="val 5128"/>
            </a:avLst>
          </a:prstGeom>
          <a:solidFill>
            <a:srgbClr val="FFFFFF"/>
          </a:solidFill>
          <a:ln w="12700">
            <a:solidFill>
              <a:srgbClr val="FFFFFF"/>
            </a:solidFill>
            <a:prstDash val="solid"/>
          </a:ln>
        </p:spPr>
      </p:sp>
      <p:sp>
        <p:nvSpPr>
          <p:cNvPr id="29" name="Shape 24"/>
          <p:cNvSpPr/>
          <p:nvPr/>
        </p:nvSpPr>
        <p:spPr>
          <a:xfrm>
            <a:off x="914400" y="4590288"/>
            <a:ext cx="502920" cy="502920"/>
          </a:xfrm>
          <a:prstGeom prst="ellipse">
            <a:avLst/>
          </a:prstGeom>
          <a:solidFill>
            <a:srgbClr val="3182F6"/>
          </a:solidFill>
          <a:ln w="12700">
            <a:solidFill>
              <a:srgbClr val="3182F6"/>
            </a:solidFill>
            <a:prstDash val="solid"/>
          </a:ln>
        </p:spPr>
      </p:sp>
      <p:pic>
        <p:nvPicPr>
          <p:cNvPr id="30" name="Image 3" descr="preencoded.png">    </p:cNvPr>
          <p:cNvPicPr>
            <a:picLocks noChangeAspect="1"/>
          </p:cNvPicPr>
          <p:nvPr/>
        </p:nvPicPr>
        <p:blipFill>
          <a:blip r:embed="rId4"/>
          <a:stretch>
            <a:fillRect/>
          </a:stretch>
        </p:blipFill>
        <p:spPr>
          <a:xfrm>
            <a:off x="1040130" y="4716018"/>
            <a:ext cx="251460" cy="251460"/>
          </a:xfrm>
          <a:prstGeom prst="rect">
            <a:avLst/>
          </a:prstGeom>
        </p:spPr>
      </p:pic>
      <p:sp>
        <p:nvSpPr>
          <p:cNvPr id="31" name="Text 25"/>
          <p:cNvSpPr txBox="1"/>
          <p:nvPr/>
        </p:nvSpPr>
        <p:spPr>
          <a:xfrm>
            <a:off x="3301898" y="4572000"/>
            <a:ext cx="548640" cy="274320"/>
          </a:xfrm>
          <a:prstGeom prst="rect">
            <a:avLst/>
          </a:prstGeom>
          <a:noFill/>
          <a:ln/>
        </p:spPr>
        <p:txBody>
          <a:bodyPr wrap="square" lIns="0" tIns="0" rIns="0" bIns="0" rtlCol="0" anchor="t"/>
          <a:lstStyle/>
          <a:p>
            <a:pPr algn="r" indent="0" marL="0">
              <a:buNone/>
            </a:pPr>
            <a:r>
              <a:rPr lang="en-US" sz="1100" b="1" dirty="0">
                <a:solidFill>
                  <a:srgbClr val="D6E4F8"/>
                </a:solidFill>
                <a:latin typeface="Arial Black" pitchFamily="34" charset="0"/>
                <a:ea typeface="Arial Black" pitchFamily="34" charset="-122"/>
                <a:cs typeface="Arial Black" pitchFamily="34" charset="-120"/>
              </a:rPr>
              <a:t>04</a:t>
            </a:r>
            <a:endParaRPr lang="en-US" sz="1100" dirty="0"/>
          </a:p>
        </p:txBody>
      </p:sp>
      <p:sp>
        <p:nvSpPr>
          <p:cNvPr id="32" name="Text 26"/>
          <p:cNvSpPr txBox="1"/>
          <p:nvPr/>
        </p:nvSpPr>
        <p:spPr>
          <a:xfrm>
            <a:off x="1554480" y="4590288"/>
            <a:ext cx="1747418" cy="502920"/>
          </a:xfrm>
          <a:prstGeom prst="rect">
            <a:avLst/>
          </a:prstGeom>
          <a:noFill/>
          <a:ln/>
        </p:spPr>
        <p:txBody>
          <a:bodyPr wrap="square" lIns="0" tIns="0" rIns="0" bIns="0" rtlCol="0" anchor="ctr"/>
          <a:lstStyle/>
          <a:p>
            <a:pPr indent="0" marL="0">
              <a:buNone/>
            </a:pPr>
            <a:r>
              <a:rPr lang="en-US" sz="1500" b="1" dirty="0">
                <a:solidFill>
                  <a:srgbClr val="0F172A"/>
                </a:solidFill>
                <a:latin typeface="Malgun Gothic" pitchFamily="34" charset="0"/>
                <a:ea typeface="Malgun Gothic" pitchFamily="34" charset="-122"/>
                <a:cs typeface="Malgun Gothic" pitchFamily="34" charset="-120"/>
              </a:rPr>
              <a:t>체험부스</a:t>
            </a:r>
            <a:endParaRPr lang="en-US" sz="1500" dirty="0"/>
          </a:p>
        </p:txBody>
      </p:sp>
      <p:sp>
        <p:nvSpPr>
          <p:cNvPr id="33" name="Text 27"/>
          <p:cNvSpPr txBox="1"/>
          <p:nvPr/>
        </p:nvSpPr>
        <p:spPr>
          <a:xfrm>
            <a:off x="914400" y="5230368"/>
            <a:ext cx="2936138" cy="777240"/>
          </a:xfrm>
          <a:prstGeom prst="rect">
            <a:avLst/>
          </a:prstGeom>
          <a:noFill/>
          <a:ln/>
        </p:spPr>
        <p:txBody>
          <a:bodyPr wrap="square" lIns="0" tIns="0" rIns="0" bIns="0" rtlCol="0" anchor="t"/>
          <a:lstStyle/>
          <a:p>
            <a:pPr indent="0" marL="0">
              <a:lnSpc>
                <a:spcPct val="125000"/>
              </a:lnSpc>
              <a:buNone/>
            </a:pPr>
            <a:r>
              <a:rPr lang="en-US" sz="1000" dirty="0">
                <a:solidFill>
                  <a:srgbClr val="475569"/>
                </a:solidFill>
                <a:latin typeface="Malgun Gothic" pitchFamily="34" charset="0"/>
                <a:ea typeface="Malgun Gothic" pitchFamily="34" charset="-122"/>
                <a:cs typeface="Malgun Gothic" pitchFamily="34" charset="-120"/>
              </a:rPr>
              <a:t>석고방향제·에코백·키링 만들기, 페이스페인팅 등 체험 프로그램을 재료·운영 인력까지 포함해 직접 운영합니다.</a:t>
            </a:r>
            <a:endParaRPr lang="en-US" sz="1000" dirty="0"/>
          </a:p>
        </p:txBody>
      </p:sp>
      <p:sp>
        <p:nvSpPr>
          <p:cNvPr id="34" name="Shape 28"/>
          <p:cNvSpPr/>
          <p:nvPr/>
        </p:nvSpPr>
        <p:spPr>
          <a:xfrm>
            <a:off x="4353458" y="4315968"/>
            <a:ext cx="3484778" cy="1783080"/>
          </a:xfrm>
          <a:prstGeom prst="roundRect">
            <a:avLst>
              <a:gd name="adj" fmla="val 5128"/>
            </a:avLst>
          </a:prstGeom>
          <a:solidFill>
            <a:srgbClr val="FFFFFF"/>
          </a:solidFill>
          <a:ln w="12700">
            <a:solidFill>
              <a:srgbClr val="FFFFFF"/>
            </a:solidFill>
            <a:prstDash val="solid"/>
          </a:ln>
        </p:spPr>
      </p:sp>
      <p:sp>
        <p:nvSpPr>
          <p:cNvPr id="35" name="Shape 29"/>
          <p:cNvSpPr/>
          <p:nvPr/>
        </p:nvSpPr>
        <p:spPr>
          <a:xfrm>
            <a:off x="4627778" y="4590288"/>
            <a:ext cx="502920" cy="502920"/>
          </a:xfrm>
          <a:prstGeom prst="ellipse">
            <a:avLst/>
          </a:prstGeom>
          <a:solidFill>
            <a:srgbClr val="3182F6"/>
          </a:solidFill>
          <a:ln w="12700">
            <a:solidFill>
              <a:srgbClr val="3182F6"/>
            </a:solidFill>
            <a:prstDash val="solid"/>
          </a:ln>
        </p:spPr>
      </p:sp>
      <p:pic>
        <p:nvPicPr>
          <p:cNvPr id="36" name="Image 4" descr="preencoded.png">    </p:cNvPr>
          <p:cNvPicPr>
            <a:picLocks noChangeAspect="1"/>
          </p:cNvPicPr>
          <p:nvPr/>
        </p:nvPicPr>
        <p:blipFill>
          <a:blip r:embed="rId5"/>
          <a:stretch>
            <a:fillRect/>
          </a:stretch>
        </p:blipFill>
        <p:spPr>
          <a:xfrm>
            <a:off x="4753508" y="4716018"/>
            <a:ext cx="251460" cy="251460"/>
          </a:xfrm>
          <a:prstGeom prst="rect">
            <a:avLst/>
          </a:prstGeom>
        </p:spPr>
      </p:pic>
      <p:sp>
        <p:nvSpPr>
          <p:cNvPr id="37" name="Text 30"/>
          <p:cNvSpPr txBox="1"/>
          <p:nvPr/>
        </p:nvSpPr>
        <p:spPr>
          <a:xfrm>
            <a:off x="7015277" y="4572000"/>
            <a:ext cx="548640" cy="274320"/>
          </a:xfrm>
          <a:prstGeom prst="rect">
            <a:avLst/>
          </a:prstGeom>
          <a:noFill/>
          <a:ln/>
        </p:spPr>
        <p:txBody>
          <a:bodyPr wrap="square" lIns="0" tIns="0" rIns="0" bIns="0" rtlCol="0" anchor="t"/>
          <a:lstStyle/>
          <a:p>
            <a:pPr algn="r" indent="0" marL="0">
              <a:buNone/>
            </a:pPr>
            <a:r>
              <a:rPr lang="en-US" sz="1100" b="1" dirty="0">
                <a:solidFill>
                  <a:srgbClr val="D6E4F8"/>
                </a:solidFill>
                <a:latin typeface="Arial Black" pitchFamily="34" charset="0"/>
                <a:ea typeface="Arial Black" pitchFamily="34" charset="-122"/>
                <a:cs typeface="Arial Black" pitchFamily="34" charset="-120"/>
              </a:rPr>
              <a:t>05</a:t>
            </a:r>
            <a:endParaRPr lang="en-US" sz="1100" dirty="0"/>
          </a:p>
        </p:txBody>
      </p:sp>
      <p:sp>
        <p:nvSpPr>
          <p:cNvPr id="38" name="Text 31"/>
          <p:cNvSpPr txBox="1"/>
          <p:nvPr/>
        </p:nvSpPr>
        <p:spPr>
          <a:xfrm>
            <a:off x="5267858" y="4590288"/>
            <a:ext cx="1747418" cy="502920"/>
          </a:xfrm>
          <a:prstGeom prst="rect">
            <a:avLst/>
          </a:prstGeom>
          <a:noFill/>
          <a:ln/>
        </p:spPr>
        <p:txBody>
          <a:bodyPr wrap="square" lIns="0" tIns="0" rIns="0" bIns="0" rtlCol="0" anchor="ctr"/>
          <a:lstStyle/>
          <a:p>
            <a:pPr indent="0" marL="0">
              <a:buNone/>
            </a:pPr>
            <a:r>
              <a:rPr lang="en-US" sz="1500" b="1" dirty="0">
                <a:solidFill>
                  <a:srgbClr val="0F172A"/>
                </a:solidFill>
                <a:latin typeface="Malgun Gothic" pitchFamily="34" charset="0"/>
                <a:ea typeface="Malgun Gothic" pitchFamily="34" charset="-122"/>
                <a:cs typeface="Malgun Gothic" pitchFamily="34" charset="-120"/>
              </a:rPr>
              <a:t>플리마켓</a:t>
            </a:r>
            <a:endParaRPr lang="en-US" sz="1500" dirty="0"/>
          </a:p>
        </p:txBody>
      </p:sp>
      <p:sp>
        <p:nvSpPr>
          <p:cNvPr id="39" name="Text 32"/>
          <p:cNvSpPr txBox="1"/>
          <p:nvPr/>
        </p:nvSpPr>
        <p:spPr>
          <a:xfrm>
            <a:off x="4627778" y="5230368"/>
            <a:ext cx="2936138" cy="777240"/>
          </a:xfrm>
          <a:prstGeom prst="rect">
            <a:avLst/>
          </a:prstGeom>
          <a:noFill/>
          <a:ln/>
        </p:spPr>
        <p:txBody>
          <a:bodyPr wrap="square" lIns="0" tIns="0" rIns="0" bIns="0" rtlCol="0" anchor="t"/>
          <a:lstStyle/>
          <a:p>
            <a:pPr indent="0" marL="0">
              <a:lnSpc>
                <a:spcPct val="125000"/>
              </a:lnSpc>
              <a:buNone/>
            </a:pPr>
            <a:r>
              <a:rPr lang="en-US" sz="1000" dirty="0">
                <a:solidFill>
                  <a:srgbClr val="475569"/>
                </a:solidFill>
                <a:latin typeface="Malgun Gothic" pitchFamily="34" charset="0"/>
                <a:ea typeface="Malgun Gothic" pitchFamily="34" charset="-122"/>
                <a:cs typeface="Malgun Gothic" pitchFamily="34" charset="-120"/>
              </a:rPr>
              <a:t>플릿 플랫폼의 리뷰·참가 이력으로 검증된 셀러를 선발하고, 품목 중복 없이 배치해 마켓 존을 운영합니다.</a:t>
            </a:r>
            <a:endParaRPr lang="en-US" sz="1000" dirty="0"/>
          </a:p>
        </p:txBody>
      </p:sp>
      <p:sp>
        <p:nvSpPr>
          <p:cNvPr id="40" name="Shape 33"/>
          <p:cNvSpPr/>
          <p:nvPr/>
        </p:nvSpPr>
        <p:spPr>
          <a:xfrm>
            <a:off x="8066837" y="4315968"/>
            <a:ext cx="3484778" cy="1783080"/>
          </a:xfrm>
          <a:prstGeom prst="roundRect">
            <a:avLst>
              <a:gd name="adj" fmla="val 5128"/>
            </a:avLst>
          </a:prstGeom>
          <a:solidFill>
            <a:srgbClr val="FFFFFF"/>
          </a:solidFill>
          <a:ln w="12700">
            <a:solidFill>
              <a:srgbClr val="FFFFFF"/>
            </a:solidFill>
            <a:prstDash val="solid"/>
          </a:ln>
        </p:spPr>
      </p:sp>
      <p:sp>
        <p:nvSpPr>
          <p:cNvPr id="41" name="Shape 34"/>
          <p:cNvSpPr/>
          <p:nvPr/>
        </p:nvSpPr>
        <p:spPr>
          <a:xfrm>
            <a:off x="8341157" y="4590288"/>
            <a:ext cx="502920" cy="502920"/>
          </a:xfrm>
          <a:prstGeom prst="ellipse">
            <a:avLst/>
          </a:prstGeom>
          <a:solidFill>
            <a:srgbClr val="3182F6"/>
          </a:solidFill>
          <a:ln w="12700">
            <a:solidFill>
              <a:srgbClr val="3182F6"/>
            </a:solidFill>
            <a:prstDash val="solid"/>
          </a:ln>
        </p:spPr>
      </p:sp>
      <p:pic>
        <p:nvPicPr>
          <p:cNvPr id="42" name="Image 5" descr="preencoded.png">    </p:cNvPr>
          <p:cNvPicPr>
            <a:picLocks noChangeAspect="1"/>
          </p:cNvPicPr>
          <p:nvPr/>
        </p:nvPicPr>
        <p:blipFill>
          <a:blip r:embed="rId6"/>
          <a:stretch>
            <a:fillRect/>
          </a:stretch>
        </p:blipFill>
        <p:spPr>
          <a:xfrm>
            <a:off x="8466887" y="4716018"/>
            <a:ext cx="251460" cy="251460"/>
          </a:xfrm>
          <a:prstGeom prst="rect">
            <a:avLst/>
          </a:prstGeom>
        </p:spPr>
      </p:pic>
      <p:sp>
        <p:nvSpPr>
          <p:cNvPr id="43" name="Text 35"/>
          <p:cNvSpPr txBox="1"/>
          <p:nvPr/>
        </p:nvSpPr>
        <p:spPr>
          <a:xfrm>
            <a:off x="10728655" y="4572000"/>
            <a:ext cx="548640" cy="274320"/>
          </a:xfrm>
          <a:prstGeom prst="rect">
            <a:avLst/>
          </a:prstGeom>
          <a:noFill/>
          <a:ln/>
        </p:spPr>
        <p:txBody>
          <a:bodyPr wrap="square" lIns="0" tIns="0" rIns="0" bIns="0" rtlCol="0" anchor="t"/>
          <a:lstStyle/>
          <a:p>
            <a:pPr algn="r" indent="0" marL="0">
              <a:buNone/>
            </a:pPr>
            <a:r>
              <a:rPr lang="en-US" sz="1100" b="1" dirty="0">
                <a:solidFill>
                  <a:srgbClr val="D6E4F8"/>
                </a:solidFill>
                <a:latin typeface="Arial Black" pitchFamily="34" charset="0"/>
                <a:ea typeface="Arial Black" pitchFamily="34" charset="-122"/>
                <a:cs typeface="Arial Black" pitchFamily="34" charset="-120"/>
              </a:rPr>
              <a:t>06</a:t>
            </a:r>
            <a:endParaRPr lang="en-US" sz="1100" dirty="0"/>
          </a:p>
        </p:txBody>
      </p:sp>
      <p:sp>
        <p:nvSpPr>
          <p:cNvPr id="44" name="Text 36"/>
          <p:cNvSpPr txBox="1"/>
          <p:nvPr/>
        </p:nvSpPr>
        <p:spPr>
          <a:xfrm>
            <a:off x="8981237" y="4590288"/>
            <a:ext cx="1747418" cy="502920"/>
          </a:xfrm>
          <a:prstGeom prst="rect">
            <a:avLst/>
          </a:prstGeom>
          <a:noFill/>
          <a:ln/>
        </p:spPr>
        <p:txBody>
          <a:bodyPr wrap="square" lIns="0" tIns="0" rIns="0" bIns="0" rtlCol="0" anchor="ctr"/>
          <a:lstStyle/>
          <a:p>
            <a:pPr indent="0" marL="0">
              <a:buNone/>
            </a:pPr>
            <a:r>
              <a:rPr lang="en-US" sz="1500" b="1" dirty="0">
                <a:solidFill>
                  <a:srgbClr val="0F172A"/>
                </a:solidFill>
                <a:latin typeface="Malgun Gothic" pitchFamily="34" charset="0"/>
                <a:ea typeface="Malgun Gothic" pitchFamily="34" charset="-122"/>
                <a:cs typeface="Malgun Gothic" pitchFamily="34" charset="-120"/>
              </a:rPr>
              <a:t>무대공연</a:t>
            </a:r>
            <a:endParaRPr lang="en-US" sz="1500" dirty="0"/>
          </a:p>
        </p:txBody>
      </p:sp>
      <p:sp>
        <p:nvSpPr>
          <p:cNvPr id="45" name="Text 37"/>
          <p:cNvSpPr txBox="1"/>
          <p:nvPr/>
        </p:nvSpPr>
        <p:spPr>
          <a:xfrm>
            <a:off x="8341157" y="5230368"/>
            <a:ext cx="2936138" cy="777240"/>
          </a:xfrm>
          <a:prstGeom prst="rect">
            <a:avLst/>
          </a:prstGeom>
          <a:noFill/>
          <a:ln/>
        </p:spPr>
        <p:txBody>
          <a:bodyPr wrap="square" lIns="0" tIns="0" rIns="0" bIns="0" rtlCol="0" anchor="t"/>
          <a:lstStyle/>
          <a:p>
            <a:pPr indent="0" marL="0">
              <a:lnSpc>
                <a:spcPct val="125000"/>
              </a:lnSpc>
              <a:buNone/>
            </a:pPr>
            <a:r>
              <a:rPr lang="en-US" sz="1000" dirty="0">
                <a:solidFill>
                  <a:srgbClr val="475569"/>
                </a:solidFill>
                <a:latin typeface="Malgun Gothic" pitchFamily="34" charset="0"/>
                <a:ea typeface="Malgun Gothic" pitchFamily="34" charset="-122"/>
                <a:cs typeface="Malgun Gothic" pitchFamily="34" charset="-120"/>
              </a:rPr>
              <a:t>이동식 무대·음향·조명을 설치하고 버스킹·밴드·공연팀을 섭외하여 행사의 메인 프로그램을 구성합니다.</a:t>
            </a:r>
            <a:endParaRPr lang="en-US" sz="1000" dirty="0"/>
          </a:p>
        </p:txBody>
      </p:sp>
      <p:sp>
        <p:nvSpPr>
          <p:cNvPr id="46" name="Shape 38"/>
          <p:cNvSpPr/>
          <p:nvPr/>
        </p:nvSpPr>
        <p:spPr>
          <a:xfrm>
            <a:off x="640080" y="6263640"/>
            <a:ext cx="10911535" cy="0"/>
          </a:xfrm>
          <a:prstGeom prst="roundRect">
            <a:avLst>
              <a:gd name="adj" fmla="val Infinity"/>
            </a:avLst>
          </a:prstGeom>
          <a:solidFill>
            <a:srgbClr val="0B1F44"/>
          </a:solidFill>
          <a:ln w="12700">
            <a:solidFill>
              <a:srgbClr val="0B1F44"/>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F44"/>
        </a:solidFill>
      </p:bgPr>
    </p:bg>
    <p:spTree>
      <p:nvGrpSpPr>
        <p:cNvPr id="1" name=""/>
        <p:cNvGrpSpPr/>
        <p:nvPr/>
      </p:nvGrpSpPr>
      <p:grpSpPr>
        <a:xfrm>
          <a:off x="0" y="0"/>
          <a:ext cx="0" cy="0"/>
          <a:chOff x="0" y="0"/>
          <a:chExt cx="0" cy="0"/>
        </a:xfrm>
      </p:grpSpPr>
      <p:sp>
        <p:nvSpPr>
          <p:cNvPr id="2" name="Shape 0"/>
          <p:cNvSpPr/>
          <p:nvPr/>
        </p:nvSpPr>
        <p:spPr>
          <a:xfrm>
            <a:off x="9265615" y="-2377440"/>
            <a:ext cx="5120640" cy="5120640"/>
          </a:xfrm>
          <a:prstGeom prst="ellipse">
            <a:avLst/>
          </a:prstGeom>
          <a:solidFill>
            <a:srgbClr val="12305F"/>
          </a:solidFill>
          <a:ln w="12700">
            <a:solidFill>
              <a:srgbClr val="12305F"/>
            </a:solidFill>
            <a:prstDash val="solid"/>
          </a:ln>
        </p:spPr>
      </p:sp>
      <p:sp>
        <p:nvSpPr>
          <p:cNvPr id="3" name="Shape 1"/>
          <p:cNvSpPr/>
          <p:nvPr/>
        </p:nvSpPr>
        <p:spPr>
          <a:xfrm>
            <a:off x="-1645920" y="5029200"/>
            <a:ext cx="3657600" cy="3657600"/>
          </a:xfrm>
          <a:prstGeom prst="ellipse">
            <a:avLst/>
          </a:prstGeom>
          <a:solidFill>
            <a:srgbClr val="12305F"/>
          </a:solidFill>
          <a:ln w="12700">
            <a:solidFill>
              <a:srgbClr val="12305F"/>
            </a:solidFill>
            <a:prstDash val="solid"/>
          </a:ln>
        </p:spPr>
      </p:sp>
      <p:sp>
        <p:nvSpPr>
          <p:cNvPr id="4" name="Text 2"/>
          <p:cNvSpPr txBox="1"/>
          <p:nvPr/>
        </p:nvSpPr>
        <p:spPr>
          <a:xfrm>
            <a:off x="640080" y="384048"/>
            <a:ext cx="1155700" cy="266700"/>
          </a:xfrm>
          <a:prstGeom prst="rect">
            <a:avLst/>
          </a:prstGeom>
          <a:noFill/>
          <a:ln/>
        </p:spPr>
        <p:txBody>
          <a:bodyPr wrap="square" lIns="0" tIns="0" rIns="0" bIns="0" rtlCol="0" anchor="ctr"/>
          <a:lstStyle/>
          <a:p>
            <a:pPr indent="0" marL="0">
              <a:buNone/>
            </a:pPr>
            <a:r>
              <a:rPr lang="en-US" sz="1400" b="1" dirty="0">
                <a:solidFill>
                  <a:srgbClr val="3182F6"/>
                </a:solidFill>
                <a:latin typeface="Arial Black" pitchFamily="34" charset="0"/>
                <a:ea typeface="Arial Black" pitchFamily="34" charset="-122"/>
                <a:cs typeface="Arial Black" pitchFamily="34" charset="-120"/>
              </a:rPr>
              <a:t>Flit</a:t>
            </a:r>
            <a:pPr indent="0" marL="0">
              <a:buNone/>
            </a:pPr>
            <a:r>
              <a:rPr lang="en-US" sz="1400" b="1" dirty="0">
                <a:solidFill>
                  <a:srgbClr val="FFFFFF"/>
                </a:solidFill>
                <a:latin typeface="Arial Black" pitchFamily="34" charset="0"/>
                <a:ea typeface="Arial Black" pitchFamily="34" charset="-122"/>
                <a:cs typeface="Arial Black" pitchFamily="34" charset="-120"/>
              </a:rPr>
              <a:t>Union</a:t>
            </a:r>
            <a:endParaRPr lang="en-US" sz="1400" dirty="0"/>
          </a:p>
        </p:txBody>
      </p:sp>
      <p:sp>
        <p:nvSpPr>
          <p:cNvPr id="5" name="Text 3"/>
          <p:cNvSpPr txBox="1"/>
          <p:nvPr/>
        </p:nvSpPr>
        <p:spPr>
          <a:xfrm>
            <a:off x="640080" y="868680"/>
            <a:ext cx="5486400" cy="274320"/>
          </a:xfrm>
          <a:prstGeom prst="rect">
            <a:avLst/>
          </a:prstGeom>
          <a:noFill/>
          <a:ln/>
        </p:spPr>
        <p:txBody>
          <a:bodyPr wrap="square" lIns="0" tIns="0" rIns="0" bIns="0" rtlCol="0" anchor="t"/>
          <a:lstStyle/>
          <a:p>
            <a:pPr indent="0" marL="0">
              <a:buNone/>
            </a:pPr>
            <a:r>
              <a:rPr lang="en-US" sz="1100" b="1" spc="300" kern="0" dirty="0">
                <a:solidFill>
                  <a:srgbClr val="93C5FD"/>
                </a:solidFill>
                <a:latin typeface="Malgun Gothic" pitchFamily="34" charset="0"/>
                <a:ea typeface="Malgun Gothic" pitchFamily="34" charset="-122"/>
                <a:cs typeface="Malgun Gothic" pitchFamily="34" charset="-120"/>
              </a:rPr>
              <a:t>04  SERVICES</a:t>
            </a:r>
            <a:endParaRPr lang="en-US" sz="1100" dirty="0"/>
          </a:p>
        </p:txBody>
      </p:sp>
      <p:sp>
        <p:nvSpPr>
          <p:cNvPr id="6" name="Text 4"/>
          <p:cNvSpPr txBox="1"/>
          <p:nvPr/>
        </p:nvSpPr>
        <p:spPr>
          <a:xfrm>
            <a:off x="640080" y="1143000"/>
            <a:ext cx="10911535" cy="594360"/>
          </a:xfrm>
          <a:prstGeom prst="rect">
            <a:avLst/>
          </a:prstGeom>
          <a:noFill/>
          <a:ln/>
        </p:spPr>
        <p:txBody>
          <a:bodyPr wrap="square" lIns="0" tIns="0" rIns="0" bIns="0" rtlCol="0" anchor="t"/>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서비스 구성</a:t>
            </a:r>
            <a:endParaRPr lang="en-US" sz="2800" dirty="0"/>
          </a:p>
        </p:txBody>
      </p:sp>
      <p:sp>
        <p:nvSpPr>
          <p:cNvPr id="7" name="Text 5"/>
          <p:cNvSpPr txBox="1"/>
          <p:nvPr/>
        </p:nvSpPr>
        <p:spPr>
          <a:xfrm>
            <a:off x="640080" y="1737360"/>
            <a:ext cx="10911535" cy="411480"/>
          </a:xfrm>
          <a:prstGeom prst="rect">
            <a:avLst/>
          </a:prstGeom>
          <a:noFill/>
          <a:ln/>
        </p:spPr>
        <p:txBody>
          <a:bodyPr wrap="square" lIns="0" tIns="0" rIns="0" bIns="0" rtlCol="0" anchor="t"/>
          <a:lstStyle/>
          <a:p>
            <a:pPr indent="0" marL="0">
              <a:buNone/>
            </a:pPr>
            <a:r>
              <a:rPr lang="en-US" sz="1300" dirty="0">
                <a:solidFill>
                  <a:srgbClr val="D6E4F8"/>
                </a:solidFill>
                <a:latin typeface="Malgun Gothic" pitchFamily="34" charset="0"/>
                <a:ea typeface="Malgun Gothic" pitchFamily="34" charset="-122"/>
                <a:cs typeface="Malgun Gothic" pitchFamily="34" charset="-120"/>
              </a:rPr>
              <a:t>종합 대행 1종과 개별 서비스 7종으로 구성되며, 필요한 영역만 단독으로 의뢰하실 수 있습니다.</a:t>
            </a:r>
            <a:endParaRPr lang="en-US" sz="1300" dirty="0"/>
          </a:p>
        </p:txBody>
      </p:sp>
      <p:sp>
        <p:nvSpPr>
          <p:cNvPr id="8" name="Text 6"/>
          <p:cNvSpPr txBox="1"/>
          <p:nvPr/>
        </p:nvSpPr>
        <p:spPr>
          <a:xfrm>
            <a:off x="640080" y="6400800"/>
            <a:ext cx="3657600" cy="228600"/>
          </a:xfrm>
          <a:prstGeom prst="rect">
            <a:avLst/>
          </a:prstGeom>
          <a:noFill/>
          <a:ln/>
        </p:spPr>
        <p:txBody>
          <a:bodyPr wrap="square" lIns="0" tIns="0" rIns="0" bIns="0" rtlCol="0" anchor="t"/>
          <a:lstStyle/>
          <a:p>
            <a:pPr indent="0" marL="0">
              <a:buNone/>
            </a:pPr>
            <a:r>
              <a:rPr lang="en-US" sz="900" dirty="0">
                <a:solidFill>
                  <a:srgbClr val="94A3B8"/>
                </a:solidFill>
                <a:latin typeface="Malgun Gothic" pitchFamily="34" charset="0"/>
                <a:ea typeface="Malgun Gothic" pitchFamily="34" charset="-122"/>
                <a:cs typeface="Malgun Gothic" pitchFamily="34" charset="-120"/>
              </a:rPr>
              <a:t>플릿 유니온 회사소개서</a:t>
            </a:r>
            <a:endParaRPr lang="en-US" sz="900" dirty="0"/>
          </a:p>
        </p:txBody>
      </p:sp>
      <p:sp>
        <p:nvSpPr>
          <p:cNvPr id="9" name="Text 7"/>
          <p:cNvSpPr txBox="1"/>
          <p:nvPr/>
        </p:nvSpPr>
        <p:spPr>
          <a:xfrm>
            <a:off x="10637215" y="6400800"/>
            <a:ext cx="914400" cy="228600"/>
          </a:xfrm>
          <a:prstGeom prst="rect">
            <a:avLst/>
          </a:prstGeom>
          <a:noFill/>
          <a:ln/>
        </p:spPr>
        <p:txBody>
          <a:bodyPr wrap="square" lIns="0" tIns="0" rIns="0" bIns="0" rtlCol="0" anchor="t"/>
          <a:lstStyle/>
          <a:p>
            <a:pPr algn="r" indent="0" marL="0">
              <a:buNone/>
            </a:pPr>
            <a:r>
              <a:rPr lang="en-US" sz="900" dirty="0">
                <a:solidFill>
                  <a:srgbClr val="94A3B8"/>
                </a:solidFill>
                <a:latin typeface="Malgun Gothic" pitchFamily="34" charset="0"/>
                <a:ea typeface="Malgun Gothic" pitchFamily="34" charset="-122"/>
                <a:cs typeface="Malgun Gothic" pitchFamily="34" charset="-120"/>
              </a:rPr>
              <a:t>07</a:t>
            </a:r>
            <a:endParaRPr lang="en-US" sz="900" dirty="0"/>
          </a:p>
        </p:txBody>
      </p:sp>
      <p:sp>
        <p:nvSpPr>
          <p:cNvPr id="10" name="Shape 8"/>
          <p:cNvSpPr/>
          <p:nvPr/>
        </p:nvSpPr>
        <p:spPr>
          <a:xfrm>
            <a:off x="640080" y="2194560"/>
            <a:ext cx="10911535" cy="868680"/>
          </a:xfrm>
          <a:prstGeom prst="roundRect">
            <a:avLst>
              <a:gd name="adj" fmla="val 10526"/>
            </a:avLst>
          </a:prstGeom>
          <a:solidFill>
            <a:srgbClr val="3182F6"/>
          </a:solidFill>
          <a:ln w="12700">
            <a:solidFill>
              <a:srgbClr val="3182F6"/>
            </a:solidFill>
            <a:prstDash val="solid"/>
          </a:ln>
        </p:spPr>
      </p:sp>
      <p:sp>
        <p:nvSpPr>
          <p:cNvPr id="11" name="Shape 9"/>
          <p:cNvSpPr/>
          <p:nvPr/>
        </p:nvSpPr>
        <p:spPr>
          <a:xfrm>
            <a:off x="914400" y="2354580"/>
            <a:ext cx="548640" cy="548640"/>
          </a:xfrm>
          <a:prstGeom prst="ellipse">
            <a:avLst/>
          </a:prstGeom>
          <a:solidFill>
            <a:srgbClr val="FFFFFF"/>
          </a:solidFill>
          <a:ln w="12700">
            <a:solidFill>
              <a:srgbClr val="FFFFFF"/>
            </a:solidFill>
            <a:prstDash val="solid"/>
          </a:ln>
        </p:spPr>
      </p:sp>
      <p:pic>
        <p:nvPicPr>
          <p:cNvPr id="12" name="Image 0" descr="preencoded.png">    </p:cNvPr>
          <p:cNvPicPr>
            <a:picLocks noChangeAspect="1"/>
          </p:cNvPicPr>
          <p:nvPr/>
        </p:nvPicPr>
        <p:blipFill>
          <a:blip r:embed="rId1"/>
          <a:stretch>
            <a:fillRect/>
          </a:stretch>
        </p:blipFill>
        <p:spPr>
          <a:xfrm>
            <a:off x="1051560" y="2491740"/>
            <a:ext cx="274320" cy="274320"/>
          </a:xfrm>
          <a:prstGeom prst="rect">
            <a:avLst/>
          </a:prstGeom>
        </p:spPr>
      </p:pic>
      <p:sp>
        <p:nvSpPr>
          <p:cNvPr id="13" name="Text 10"/>
          <p:cNvSpPr txBox="1"/>
          <p:nvPr/>
        </p:nvSpPr>
        <p:spPr>
          <a:xfrm>
            <a:off x="1645920" y="2322576"/>
            <a:ext cx="3657600" cy="237744"/>
          </a:xfrm>
          <a:prstGeom prst="rect">
            <a:avLst/>
          </a:prstGeom>
          <a:noFill/>
          <a:ln/>
        </p:spPr>
        <p:txBody>
          <a:bodyPr wrap="square" lIns="0" tIns="0" rIns="0" bIns="0" rtlCol="0" anchor="t"/>
          <a:lstStyle/>
          <a:p>
            <a:pPr indent="0" marL="0">
              <a:buNone/>
            </a:pPr>
            <a:r>
              <a:rPr lang="en-US" sz="900" b="1" spc="200" kern="0" dirty="0">
                <a:solidFill>
                  <a:srgbClr val="D6E4F8"/>
                </a:solidFill>
                <a:latin typeface="Malgun Gothic" pitchFamily="34" charset="0"/>
                <a:ea typeface="Malgun Gothic" pitchFamily="34" charset="-122"/>
                <a:cs typeface="Malgun Gothic" pitchFamily="34" charset="-120"/>
              </a:rPr>
              <a:t>종합 대행</a:t>
            </a:r>
            <a:endParaRPr lang="en-US" sz="900" dirty="0"/>
          </a:p>
        </p:txBody>
      </p:sp>
      <p:sp>
        <p:nvSpPr>
          <p:cNvPr id="14" name="Text 11"/>
          <p:cNvSpPr txBox="1"/>
          <p:nvPr/>
        </p:nvSpPr>
        <p:spPr>
          <a:xfrm>
            <a:off x="1645920" y="2560320"/>
            <a:ext cx="4572000" cy="365760"/>
          </a:xfrm>
          <a:prstGeom prst="rect">
            <a:avLst/>
          </a:prstGeom>
          <a:noFill/>
          <a:ln/>
        </p:spPr>
        <p:txBody>
          <a:bodyPr wrap="square" lIns="0" tIns="0" rIns="0" bIns="0" rtlCol="0" anchor="t"/>
          <a:lstStyle/>
          <a:p>
            <a:pPr indent="0" marL="0">
              <a:buNone/>
            </a:pPr>
            <a:r>
              <a:rPr lang="en-US" sz="1700" b="1" dirty="0">
                <a:solidFill>
                  <a:srgbClr val="FFFFFF"/>
                </a:solidFill>
                <a:latin typeface="Malgun Gothic" pitchFamily="34" charset="0"/>
                <a:ea typeface="Malgun Gothic" pitchFamily="34" charset="-122"/>
                <a:cs typeface="Malgun Gothic" pitchFamily="34" charset="-120"/>
              </a:rPr>
              <a:t>행사 기획·운영 대행</a:t>
            </a:r>
            <a:endParaRPr lang="en-US" sz="1700" dirty="0"/>
          </a:p>
        </p:txBody>
      </p:sp>
      <p:sp>
        <p:nvSpPr>
          <p:cNvPr id="15" name="Text 12"/>
          <p:cNvSpPr txBox="1"/>
          <p:nvPr/>
        </p:nvSpPr>
        <p:spPr>
          <a:xfrm>
            <a:off x="6400800" y="2194560"/>
            <a:ext cx="4876495" cy="868680"/>
          </a:xfrm>
          <a:prstGeom prst="rect">
            <a:avLst/>
          </a:prstGeom>
          <a:noFill/>
          <a:ln/>
        </p:spPr>
        <p:txBody>
          <a:bodyPr wrap="square" lIns="0" tIns="0" rIns="0" bIns="0" rtlCol="0" anchor="ctr"/>
          <a:lstStyle/>
          <a:p>
            <a:pPr algn="r" indent="0" marL="0">
              <a:buNone/>
            </a:pPr>
            <a:r>
              <a:rPr lang="en-US" sz="1150" dirty="0">
                <a:solidFill>
                  <a:srgbClr val="FFFFFF"/>
                </a:solidFill>
                <a:latin typeface="Malgun Gothic" pitchFamily="34" charset="0"/>
                <a:ea typeface="Malgun Gothic" pitchFamily="34" charset="-122"/>
                <a:cs typeface="Malgun Gothic" pitchFamily="34" charset="-120"/>
              </a:rPr>
              <a:t>기획 · 운영 · 푸드트럭 · 체험부스 · 플리마켓 · 무대공연을 창구 하나로</a:t>
            </a:r>
            <a:endParaRPr lang="en-US" sz="1150" dirty="0"/>
          </a:p>
        </p:txBody>
      </p:sp>
      <p:sp>
        <p:nvSpPr>
          <p:cNvPr id="16" name="Shape 13"/>
          <p:cNvSpPr/>
          <p:nvPr/>
        </p:nvSpPr>
        <p:spPr>
          <a:xfrm>
            <a:off x="640080" y="3246120"/>
            <a:ext cx="2577008" cy="1444752"/>
          </a:xfrm>
          <a:prstGeom prst="roundRect">
            <a:avLst>
              <a:gd name="adj" fmla="val 6329"/>
            </a:avLst>
          </a:prstGeom>
          <a:solidFill>
            <a:srgbClr val="FFFFFF"/>
          </a:solidFill>
          <a:ln w="12700">
            <a:solidFill>
              <a:srgbClr val="FFFFFF"/>
            </a:solidFill>
            <a:prstDash val="solid"/>
          </a:ln>
        </p:spPr>
      </p:sp>
      <p:sp>
        <p:nvSpPr>
          <p:cNvPr id="17" name="Shape 14"/>
          <p:cNvSpPr/>
          <p:nvPr/>
        </p:nvSpPr>
        <p:spPr>
          <a:xfrm>
            <a:off x="868680" y="3447288"/>
            <a:ext cx="384048" cy="384048"/>
          </a:xfrm>
          <a:prstGeom prst="ellipse">
            <a:avLst/>
          </a:prstGeom>
          <a:solidFill>
            <a:srgbClr val="3182F6"/>
          </a:solidFill>
          <a:ln w="12700">
            <a:solidFill>
              <a:srgbClr val="3182F6"/>
            </a:solidFill>
            <a:prstDash val="solid"/>
          </a:ln>
        </p:spPr>
      </p:sp>
      <p:pic>
        <p:nvPicPr>
          <p:cNvPr id="18" name="Image 1" descr="preencoded.png">    </p:cNvPr>
          <p:cNvPicPr>
            <a:picLocks noChangeAspect="1"/>
          </p:cNvPicPr>
          <p:nvPr/>
        </p:nvPicPr>
        <p:blipFill>
          <a:blip r:embed="rId2"/>
          <a:stretch>
            <a:fillRect/>
          </a:stretch>
        </p:blipFill>
        <p:spPr>
          <a:xfrm>
            <a:off x="964692" y="3543300"/>
            <a:ext cx="192024" cy="192024"/>
          </a:xfrm>
          <a:prstGeom prst="rect">
            <a:avLst/>
          </a:prstGeom>
        </p:spPr>
      </p:pic>
      <p:sp>
        <p:nvSpPr>
          <p:cNvPr id="19" name="Text 15"/>
          <p:cNvSpPr txBox="1"/>
          <p:nvPr/>
        </p:nvSpPr>
        <p:spPr>
          <a:xfrm>
            <a:off x="1353312" y="3447288"/>
            <a:ext cx="1662608" cy="384048"/>
          </a:xfrm>
          <a:prstGeom prst="rect">
            <a:avLst/>
          </a:prstGeom>
          <a:noFill/>
          <a:ln/>
        </p:spPr>
        <p:txBody>
          <a:bodyPr wrap="square" lIns="0" tIns="0" rIns="0" bIns="0" rtlCol="0" anchor="ctr"/>
          <a:lstStyle/>
          <a:p>
            <a:pPr indent="0" marL="0">
              <a:buNone/>
            </a:pPr>
            <a:r>
              <a:rPr lang="en-US" sz="850" b="1" dirty="0">
                <a:solidFill>
                  <a:srgbClr val="3182F6"/>
                </a:solidFill>
                <a:latin typeface="Malgun Gothic" pitchFamily="34" charset="0"/>
                <a:ea typeface="Malgun Gothic" pitchFamily="34" charset="-122"/>
                <a:cs typeface="Malgun Gothic" pitchFamily="34" charset="-120"/>
              </a:rPr>
              <a:t>마켓 행사</a:t>
            </a:r>
            <a:endParaRPr lang="en-US" sz="850" dirty="0"/>
          </a:p>
        </p:txBody>
      </p:sp>
      <p:sp>
        <p:nvSpPr>
          <p:cNvPr id="20" name="Text 16"/>
          <p:cNvSpPr txBox="1"/>
          <p:nvPr/>
        </p:nvSpPr>
        <p:spPr>
          <a:xfrm>
            <a:off x="868680" y="3904488"/>
            <a:ext cx="2119808" cy="274320"/>
          </a:xfrm>
          <a:prstGeom prst="rect">
            <a:avLst/>
          </a:prstGeom>
          <a:noFill/>
          <a:ln/>
        </p:spPr>
        <p:txBody>
          <a:bodyPr wrap="square" lIns="0" tIns="0" rIns="0" bIns="0" rtlCol="0" anchor="t"/>
          <a:lstStyle/>
          <a:p>
            <a:pPr indent="0" marL="0">
              <a:buNone/>
            </a:pPr>
            <a:r>
              <a:rPr lang="en-US" sz="1150" b="1" dirty="0">
                <a:solidFill>
                  <a:srgbClr val="0F172A"/>
                </a:solidFill>
                <a:latin typeface="Malgun Gothic" pitchFamily="34" charset="0"/>
                <a:ea typeface="Malgun Gothic" pitchFamily="34" charset="-122"/>
                <a:cs typeface="Malgun Gothic" pitchFamily="34" charset="-120"/>
              </a:rPr>
              <a:t>플리마켓·캠퍼스 마켓 운영</a:t>
            </a:r>
            <a:endParaRPr lang="en-US" sz="1150" dirty="0"/>
          </a:p>
        </p:txBody>
      </p:sp>
      <p:sp>
        <p:nvSpPr>
          <p:cNvPr id="21" name="Text 17"/>
          <p:cNvSpPr txBox="1"/>
          <p:nvPr/>
        </p:nvSpPr>
        <p:spPr>
          <a:xfrm>
            <a:off x="868680" y="4187952"/>
            <a:ext cx="2119808" cy="457200"/>
          </a:xfrm>
          <a:prstGeom prst="rect">
            <a:avLst/>
          </a:prstGeom>
          <a:noFill/>
          <a:ln/>
        </p:spPr>
        <p:txBody>
          <a:bodyPr wrap="square" lIns="0" tIns="0" rIns="0" bIns="0" rtlCol="0" anchor="t"/>
          <a:lstStyle/>
          <a:p>
            <a:pPr indent="0" marL="0">
              <a:lnSpc>
                <a:spcPct val="110000"/>
              </a:lnSpc>
              <a:buNone/>
            </a:pPr>
            <a:r>
              <a:rPr lang="en-US" sz="800" dirty="0">
                <a:solidFill>
                  <a:srgbClr val="475569"/>
                </a:solidFill>
                <a:latin typeface="Malgun Gothic" pitchFamily="34" charset="0"/>
                <a:ea typeface="Malgun Gothic" pitchFamily="34" charset="-122"/>
                <a:cs typeface="Malgun Gothic" pitchFamily="34" charset="-120"/>
              </a:rPr>
              <a:t>대학교 축제, 카페 홀, 유휴공간 등 어떤 공간이든 플리마켓으로 전환합니다.</a:t>
            </a:r>
            <a:endParaRPr lang="en-US" sz="800" dirty="0"/>
          </a:p>
        </p:txBody>
      </p:sp>
      <p:sp>
        <p:nvSpPr>
          <p:cNvPr id="22" name="Shape 18"/>
          <p:cNvSpPr/>
          <p:nvPr/>
        </p:nvSpPr>
        <p:spPr>
          <a:xfrm>
            <a:off x="3418256" y="3246120"/>
            <a:ext cx="2577008" cy="1444752"/>
          </a:xfrm>
          <a:prstGeom prst="roundRect">
            <a:avLst>
              <a:gd name="adj" fmla="val 6329"/>
            </a:avLst>
          </a:prstGeom>
          <a:solidFill>
            <a:srgbClr val="FFFFFF"/>
          </a:solidFill>
          <a:ln w="12700">
            <a:solidFill>
              <a:srgbClr val="FFFFFF"/>
            </a:solidFill>
            <a:prstDash val="solid"/>
          </a:ln>
        </p:spPr>
      </p:sp>
      <p:sp>
        <p:nvSpPr>
          <p:cNvPr id="23" name="Shape 19"/>
          <p:cNvSpPr/>
          <p:nvPr/>
        </p:nvSpPr>
        <p:spPr>
          <a:xfrm>
            <a:off x="3646856" y="3447288"/>
            <a:ext cx="384048" cy="384048"/>
          </a:xfrm>
          <a:prstGeom prst="ellipse">
            <a:avLst/>
          </a:prstGeom>
          <a:solidFill>
            <a:srgbClr val="3182F6"/>
          </a:solidFill>
          <a:ln w="12700">
            <a:solidFill>
              <a:srgbClr val="3182F6"/>
            </a:solidFill>
            <a:prstDash val="solid"/>
          </a:ln>
        </p:spPr>
      </p:sp>
      <p:pic>
        <p:nvPicPr>
          <p:cNvPr id="24" name="Image 2" descr="preencoded.png">    </p:cNvPr>
          <p:cNvPicPr>
            <a:picLocks noChangeAspect="1"/>
          </p:cNvPicPr>
          <p:nvPr/>
        </p:nvPicPr>
        <p:blipFill>
          <a:blip r:embed="rId3"/>
          <a:stretch>
            <a:fillRect/>
          </a:stretch>
        </p:blipFill>
        <p:spPr>
          <a:xfrm>
            <a:off x="3742868" y="3543300"/>
            <a:ext cx="192024" cy="192024"/>
          </a:xfrm>
          <a:prstGeom prst="rect">
            <a:avLst/>
          </a:prstGeom>
        </p:spPr>
      </p:pic>
      <p:sp>
        <p:nvSpPr>
          <p:cNvPr id="25" name="Text 20"/>
          <p:cNvSpPr txBox="1"/>
          <p:nvPr/>
        </p:nvSpPr>
        <p:spPr>
          <a:xfrm>
            <a:off x="4131488" y="3447288"/>
            <a:ext cx="1662608" cy="384048"/>
          </a:xfrm>
          <a:prstGeom prst="rect">
            <a:avLst/>
          </a:prstGeom>
          <a:noFill/>
          <a:ln/>
        </p:spPr>
        <p:txBody>
          <a:bodyPr wrap="square" lIns="0" tIns="0" rIns="0" bIns="0" rtlCol="0" anchor="ctr"/>
          <a:lstStyle/>
          <a:p>
            <a:pPr indent="0" marL="0">
              <a:buNone/>
            </a:pPr>
            <a:r>
              <a:rPr lang="en-US" sz="850" b="1" dirty="0">
                <a:solidFill>
                  <a:srgbClr val="3182F6"/>
                </a:solidFill>
                <a:latin typeface="Malgun Gothic" pitchFamily="34" charset="0"/>
                <a:ea typeface="Malgun Gothic" pitchFamily="34" charset="-122"/>
                <a:cs typeface="Malgun Gothic" pitchFamily="34" charset="-120"/>
              </a:rPr>
              <a:t>축제 전문</a:t>
            </a:r>
            <a:endParaRPr lang="en-US" sz="850" dirty="0"/>
          </a:p>
        </p:txBody>
      </p:sp>
      <p:sp>
        <p:nvSpPr>
          <p:cNvPr id="26" name="Text 21"/>
          <p:cNvSpPr txBox="1"/>
          <p:nvPr/>
        </p:nvSpPr>
        <p:spPr>
          <a:xfrm>
            <a:off x="3646856" y="3904488"/>
            <a:ext cx="2119808" cy="274320"/>
          </a:xfrm>
          <a:prstGeom prst="rect">
            <a:avLst/>
          </a:prstGeom>
          <a:noFill/>
          <a:ln/>
        </p:spPr>
        <p:txBody>
          <a:bodyPr wrap="square" lIns="0" tIns="0" rIns="0" bIns="0" rtlCol="0" anchor="t"/>
          <a:lstStyle/>
          <a:p>
            <a:pPr indent="0" marL="0">
              <a:buNone/>
            </a:pPr>
            <a:r>
              <a:rPr lang="en-US" sz="1150" b="1" dirty="0">
                <a:solidFill>
                  <a:srgbClr val="0F172A"/>
                </a:solidFill>
                <a:latin typeface="Malgun Gothic" pitchFamily="34" charset="0"/>
                <a:ea typeface="Malgun Gothic" pitchFamily="34" charset="-122"/>
                <a:cs typeface="Malgun Gothic" pitchFamily="34" charset="-120"/>
              </a:rPr>
              <a:t>축제·행사 부스 운영</a:t>
            </a:r>
            <a:endParaRPr lang="en-US" sz="1150" dirty="0"/>
          </a:p>
        </p:txBody>
      </p:sp>
      <p:sp>
        <p:nvSpPr>
          <p:cNvPr id="27" name="Text 22"/>
          <p:cNvSpPr txBox="1"/>
          <p:nvPr/>
        </p:nvSpPr>
        <p:spPr>
          <a:xfrm>
            <a:off x="3646856" y="4187952"/>
            <a:ext cx="2119808" cy="457200"/>
          </a:xfrm>
          <a:prstGeom prst="rect">
            <a:avLst/>
          </a:prstGeom>
          <a:noFill/>
          <a:ln/>
        </p:spPr>
        <p:txBody>
          <a:bodyPr wrap="square" lIns="0" tIns="0" rIns="0" bIns="0" rtlCol="0" anchor="t"/>
          <a:lstStyle/>
          <a:p>
            <a:pPr indent="0" marL="0">
              <a:lnSpc>
                <a:spcPct val="110000"/>
              </a:lnSpc>
              <a:buNone/>
            </a:pPr>
            <a:r>
              <a:rPr lang="en-US" sz="800" dirty="0">
                <a:solidFill>
                  <a:srgbClr val="475569"/>
                </a:solidFill>
                <a:latin typeface="Malgun Gothic" pitchFamily="34" charset="0"/>
                <a:ea typeface="Malgun Gothic" pitchFamily="34" charset="-122"/>
                <a:cs typeface="Malgun Gothic" pitchFamily="34" charset="-120"/>
              </a:rPr>
              <a:t>지자체 축제와 대형 행사의 부스 존을 기획·운영하고 셀러 퀄리티를 관리합니다.</a:t>
            </a:r>
            <a:endParaRPr lang="en-US" sz="800" dirty="0"/>
          </a:p>
        </p:txBody>
      </p:sp>
      <p:sp>
        <p:nvSpPr>
          <p:cNvPr id="28" name="Shape 23"/>
          <p:cNvSpPr/>
          <p:nvPr/>
        </p:nvSpPr>
        <p:spPr>
          <a:xfrm>
            <a:off x="6196432" y="3246120"/>
            <a:ext cx="2577008" cy="1444752"/>
          </a:xfrm>
          <a:prstGeom prst="roundRect">
            <a:avLst>
              <a:gd name="adj" fmla="val 6329"/>
            </a:avLst>
          </a:prstGeom>
          <a:solidFill>
            <a:srgbClr val="FFFFFF"/>
          </a:solidFill>
          <a:ln w="12700">
            <a:solidFill>
              <a:srgbClr val="FFFFFF"/>
            </a:solidFill>
            <a:prstDash val="solid"/>
          </a:ln>
        </p:spPr>
      </p:sp>
      <p:sp>
        <p:nvSpPr>
          <p:cNvPr id="29" name="Shape 24"/>
          <p:cNvSpPr/>
          <p:nvPr/>
        </p:nvSpPr>
        <p:spPr>
          <a:xfrm>
            <a:off x="6425032" y="3447288"/>
            <a:ext cx="384048" cy="384048"/>
          </a:xfrm>
          <a:prstGeom prst="ellipse">
            <a:avLst/>
          </a:prstGeom>
          <a:solidFill>
            <a:srgbClr val="3182F6"/>
          </a:solidFill>
          <a:ln w="12700">
            <a:solidFill>
              <a:srgbClr val="3182F6"/>
            </a:solidFill>
            <a:prstDash val="solid"/>
          </a:ln>
        </p:spPr>
      </p:sp>
      <p:pic>
        <p:nvPicPr>
          <p:cNvPr id="30" name="Image 3" descr="preencoded.png">    </p:cNvPr>
          <p:cNvPicPr>
            <a:picLocks noChangeAspect="1"/>
          </p:cNvPicPr>
          <p:nvPr/>
        </p:nvPicPr>
        <p:blipFill>
          <a:blip r:embed="rId4"/>
          <a:stretch>
            <a:fillRect/>
          </a:stretch>
        </p:blipFill>
        <p:spPr>
          <a:xfrm>
            <a:off x="6521044" y="3543300"/>
            <a:ext cx="192024" cy="192024"/>
          </a:xfrm>
          <a:prstGeom prst="rect">
            <a:avLst/>
          </a:prstGeom>
        </p:spPr>
      </p:pic>
      <p:sp>
        <p:nvSpPr>
          <p:cNvPr id="31" name="Text 25"/>
          <p:cNvSpPr txBox="1"/>
          <p:nvPr/>
        </p:nvSpPr>
        <p:spPr>
          <a:xfrm>
            <a:off x="6909664" y="3447288"/>
            <a:ext cx="1662608" cy="384048"/>
          </a:xfrm>
          <a:prstGeom prst="rect">
            <a:avLst/>
          </a:prstGeom>
          <a:noFill/>
          <a:ln/>
        </p:spPr>
        <p:txBody>
          <a:bodyPr wrap="square" lIns="0" tIns="0" rIns="0" bIns="0" rtlCol="0" anchor="ctr"/>
          <a:lstStyle/>
          <a:p>
            <a:pPr indent="0" marL="0">
              <a:buNone/>
            </a:pPr>
            <a:r>
              <a:rPr lang="en-US" sz="850" b="1" dirty="0">
                <a:solidFill>
                  <a:srgbClr val="3182F6"/>
                </a:solidFill>
                <a:latin typeface="Malgun Gothic" pitchFamily="34" charset="0"/>
                <a:ea typeface="Malgun Gothic" pitchFamily="34" charset="-122"/>
                <a:cs typeface="Malgun Gothic" pitchFamily="34" charset="-120"/>
              </a:rPr>
              <a:t>체험 프로그램 직영</a:t>
            </a:r>
            <a:endParaRPr lang="en-US" sz="850" dirty="0"/>
          </a:p>
        </p:txBody>
      </p:sp>
      <p:sp>
        <p:nvSpPr>
          <p:cNvPr id="32" name="Text 26"/>
          <p:cNvSpPr txBox="1"/>
          <p:nvPr/>
        </p:nvSpPr>
        <p:spPr>
          <a:xfrm>
            <a:off x="6425032" y="3904488"/>
            <a:ext cx="2119808" cy="274320"/>
          </a:xfrm>
          <a:prstGeom prst="rect">
            <a:avLst/>
          </a:prstGeom>
          <a:noFill/>
          <a:ln/>
        </p:spPr>
        <p:txBody>
          <a:bodyPr wrap="square" lIns="0" tIns="0" rIns="0" bIns="0" rtlCol="0" anchor="t"/>
          <a:lstStyle/>
          <a:p>
            <a:pPr indent="0" marL="0">
              <a:buNone/>
            </a:pPr>
            <a:r>
              <a:rPr lang="en-US" sz="1150" b="1" dirty="0">
                <a:solidFill>
                  <a:srgbClr val="0F172A"/>
                </a:solidFill>
                <a:latin typeface="Malgun Gothic" pitchFamily="34" charset="0"/>
                <a:ea typeface="Malgun Gothic" pitchFamily="34" charset="-122"/>
                <a:cs typeface="Malgun Gothic" pitchFamily="34" charset="-120"/>
              </a:rPr>
              <a:t>체험부스 기획·운영</a:t>
            </a:r>
            <a:endParaRPr lang="en-US" sz="1150" dirty="0"/>
          </a:p>
        </p:txBody>
      </p:sp>
      <p:sp>
        <p:nvSpPr>
          <p:cNvPr id="33" name="Text 27"/>
          <p:cNvSpPr txBox="1"/>
          <p:nvPr/>
        </p:nvSpPr>
        <p:spPr>
          <a:xfrm>
            <a:off x="6425032" y="4187952"/>
            <a:ext cx="2119808" cy="457200"/>
          </a:xfrm>
          <a:prstGeom prst="rect">
            <a:avLst/>
          </a:prstGeom>
          <a:noFill/>
          <a:ln/>
        </p:spPr>
        <p:txBody>
          <a:bodyPr wrap="square" lIns="0" tIns="0" rIns="0" bIns="0" rtlCol="0" anchor="t"/>
          <a:lstStyle/>
          <a:p>
            <a:pPr indent="0" marL="0">
              <a:lnSpc>
                <a:spcPct val="110000"/>
              </a:lnSpc>
              <a:buNone/>
            </a:pPr>
            <a:r>
              <a:rPr lang="en-US" sz="800" dirty="0">
                <a:solidFill>
                  <a:srgbClr val="475569"/>
                </a:solidFill>
                <a:latin typeface="Malgun Gothic" pitchFamily="34" charset="0"/>
                <a:ea typeface="Malgun Gothic" pitchFamily="34" charset="-122"/>
                <a:cs typeface="Malgun Gothic" pitchFamily="34" charset="-120"/>
              </a:rPr>
              <a:t>석고방향제·에코백·키링 만들기 등 체험부스를 재료, 강사, 운영 인력까지 포함해 직접 운영합니다.</a:t>
            </a:r>
            <a:endParaRPr lang="en-US" sz="800" dirty="0"/>
          </a:p>
        </p:txBody>
      </p:sp>
      <p:sp>
        <p:nvSpPr>
          <p:cNvPr id="34" name="Shape 28"/>
          <p:cNvSpPr/>
          <p:nvPr/>
        </p:nvSpPr>
        <p:spPr>
          <a:xfrm>
            <a:off x="8974607" y="3246120"/>
            <a:ext cx="2577008" cy="1444752"/>
          </a:xfrm>
          <a:prstGeom prst="roundRect">
            <a:avLst>
              <a:gd name="adj" fmla="val 6329"/>
            </a:avLst>
          </a:prstGeom>
          <a:solidFill>
            <a:srgbClr val="FFFFFF"/>
          </a:solidFill>
          <a:ln w="12700">
            <a:solidFill>
              <a:srgbClr val="FFFFFF"/>
            </a:solidFill>
            <a:prstDash val="solid"/>
          </a:ln>
        </p:spPr>
      </p:sp>
      <p:sp>
        <p:nvSpPr>
          <p:cNvPr id="35" name="Shape 29"/>
          <p:cNvSpPr/>
          <p:nvPr/>
        </p:nvSpPr>
        <p:spPr>
          <a:xfrm>
            <a:off x="9203207" y="3447288"/>
            <a:ext cx="384048" cy="384048"/>
          </a:xfrm>
          <a:prstGeom prst="ellipse">
            <a:avLst/>
          </a:prstGeom>
          <a:solidFill>
            <a:srgbClr val="3182F6"/>
          </a:solidFill>
          <a:ln w="12700">
            <a:solidFill>
              <a:srgbClr val="3182F6"/>
            </a:solidFill>
            <a:prstDash val="solid"/>
          </a:ln>
        </p:spPr>
      </p:sp>
      <p:pic>
        <p:nvPicPr>
          <p:cNvPr id="36" name="Image 4" descr="preencoded.png">    </p:cNvPr>
          <p:cNvPicPr>
            <a:picLocks noChangeAspect="1"/>
          </p:cNvPicPr>
          <p:nvPr/>
        </p:nvPicPr>
        <p:blipFill>
          <a:blip r:embed="rId5"/>
          <a:stretch>
            <a:fillRect/>
          </a:stretch>
        </p:blipFill>
        <p:spPr>
          <a:xfrm>
            <a:off x="9299219" y="3543300"/>
            <a:ext cx="192024" cy="192024"/>
          </a:xfrm>
          <a:prstGeom prst="rect">
            <a:avLst/>
          </a:prstGeom>
        </p:spPr>
      </p:pic>
      <p:sp>
        <p:nvSpPr>
          <p:cNvPr id="37" name="Text 30"/>
          <p:cNvSpPr txBox="1"/>
          <p:nvPr/>
        </p:nvSpPr>
        <p:spPr>
          <a:xfrm>
            <a:off x="9687839" y="3447288"/>
            <a:ext cx="1662608" cy="384048"/>
          </a:xfrm>
          <a:prstGeom prst="rect">
            <a:avLst/>
          </a:prstGeom>
          <a:noFill/>
          <a:ln/>
        </p:spPr>
        <p:txBody>
          <a:bodyPr wrap="square" lIns="0" tIns="0" rIns="0" bIns="0" rtlCol="0" anchor="ctr"/>
          <a:lstStyle/>
          <a:p>
            <a:pPr indent="0" marL="0">
              <a:buNone/>
            </a:pPr>
            <a:r>
              <a:rPr lang="en-US" sz="850" b="1" dirty="0">
                <a:solidFill>
                  <a:srgbClr val="3182F6"/>
                </a:solidFill>
                <a:latin typeface="Malgun Gothic" pitchFamily="34" charset="0"/>
                <a:ea typeface="Malgun Gothic" pitchFamily="34" charset="-122"/>
                <a:cs typeface="Malgun Gothic" pitchFamily="34" charset="-120"/>
              </a:rPr>
              <a:t>무대 · 음향 · 공연</a:t>
            </a:r>
            <a:endParaRPr lang="en-US" sz="850" dirty="0"/>
          </a:p>
        </p:txBody>
      </p:sp>
      <p:sp>
        <p:nvSpPr>
          <p:cNvPr id="38" name="Text 31"/>
          <p:cNvSpPr txBox="1"/>
          <p:nvPr/>
        </p:nvSpPr>
        <p:spPr>
          <a:xfrm>
            <a:off x="9203207" y="3904488"/>
            <a:ext cx="2119808" cy="274320"/>
          </a:xfrm>
          <a:prstGeom prst="rect">
            <a:avLst/>
          </a:prstGeom>
          <a:noFill/>
          <a:ln/>
        </p:spPr>
        <p:txBody>
          <a:bodyPr wrap="square" lIns="0" tIns="0" rIns="0" bIns="0" rtlCol="0" anchor="t"/>
          <a:lstStyle/>
          <a:p>
            <a:pPr indent="0" marL="0">
              <a:buNone/>
            </a:pPr>
            <a:r>
              <a:rPr lang="en-US" sz="1150" b="1" dirty="0">
                <a:solidFill>
                  <a:srgbClr val="0F172A"/>
                </a:solidFill>
                <a:latin typeface="Malgun Gothic" pitchFamily="34" charset="0"/>
                <a:ea typeface="Malgun Gothic" pitchFamily="34" charset="-122"/>
                <a:cs typeface="Malgun Gothic" pitchFamily="34" charset="-120"/>
              </a:rPr>
              <a:t>무대·공연 연출</a:t>
            </a:r>
            <a:endParaRPr lang="en-US" sz="1150" dirty="0"/>
          </a:p>
        </p:txBody>
      </p:sp>
      <p:sp>
        <p:nvSpPr>
          <p:cNvPr id="39" name="Text 32"/>
          <p:cNvSpPr txBox="1"/>
          <p:nvPr/>
        </p:nvSpPr>
        <p:spPr>
          <a:xfrm>
            <a:off x="9203207" y="4187952"/>
            <a:ext cx="2119808" cy="457200"/>
          </a:xfrm>
          <a:prstGeom prst="rect">
            <a:avLst/>
          </a:prstGeom>
          <a:noFill/>
          <a:ln/>
        </p:spPr>
        <p:txBody>
          <a:bodyPr wrap="square" lIns="0" tIns="0" rIns="0" bIns="0" rtlCol="0" anchor="t"/>
          <a:lstStyle/>
          <a:p>
            <a:pPr indent="0" marL="0">
              <a:lnSpc>
                <a:spcPct val="110000"/>
              </a:lnSpc>
              <a:buNone/>
            </a:pPr>
            <a:r>
              <a:rPr lang="en-US" sz="800" dirty="0">
                <a:solidFill>
                  <a:srgbClr val="475569"/>
                </a:solidFill>
                <a:latin typeface="Malgun Gothic" pitchFamily="34" charset="0"/>
                <a:ea typeface="Malgun Gothic" pitchFamily="34" charset="-122"/>
                <a:cs typeface="Malgun Gothic" pitchFamily="34" charset="-120"/>
              </a:rPr>
              <a:t>이동식 무대와 음향·조명 설치, 버스킹·공연팀 섭외까지 행사의 메인 프로그램을 마켓·부스와 함께 구성합니다.</a:t>
            </a:r>
            <a:endParaRPr lang="en-US" sz="800" dirty="0"/>
          </a:p>
        </p:txBody>
      </p:sp>
      <p:sp>
        <p:nvSpPr>
          <p:cNvPr id="40" name="Shape 33"/>
          <p:cNvSpPr/>
          <p:nvPr/>
        </p:nvSpPr>
        <p:spPr>
          <a:xfrm>
            <a:off x="640080" y="4873752"/>
            <a:ext cx="2577008" cy="1444752"/>
          </a:xfrm>
          <a:prstGeom prst="roundRect">
            <a:avLst>
              <a:gd name="adj" fmla="val 6329"/>
            </a:avLst>
          </a:prstGeom>
          <a:solidFill>
            <a:srgbClr val="FFFFFF"/>
          </a:solidFill>
          <a:ln w="12700">
            <a:solidFill>
              <a:srgbClr val="FFFFFF"/>
            </a:solidFill>
            <a:prstDash val="solid"/>
          </a:ln>
        </p:spPr>
      </p:sp>
      <p:sp>
        <p:nvSpPr>
          <p:cNvPr id="41" name="Shape 34"/>
          <p:cNvSpPr/>
          <p:nvPr/>
        </p:nvSpPr>
        <p:spPr>
          <a:xfrm>
            <a:off x="868680" y="5074920"/>
            <a:ext cx="384048" cy="384048"/>
          </a:xfrm>
          <a:prstGeom prst="ellipse">
            <a:avLst/>
          </a:prstGeom>
          <a:solidFill>
            <a:srgbClr val="3182F6"/>
          </a:solidFill>
          <a:ln w="12700">
            <a:solidFill>
              <a:srgbClr val="3182F6"/>
            </a:solidFill>
            <a:prstDash val="solid"/>
          </a:ln>
        </p:spPr>
      </p:sp>
      <p:pic>
        <p:nvPicPr>
          <p:cNvPr id="42" name="Image 5" descr="preencoded.png">    </p:cNvPr>
          <p:cNvPicPr>
            <a:picLocks noChangeAspect="1"/>
          </p:cNvPicPr>
          <p:nvPr/>
        </p:nvPicPr>
        <p:blipFill>
          <a:blip r:embed="rId6"/>
          <a:stretch>
            <a:fillRect/>
          </a:stretch>
        </p:blipFill>
        <p:spPr>
          <a:xfrm>
            <a:off x="964692" y="5170932"/>
            <a:ext cx="192024" cy="192024"/>
          </a:xfrm>
          <a:prstGeom prst="rect">
            <a:avLst/>
          </a:prstGeom>
        </p:spPr>
      </p:pic>
      <p:sp>
        <p:nvSpPr>
          <p:cNvPr id="43" name="Text 35"/>
          <p:cNvSpPr txBox="1"/>
          <p:nvPr/>
        </p:nvSpPr>
        <p:spPr>
          <a:xfrm>
            <a:off x="1353312" y="5074920"/>
            <a:ext cx="1662608" cy="384048"/>
          </a:xfrm>
          <a:prstGeom prst="rect">
            <a:avLst/>
          </a:prstGeom>
          <a:noFill/>
          <a:ln/>
        </p:spPr>
        <p:txBody>
          <a:bodyPr wrap="square" lIns="0" tIns="0" rIns="0" bIns="0" rtlCol="0" anchor="ctr"/>
          <a:lstStyle/>
          <a:p>
            <a:pPr indent="0" marL="0">
              <a:buNone/>
            </a:pPr>
            <a:r>
              <a:rPr lang="en-US" sz="850" b="1" dirty="0">
                <a:solidFill>
                  <a:srgbClr val="3182F6"/>
                </a:solidFill>
                <a:latin typeface="Malgun Gothic" pitchFamily="34" charset="0"/>
                <a:ea typeface="Malgun Gothic" pitchFamily="34" charset="-122"/>
                <a:cs typeface="Malgun Gothic" pitchFamily="34" charset="-120"/>
              </a:rPr>
              <a:t>야간 행사 특화</a:t>
            </a:r>
            <a:endParaRPr lang="en-US" sz="850" dirty="0"/>
          </a:p>
        </p:txBody>
      </p:sp>
      <p:sp>
        <p:nvSpPr>
          <p:cNvPr id="44" name="Text 36"/>
          <p:cNvSpPr txBox="1"/>
          <p:nvPr/>
        </p:nvSpPr>
        <p:spPr>
          <a:xfrm>
            <a:off x="868680" y="5532120"/>
            <a:ext cx="2119808" cy="274320"/>
          </a:xfrm>
          <a:prstGeom prst="rect">
            <a:avLst/>
          </a:prstGeom>
          <a:noFill/>
          <a:ln/>
        </p:spPr>
        <p:txBody>
          <a:bodyPr wrap="square" lIns="0" tIns="0" rIns="0" bIns="0" rtlCol="0" anchor="t"/>
          <a:lstStyle/>
          <a:p>
            <a:pPr indent="0" marL="0">
              <a:buNone/>
            </a:pPr>
            <a:r>
              <a:rPr lang="en-US" sz="1150" b="1" dirty="0">
                <a:solidFill>
                  <a:srgbClr val="0F172A"/>
                </a:solidFill>
                <a:latin typeface="Malgun Gothic" pitchFamily="34" charset="0"/>
                <a:ea typeface="Malgun Gothic" pitchFamily="34" charset="-122"/>
                <a:cs typeface="Malgun Gothic" pitchFamily="34" charset="-120"/>
              </a:rPr>
              <a:t>야시장·야간 행사 운영</a:t>
            </a:r>
            <a:endParaRPr lang="en-US" sz="1150" dirty="0"/>
          </a:p>
        </p:txBody>
      </p:sp>
      <p:sp>
        <p:nvSpPr>
          <p:cNvPr id="45" name="Text 37"/>
          <p:cNvSpPr txBox="1"/>
          <p:nvPr/>
        </p:nvSpPr>
        <p:spPr>
          <a:xfrm>
            <a:off x="868680" y="5815584"/>
            <a:ext cx="2119808" cy="457200"/>
          </a:xfrm>
          <a:prstGeom prst="rect">
            <a:avLst/>
          </a:prstGeom>
          <a:noFill/>
          <a:ln/>
        </p:spPr>
        <p:txBody>
          <a:bodyPr wrap="square" lIns="0" tIns="0" rIns="0" bIns="0" rtlCol="0" anchor="t"/>
          <a:lstStyle/>
          <a:p>
            <a:pPr indent="0" marL="0">
              <a:lnSpc>
                <a:spcPct val="110000"/>
              </a:lnSpc>
              <a:buNone/>
            </a:pPr>
            <a:r>
              <a:rPr lang="en-US" sz="800" dirty="0">
                <a:solidFill>
                  <a:srgbClr val="475569"/>
                </a:solidFill>
                <a:latin typeface="Malgun Gothic" pitchFamily="34" charset="0"/>
                <a:ea typeface="Malgun Gothic" pitchFamily="34" charset="-122"/>
                <a:cs typeface="Malgun Gothic" pitchFamily="34" charset="-120"/>
              </a:rPr>
              <a:t>저녁부터 밤까지 이어지는 야시장 행사를 전문적으로 기획합니다.</a:t>
            </a:r>
            <a:endParaRPr lang="en-US" sz="800" dirty="0"/>
          </a:p>
        </p:txBody>
      </p:sp>
      <p:sp>
        <p:nvSpPr>
          <p:cNvPr id="46" name="Shape 38"/>
          <p:cNvSpPr/>
          <p:nvPr/>
        </p:nvSpPr>
        <p:spPr>
          <a:xfrm>
            <a:off x="3418256" y="4873752"/>
            <a:ext cx="2577008" cy="1444752"/>
          </a:xfrm>
          <a:prstGeom prst="roundRect">
            <a:avLst>
              <a:gd name="adj" fmla="val 6329"/>
            </a:avLst>
          </a:prstGeom>
          <a:solidFill>
            <a:srgbClr val="FFFFFF"/>
          </a:solidFill>
          <a:ln w="12700">
            <a:solidFill>
              <a:srgbClr val="FFFFFF"/>
            </a:solidFill>
            <a:prstDash val="solid"/>
          </a:ln>
        </p:spPr>
      </p:sp>
      <p:sp>
        <p:nvSpPr>
          <p:cNvPr id="47" name="Shape 39"/>
          <p:cNvSpPr/>
          <p:nvPr/>
        </p:nvSpPr>
        <p:spPr>
          <a:xfrm>
            <a:off x="3646856" y="5074920"/>
            <a:ext cx="384048" cy="384048"/>
          </a:xfrm>
          <a:prstGeom prst="ellipse">
            <a:avLst/>
          </a:prstGeom>
          <a:solidFill>
            <a:srgbClr val="3182F6"/>
          </a:solidFill>
          <a:ln w="12700">
            <a:solidFill>
              <a:srgbClr val="3182F6"/>
            </a:solidFill>
            <a:prstDash val="solid"/>
          </a:ln>
        </p:spPr>
      </p:sp>
      <p:pic>
        <p:nvPicPr>
          <p:cNvPr id="48" name="Image 6" descr="preencoded.png">    </p:cNvPr>
          <p:cNvPicPr>
            <a:picLocks noChangeAspect="1"/>
          </p:cNvPicPr>
          <p:nvPr/>
        </p:nvPicPr>
        <p:blipFill>
          <a:blip r:embed="rId7"/>
          <a:stretch>
            <a:fillRect/>
          </a:stretch>
        </p:blipFill>
        <p:spPr>
          <a:xfrm>
            <a:off x="3742868" y="5170932"/>
            <a:ext cx="192024" cy="192024"/>
          </a:xfrm>
          <a:prstGeom prst="rect">
            <a:avLst/>
          </a:prstGeom>
        </p:spPr>
      </p:pic>
      <p:sp>
        <p:nvSpPr>
          <p:cNvPr id="49" name="Text 40"/>
          <p:cNvSpPr txBox="1"/>
          <p:nvPr/>
        </p:nvSpPr>
        <p:spPr>
          <a:xfrm>
            <a:off x="4131488" y="5074920"/>
            <a:ext cx="1662608" cy="384048"/>
          </a:xfrm>
          <a:prstGeom prst="rect">
            <a:avLst/>
          </a:prstGeom>
          <a:noFill/>
          <a:ln/>
        </p:spPr>
        <p:txBody>
          <a:bodyPr wrap="square" lIns="0" tIns="0" rIns="0" bIns="0" rtlCol="0" anchor="ctr"/>
          <a:lstStyle/>
          <a:p>
            <a:pPr indent="0" marL="0">
              <a:buNone/>
            </a:pPr>
            <a:r>
              <a:rPr lang="en-US" sz="850" b="1" dirty="0">
                <a:solidFill>
                  <a:srgbClr val="3182F6"/>
                </a:solidFill>
                <a:latin typeface="Malgun Gothic" pitchFamily="34" charset="0"/>
                <a:ea typeface="Malgun Gothic" pitchFamily="34" charset="-122"/>
                <a:cs typeface="Malgun Gothic" pitchFamily="34" charset="-120"/>
              </a:rPr>
              <a:t>푸드트럭 전문 연결</a:t>
            </a:r>
            <a:endParaRPr lang="en-US" sz="850" dirty="0"/>
          </a:p>
        </p:txBody>
      </p:sp>
      <p:sp>
        <p:nvSpPr>
          <p:cNvPr id="50" name="Text 41"/>
          <p:cNvSpPr txBox="1"/>
          <p:nvPr/>
        </p:nvSpPr>
        <p:spPr>
          <a:xfrm>
            <a:off x="3646856" y="5532120"/>
            <a:ext cx="2119808" cy="274320"/>
          </a:xfrm>
          <a:prstGeom prst="rect">
            <a:avLst/>
          </a:prstGeom>
          <a:noFill/>
          <a:ln/>
        </p:spPr>
        <p:txBody>
          <a:bodyPr wrap="square" lIns="0" tIns="0" rIns="0" bIns="0" rtlCol="0" anchor="t"/>
          <a:lstStyle/>
          <a:p>
            <a:pPr indent="0" marL="0">
              <a:buNone/>
            </a:pPr>
            <a:r>
              <a:rPr lang="en-US" sz="1150" b="1" dirty="0">
                <a:solidFill>
                  <a:srgbClr val="0F172A"/>
                </a:solidFill>
                <a:latin typeface="Malgun Gothic" pitchFamily="34" charset="0"/>
                <a:ea typeface="Malgun Gothic" pitchFamily="34" charset="-122"/>
                <a:cs typeface="Malgun Gothic" pitchFamily="34" charset="-120"/>
              </a:rPr>
              <a:t>푸드트럭 섭외 &amp; 운영</a:t>
            </a:r>
            <a:endParaRPr lang="en-US" sz="1150" dirty="0"/>
          </a:p>
        </p:txBody>
      </p:sp>
      <p:sp>
        <p:nvSpPr>
          <p:cNvPr id="51" name="Text 42"/>
          <p:cNvSpPr txBox="1"/>
          <p:nvPr/>
        </p:nvSpPr>
        <p:spPr>
          <a:xfrm>
            <a:off x="3646856" y="5815584"/>
            <a:ext cx="2119808" cy="457200"/>
          </a:xfrm>
          <a:prstGeom prst="rect">
            <a:avLst/>
          </a:prstGeom>
          <a:noFill/>
          <a:ln/>
        </p:spPr>
        <p:txBody>
          <a:bodyPr wrap="square" lIns="0" tIns="0" rIns="0" bIns="0" rtlCol="0" anchor="t"/>
          <a:lstStyle/>
          <a:p>
            <a:pPr indent="0" marL="0">
              <a:lnSpc>
                <a:spcPct val="110000"/>
              </a:lnSpc>
              <a:buNone/>
            </a:pPr>
            <a:r>
              <a:rPr lang="en-US" sz="800" dirty="0">
                <a:solidFill>
                  <a:srgbClr val="475569"/>
                </a:solidFill>
                <a:latin typeface="Malgun Gothic" pitchFamily="34" charset="0"/>
                <a:ea typeface="Malgun Gothic" pitchFamily="34" charset="-122"/>
                <a:cs typeface="Malgun Gothic" pitchFamily="34" charset="-120"/>
              </a:rPr>
              <a:t>행사 콘셉트에 맞는 푸드트럭을 직접 섭외하고 현장 배치까지 관리합니다.</a:t>
            </a:r>
            <a:endParaRPr lang="en-US" sz="800" dirty="0"/>
          </a:p>
        </p:txBody>
      </p:sp>
      <p:sp>
        <p:nvSpPr>
          <p:cNvPr id="52" name="Shape 43"/>
          <p:cNvSpPr/>
          <p:nvPr/>
        </p:nvSpPr>
        <p:spPr>
          <a:xfrm>
            <a:off x="6196432" y="4873752"/>
            <a:ext cx="2577008" cy="1444752"/>
          </a:xfrm>
          <a:prstGeom prst="roundRect">
            <a:avLst>
              <a:gd name="adj" fmla="val 6329"/>
            </a:avLst>
          </a:prstGeom>
          <a:solidFill>
            <a:srgbClr val="FFFFFF"/>
          </a:solidFill>
          <a:ln w="12700">
            <a:solidFill>
              <a:srgbClr val="FFFFFF"/>
            </a:solidFill>
            <a:prstDash val="solid"/>
          </a:ln>
        </p:spPr>
      </p:sp>
      <p:sp>
        <p:nvSpPr>
          <p:cNvPr id="53" name="Shape 44"/>
          <p:cNvSpPr/>
          <p:nvPr/>
        </p:nvSpPr>
        <p:spPr>
          <a:xfrm>
            <a:off x="6425032" y="5074920"/>
            <a:ext cx="384048" cy="384048"/>
          </a:xfrm>
          <a:prstGeom prst="ellipse">
            <a:avLst/>
          </a:prstGeom>
          <a:solidFill>
            <a:srgbClr val="3182F6"/>
          </a:solidFill>
          <a:ln w="12700">
            <a:solidFill>
              <a:srgbClr val="3182F6"/>
            </a:solidFill>
            <a:prstDash val="solid"/>
          </a:ln>
        </p:spPr>
      </p:sp>
      <p:pic>
        <p:nvPicPr>
          <p:cNvPr id="54" name="Image 7" descr="preencoded.png">    </p:cNvPr>
          <p:cNvPicPr>
            <a:picLocks noChangeAspect="1"/>
          </p:cNvPicPr>
          <p:nvPr/>
        </p:nvPicPr>
        <p:blipFill>
          <a:blip r:embed="rId8"/>
          <a:stretch>
            <a:fillRect/>
          </a:stretch>
        </p:blipFill>
        <p:spPr>
          <a:xfrm>
            <a:off x="6521044" y="5170932"/>
            <a:ext cx="192024" cy="192024"/>
          </a:xfrm>
          <a:prstGeom prst="rect">
            <a:avLst/>
          </a:prstGeom>
        </p:spPr>
      </p:pic>
      <p:sp>
        <p:nvSpPr>
          <p:cNvPr id="55" name="Text 45"/>
          <p:cNvSpPr txBox="1"/>
          <p:nvPr/>
        </p:nvSpPr>
        <p:spPr>
          <a:xfrm>
            <a:off x="6909664" y="5074920"/>
            <a:ext cx="1662608" cy="384048"/>
          </a:xfrm>
          <a:prstGeom prst="rect">
            <a:avLst/>
          </a:prstGeom>
          <a:noFill/>
          <a:ln/>
        </p:spPr>
        <p:txBody>
          <a:bodyPr wrap="square" lIns="0" tIns="0" rIns="0" bIns="0" rtlCol="0" anchor="ctr"/>
          <a:lstStyle/>
          <a:p>
            <a:pPr indent="0" marL="0">
              <a:buNone/>
            </a:pPr>
            <a:r>
              <a:rPr lang="en-US" sz="850" b="1" dirty="0">
                <a:solidFill>
                  <a:srgbClr val="3182F6"/>
                </a:solidFill>
                <a:latin typeface="Malgun Gothic" pitchFamily="34" charset="0"/>
                <a:ea typeface="Malgun Gothic" pitchFamily="34" charset="-122"/>
                <a:cs typeface="Malgun Gothic" pitchFamily="34" charset="-120"/>
              </a:rPr>
              <a:t>원스톱 장비 지원</a:t>
            </a:r>
            <a:endParaRPr lang="en-US" sz="850" dirty="0"/>
          </a:p>
        </p:txBody>
      </p:sp>
      <p:sp>
        <p:nvSpPr>
          <p:cNvPr id="56" name="Text 46"/>
          <p:cNvSpPr txBox="1"/>
          <p:nvPr/>
        </p:nvSpPr>
        <p:spPr>
          <a:xfrm>
            <a:off x="6425032" y="5532120"/>
            <a:ext cx="2119808" cy="274320"/>
          </a:xfrm>
          <a:prstGeom prst="rect">
            <a:avLst/>
          </a:prstGeom>
          <a:noFill/>
          <a:ln/>
        </p:spPr>
        <p:txBody>
          <a:bodyPr wrap="square" lIns="0" tIns="0" rIns="0" bIns="0" rtlCol="0" anchor="t"/>
          <a:lstStyle/>
          <a:p>
            <a:pPr indent="0" marL="0">
              <a:buNone/>
            </a:pPr>
            <a:r>
              <a:rPr lang="en-US" sz="1150" b="1" dirty="0">
                <a:solidFill>
                  <a:srgbClr val="0F172A"/>
                </a:solidFill>
                <a:latin typeface="Malgun Gothic" pitchFamily="34" charset="0"/>
                <a:ea typeface="Malgun Gothic" pitchFamily="34" charset="-122"/>
                <a:cs typeface="Malgun Gothic" pitchFamily="34" charset="-120"/>
              </a:rPr>
              <a:t>행사 장비 렌탈·설치</a:t>
            </a:r>
            <a:endParaRPr lang="en-US" sz="1150" dirty="0"/>
          </a:p>
        </p:txBody>
      </p:sp>
      <p:sp>
        <p:nvSpPr>
          <p:cNvPr id="57" name="Text 47"/>
          <p:cNvSpPr txBox="1"/>
          <p:nvPr/>
        </p:nvSpPr>
        <p:spPr>
          <a:xfrm>
            <a:off x="6425032" y="5815584"/>
            <a:ext cx="2119808" cy="457200"/>
          </a:xfrm>
          <a:prstGeom prst="rect">
            <a:avLst/>
          </a:prstGeom>
          <a:noFill/>
          <a:ln/>
        </p:spPr>
        <p:txBody>
          <a:bodyPr wrap="square" lIns="0" tIns="0" rIns="0" bIns="0" rtlCol="0" anchor="t"/>
          <a:lstStyle/>
          <a:p>
            <a:pPr indent="0" marL="0">
              <a:lnSpc>
                <a:spcPct val="110000"/>
              </a:lnSpc>
              <a:buNone/>
            </a:pPr>
            <a:r>
              <a:rPr lang="en-US" sz="800" dirty="0">
                <a:solidFill>
                  <a:srgbClr val="475569"/>
                </a:solidFill>
                <a:latin typeface="Malgun Gothic" pitchFamily="34" charset="0"/>
                <a:ea typeface="Malgun Gothic" pitchFamily="34" charset="-122"/>
                <a:cs typeface="Malgun Gothic" pitchFamily="34" charset="-120"/>
              </a:rPr>
              <a:t>부스 텐트·테이블·의자부터 조명, 배너, 간판까지 행사에 필요한 모든 장비를 렌탈로 제공합니다.</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44"/>
        </a:solidFill>
      </p:bgPr>
    </p:bg>
    <p:spTree>
      <p:nvGrpSpPr>
        <p:cNvPr id="1" name=""/>
        <p:cNvGrpSpPr/>
        <p:nvPr/>
      </p:nvGrpSpPr>
      <p:grpSpPr>
        <a:xfrm>
          <a:off x="0" y="0"/>
          <a:ext cx="0" cy="0"/>
          <a:chOff x="0" y="0"/>
          <a:chExt cx="0" cy="0"/>
        </a:xfrm>
      </p:grpSpPr>
      <p:sp>
        <p:nvSpPr>
          <p:cNvPr id="2" name="Shape 0"/>
          <p:cNvSpPr/>
          <p:nvPr/>
        </p:nvSpPr>
        <p:spPr>
          <a:xfrm>
            <a:off x="9265615" y="-2377440"/>
            <a:ext cx="5120640" cy="5120640"/>
          </a:xfrm>
          <a:prstGeom prst="ellipse">
            <a:avLst/>
          </a:prstGeom>
          <a:solidFill>
            <a:srgbClr val="12305F"/>
          </a:solidFill>
          <a:ln w="12700">
            <a:solidFill>
              <a:srgbClr val="12305F"/>
            </a:solidFill>
            <a:prstDash val="solid"/>
          </a:ln>
        </p:spPr>
      </p:sp>
      <p:sp>
        <p:nvSpPr>
          <p:cNvPr id="3" name="Shape 1"/>
          <p:cNvSpPr/>
          <p:nvPr/>
        </p:nvSpPr>
        <p:spPr>
          <a:xfrm>
            <a:off x="-1645920" y="5029200"/>
            <a:ext cx="3657600" cy="3657600"/>
          </a:xfrm>
          <a:prstGeom prst="ellipse">
            <a:avLst/>
          </a:prstGeom>
          <a:solidFill>
            <a:srgbClr val="12305F"/>
          </a:solidFill>
          <a:ln w="12700">
            <a:solidFill>
              <a:srgbClr val="12305F"/>
            </a:solidFill>
            <a:prstDash val="solid"/>
          </a:ln>
        </p:spPr>
      </p:sp>
      <p:sp>
        <p:nvSpPr>
          <p:cNvPr id="4" name="Text 2"/>
          <p:cNvSpPr txBox="1"/>
          <p:nvPr/>
        </p:nvSpPr>
        <p:spPr>
          <a:xfrm>
            <a:off x="640080" y="384048"/>
            <a:ext cx="1155700" cy="266700"/>
          </a:xfrm>
          <a:prstGeom prst="rect">
            <a:avLst/>
          </a:prstGeom>
          <a:noFill/>
          <a:ln/>
        </p:spPr>
        <p:txBody>
          <a:bodyPr wrap="square" lIns="0" tIns="0" rIns="0" bIns="0" rtlCol="0" anchor="ctr"/>
          <a:lstStyle/>
          <a:p>
            <a:pPr indent="0" marL="0">
              <a:buNone/>
            </a:pPr>
            <a:r>
              <a:rPr lang="en-US" sz="1400" b="1" dirty="0">
                <a:solidFill>
                  <a:srgbClr val="3182F6"/>
                </a:solidFill>
                <a:latin typeface="Arial Black" pitchFamily="34" charset="0"/>
                <a:ea typeface="Arial Black" pitchFamily="34" charset="-122"/>
                <a:cs typeface="Arial Black" pitchFamily="34" charset="-120"/>
              </a:rPr>
              <a:t>Flit</a:t>
            </a:r>
            <a:pPr indent="0" marL="0">
              <a:buNone/>
            </a:pPr>
            <a:r>
              <a:rPr lang="en-US" sz="1400" b="1" dirty="0">
                <a:solidFill>
                  <a:srgbClr val="FFFFFF"/>
                </a:solidFill>
                <a:latin typeface="Arial Black" pitchFamily="34" charset="0"/>
                <a:ea typeface="Arial Black" pitchFamily="34" charset="-122"/>
                <a:cs typeface="Arial Black" pitchFamily="34" charset="-120"/>
              </a:rPr>
              <a:t>Union</a:t>
            </a:r>
            <a:endParaRPr lang="en-US" sz="1400" dirty="0"/>
          </a:p>
        </p:txBody>
      </p:sp>
      <p:sp>
        <p:nvSpPr>
          <p:cNvPr id="5" name="Text 3"/>
          <p:cNvSpPr txBox="1"/>
          <p:nvPr/>
        </p:nvSpPr>
        <p:spPr>
          <a:xfrm>
            <a:off x="640080" y="868680"/>
            <a:ext cx="5486400" cy="274320"/>
          </a:xfrm>
          <a:prstGeom prst="rect">
            <a:avLst/>
          </a:prstGeom>
          <a:noFill/>
          <a:ln/>
        </p:spPr>
        <p:txBody>
          <a:bodyPr wrap="square" lIns="0" tIns="0" rIns="0" bIns="0" rtlCol="0" anchor="t"/>
          <a:lstStyle/>
          <a:p>
            <a:pPr indent="0" marL="0">
              <a:buNone/>
            </a:pPr>
            <a:r>
              <a:rPr lang="en-US" sz="1100" b="1" spc="300" kern="0" dirty="0">
                <a:solidFill>
                  <a:srgbClr val="93C5FD"/>
                </a:solidFill>
                <a:latin typeface="Malgun Gothic" pitchFamily="34" charset="0"/>
                <a:ea typeface="Malgun Gothic" pitchFamily="34" charset="-122"/>
                <a:cs typeface="Malgun Gothic" pitchFamily="34" charset="-120"/>
              </a:rPr>
              <a:t>05  SERVICE DETAIL  ·  플리마켓·캠퍼스 마켓 운영</a:t>
            </a:r>
            <a:endParaRPr lang="en-US" sz="1100" dirty="0"/>
          </a:p>
        </p:txBody>
      </p:sp>
      <p:sp>
        <p:nvSpPr>
          <p:cNvPr id="6" name="Text 4"/>
          <p:cNvSpPr txBox="1"/>
          <p:nvPr/>
        </p:nvSpPr>
        <p:spPr>
          <a:xfrm>
            <a:off x="640080" y="1143000"/>
            <a:ext cx="10911535" cy="594360"/>
          </a:xfrm>
          <a:prstGeom prst="rect">
            <a:avLst/>
          </a:prstGeom>
          <a:noFill/>
          <a:ln/>
        </p:spPr>
        <p:txBody>
          <a:bodyPr wrap="square" lIns="0" tIns="0" rIns="0" bIns="0" rtlCol="0" anchor="t"/>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플리마켓·캠퍼스 마켓 운영</a:t>
            </a:r>
            <a:endParaRPr lang="en-US" sz="2800" dirty="0"/>
          </a:p>
        </p:txBody>
      </p:sp>
      <p:sp>
        <p:nvSpPr>
          <p:cNvPr id="7" name="Text 5"/>
          <p:cNvSpPr txBox="1"/>
          <p:nvPr/>
        </p:nvSpPr>
        <p:spPr>
          <a:xfrm>
            <a:off x="640080" y="1737360"/>
            <a:ext cx="10911535" cy="411480"/>
          </a:xfrm>
          <a:prstGeom prst="rect">
            <a:avLst/>
          </a:prstGeom>
          <a:noFill/>
          <a:ln/>
        </p:spPr>
        <p:txBody>
          <a:bodyPr wrap="square" lIns="0" tIns="0" rIns="0" bIns="0" rtlCol="0" anchor="t"/>
          <a:lstStyle/>
          <a:p>
            <a:pPr indent="0" marL="0">
              <a:buNone/>
            </a:pPr>
            <a:r>
              <a:rPr lang="en-US" sz="1300" dirty="0">
                <a:solidFill>
                  <a:srgbClr val="D6E4F8"/>
                </a:solidFill>
                <a:latin typeface="Malgun Gothic" pitchFamily="34" charset="0"/>
                <a:ea typeface="Malgun Gothic" pitchFamily="34" charset="-122"/>
                <a:cs typeface="Malgun Gothic" pitchFamily="34" charset="-120"/>
              </a:rPr>
              <a:t>마켓 행사  ·  대학교 축제, 카페 홀, 유휴공간 등 어떤 공간이든 플리마켓으로 전환합니다.</a:t>
            </a:r>
            <a:endParaRPr lang="en-US" sz="1300" dirty="0"/>
          </a:p>
        </p:txBody>
      </p:sp>
      <p:sp>
        <p:nvSpPr>
          <p:cNvPr id="8" name="Text 6"/>
          <p:cNvSpPr txBox="1"/>
          <p:nvPr/>
        </p:nvSpPr>
        <p:spPr>
          <a:xfrm>
            <a:off x="640080" y="6400800"/>
            <a:ext cx="3657600" cy="228600"/>
          </a:xfrm>
          <a:prstGeom prst="rect">
            <a:avLst/>
          </a:prstGeom>
          <a:noFill/>
          <a:ln/>
        </p:spPr>
        <p:txBody>
          <a:bodyPr wrap="square" lIns="0" tIns="0" rIns="0" bIns="0" rtlCol="0" anchor="t"/>
          <a:lstStyle/>
          <a:p>
            <a:pPr indent="0" marL="0">
              <a:buNone/>
            </a:pPr>
            <a:r>
              <a:rPr lang="en-US" sz="900" dirty="0">
                <a:solidFill>
                  <a:srgbClr val="94A3B8"/>
                </a:solidFill>
                <a:latin typeface="Malgun Gothic" pitchFamily="34" charset="0"/>
                <a:ea typeface="Malgun Gothic" pitchFamily="34" charset="-122"/>
                <a:cs typeface="Malgun Gothic" pitchFamily="34" charset="-120"/>
              </a:rPr>
              <a:t>플릿 유니온 회사소개서</a:t>
            </a:r>
            <a:endParaRPr lang="en-US" sz="900" dirty="0"/>
          </a:p>
        </p:txBody>
      </p:sp>
      <p:sp>
        <p:nvSpPr>
          <p:cNvPr id="9" name="Text 7"/>
          <p:cNvSpPr txBox="1"/>
          <p:nvPr/>
        </p:nvSpPr>
        <p:spPr>
          <a:xfrm>
            <a:off x="10637215" y="6400800"/>
            <a:ext cx="914400" cy="228600"/>
          </a:xfrm>
          <a:prstGeom prst="rect">
            <a:avLst/>
          </a:prstGeom>
          <a:noFill/>
          <a:ln/>
        </p:spPr>
        <p:txBody>
          <a:bodyPr wrap="square" lIns="0" tIns="0" rIns="0" bIns="0" rtlCol="0" anchor="t"/>
          <a:lstStyle/>
          <a:p>
            <a:pPr algn="r" indent="0" marL="0">
              <a:buNone/>
            </a:pPr>
            <a:r>
              <a:rPr lang="en-US" sz="900" dirty="0">
                <a:solidFill>
                  <a:srgbClr val="94A3B8"/>
                </a:solidFill>
                <a:latin typeface="Malgun Gothic" pitchFamily="34" charset="0"/>
                <a:ea typeface="Malgun Gothic" pitchFamily="34" charset="-122"/>
                <a:cs typeface="Malgun Gothic" pitchFamily="34" charset="-120"/>
              </a:rPr>
              <a:t>08</a:t>
            </a:r>
            <a:endParaRPr lang="en-US" sz="900" dirty="0"/>
          </a:p>
        </p:txBody>
      </p:sp>
      <p:sp>
        <p:nvSpPr>
          <p:cNvPr id="10" name="Shape 8"/>
          <p:cNvSpPr/>
          <p:nvPr/>
        </p:nvSpPr>
        <p:spPr>
          <a:xfrm>
            <a:off x="640080" y="2331720"/>
            <a:ext cx="3749040" cy="3840480"/>
          </a:xfrm>
          <a:prstGeom prst="roundRect">
            <a:avLst>
              <a:gd name="adj" fmla="val 2439"/>
            </a:avLst>
          </a:prstGeom>
          <a:solidFill>
            <a:srgbClr val="FFFFFF"/>
          </a:solidFill>
          <a:ln w="12700">
            <a:solidFill>
              <a:srgbClr val="FFFFFF"/>
            </a:solidFill>
            <a:prstDash val="solid"/>
          </a:ln>
        </p:spPr>
      </p:sp>
      <p:sp>
        <p:nvSpPr>
          <p:cNvPr id="11" name="Shape 9"/>
          <p:cNvSpPr/>
          <p:nvPr/>
        </p:nvSpPr>
        <p:spPr>
          <a:xfrm>
            <a:off x="960120" y="2651760"/>
            <a:ext cx="594360" cy="594360"/>
          </a:xfrm>
          <a:prstGeom prst="ellipse">
            <a:avLst/>
          </a:prstGeom>
          <a:solidFill>
            <a:srgbClr val="3182F6"/>
          </a:solidFill>
          <a:ln w="12700">
            <a:solidFill>
              <a:srgbClr val="3182F6"/>
            </a:solidFill>
            <a:prstDash val="solid"/>
          </a:ln>
        </p:spPr>
      </p:sp>
      <p:pic>
        <p:nvPicPr>
          <p:cNvPr id="12" name="Image 0" descr="preencoded.png">    </p:cNvPr>
          <p:cNvPicPr>
            <a:picLocks noChangeAspect="1"/>
          </p:cNvPicPr>
          <p:nvPr/>
        </p:nvPicPr>
        <p:blipFill>
          <a:blip r:embed="rId1"/>
          <a:stretch>
            <a:fillRect/>
          </a:stretch>
        </p:blipFill>
        <p:spPr>
          <a:xfrm>
            <a:off x="1108710" y="2800350"/>
            <a:ext cx="297180" cy="297180"/>
          </a:xfrm>
          <a:prstGeom prst="rect">
            <a:avLst/>
          </a:prstGeom>
        </p:spPr>
      </p:pic>
      <p:sp>
        <p:nvSpPr>
          <p:cNvPr id="13" name="Text 10"/>
          <p:cNvSpPr txBox="1"/>
          <p:nvPr/>
        </p:nvSpPr>
        <p:spPr>
          <a:xfrm>
            <a:off x="960120" y="3383280"/>
            <a:ext cx="3108960" cy="1554480"/>
          </a:xfrm>
          <a:prstGeom prst="rect">
            <a:avLst/>
          </a:prstGeom>
          <a:noFill/>
          <a:ln/>
        </p:spPr>
        <p:txBody>
          <a:bodyPr wrap="square" lIns="0" tIns="0" rIns="0" bIns="0" rtlCol="0" anchor="t"/>
          <a:lstStyle/>
          <a:p>
            <a:pPr indent="0" marL="0">
              <a:lnSpc>
                <a:spcPct val="125000"/>
              </a:lnSpc>
              <a:buNone/>
            </a:pPr>
            <a:r>
              <a:rPr lang="en-US" sz="1000" dirty="0">
                <a:solidFill>
                  <a:srgbClr val="475569"/>
                </a:solidFill>
                <a:latin typeface="Malgun Gothic" pitchFamily="34" charset="0"/>
                <a:ea typeface="Malgun Gothic" pitchFamily="34" charset="-122"/>
                <a:cs typeface="Malgun Gothic" pitchFamily="34" charset="-120"/>
              </a:rPr>
              <a:t>공간 분석부터 셀러 모집, 현장 설치, 행사 운영까지 — Flit 셀러 네트워크를 기반으로 퀄리티 높은 플리마켓을 원스톱으로 대행합니다. 의뢰인은 공간만 제공하면 됩니다.</a:t>
            </a:r>
            <a:endParaRPr lang="en-US" sz="1000" dirty="0"/>
          </a:p>
        </p:txBody>
      </p:sp>
      <p:sp>
        <p:nvSpPr>
          <p:cNvPr id="14" name="Shape 11"/>
          <p:cNvSpPr/>
          <p:nvPr/>
        </p:nvSpPr>
        <p:spPr>
          <a:xfrm>
            <a:off x="960120" y="5029200"/>
            <a:ext cx="975360" cy="868680"/>
          </a:xfrm>
          <a:prstGeom prst="roundRect">
            <a:avLst>
              <a:gd name="adj" fmla="val 10526"/>
            </a:avLst>
          </a:prstGeom>
          <a:solidFill>
            <a:srgbClr val="EAF2FF"/>
          </a:solidFill>
          <a:ln w="12700">
            <a:solidFill>
              <a:srgbClr val="EAF2FF"/>
            </a:solidFill>
            <a:prstDash val="solid"/>
          </a:ln>
        </p:spPr>
      </p:sp>
      <p:sp>
        <p:nvSpPr>
          <p:cNvPr id="15" name="Text 12"/>
          <p:cNvSpPr txBox="1"/>
          <p:nvPr/>
        </p:nvSpPr>
        <p:spPr>
          <a:xfrm>
            <a:off x="1005840" y="5138928"/>
            <a:ext cx="883920" cy="411480"/>
          </a:xfrm>
          <a:prstGeom prst="rect">
            <a:avLst/>
          </a:prstGeom>
          <a:noFill/>
          <a:ln/>
        </p:spPr>
        <p:txBody>
          <a:bodyPr wrap="square" lIns="0" tIns="0" rIns="0" bIns="0" rtlCol="0" anchor="t"/>
          <a:lstStyle/>
          <a:p>
            <a:pPr algn="ctr" indent="0" marL="0">
              <a:buNone/>
            </a:pPr>
            <a:r>
              <a:rPr lang="en-US" sz="1500" b="1" dirty="0">
                <a:solidFill>
                  <a:srgbClr val="3182F6"/>
                </a:solidFill>
                <a:latin typeface="Arial Black" pitchFamily="34" charset="0"/>
                <a:ea typeface="Arial Black" pitchFamily="34" charset="-122"/>
                <a:cs typeface="Arial Black" pitchFamily="34" charset="-120"/>
              </a:rPr>
              <a:t>50+</a:t>
            </a:r>
            <a:endParaRPr lang="en-US" sz="1500" dirty="0"/>
          </a:p>
        </p:txBody>
      </p:sp>
      <p:sp>
        <p:nvSpPr>
          <p:cNvPr id="16" name="Text 13"/>
          <p:cNvSpPr txBox="1"/>
          <p:nvPr/>
        </p:nvSpPr>
        <p:spPr>
          <a:xfrm>
            <a:off x="1005840" y="5541264"/>
            <a:ext cx="883920" cy="274320"/>
          </a:xfrm>
          <a:prstGeom prst="rect">
            <a:avLst/>
          </a:prstGeom>
          <a:noFill/>
          <a:ln/>
        </p:spPr>
        <p:txBody>
          <a:bodyPr wrap="square" lIns="0" tIns="0" rIns="0" bIns="0" rtlCol="0" anchor="t"/>
          <a:lstStyle/>
          <a:p>
            <a:pPr algn="ctr" indent="0" marL="0">
              <a:buNone/>
            </a:pPr>
            <a:r>
              <a:rPr lang="en-US" sz="850" dirty="0">
                <a:solidFill>
                  <a:srgbClr val="475569"/>
                </a:solidFill>
                <a:latin typeface="Malgun Gothic" pitchFamily="34" charset="0"/>
                <a:ea typeface="Malgun Gothic" pitchFamily="34" charset="-122"/>
                <a:cs typeface="Malgun Gothic" pitchFamily="34" charset="-120"/>
              </a:rPr>
              <a:t>운영 행사</a:t>
            </a:r>
            <a:endParaRPr lang="en-US" sz="850" dirty="0"/>
          </a:p>
        </p:txBody>
      </p:sp>
      <p:sp>
        <p:nvSpPr>
          <p:cNvPr id="17" name="Shape 14"/>
          <p:cNvSpPr/>
          <p:nvPr/>
        </p:nvSpPr>
        <p:spPr>
          <a:xfrm>
            <a:off x="2026920" y="5029200"/>
            <a:ext cx="975360" cy="868680"/>
          </a:xfrm>
          <a:prstGeom prst="roundRect">
            <a:avLst>
              <a:gd name="adj" fmla="val 10526"/>
            </a:avLst>
          </a:prstGeom>
          <a:solidFill>
            <a:srgbClr val="EAF2FF"/>
          </a:solidFill>
          <a:ln w="12700">
            <a:solidFill>
              <a:srgbClr val="EAF2FF"/>
            </a:solidFill>
            <a:prstDash val="solid"/>
          </a:ln>
        </p:spPr>
      </p:sp>
      <p:sp>
        <p:nvSpPr>
          <p:cNvPr id="18" name="Text 15"/>
          <p:cNvSpPr txBox="1"/>
          <p:nvPr/>
        </p:nvSpPr>
        <p:spPr>
          <a:xfrm>
            <a:off x="2072640" y="5138928"/>
            <a:ext cx="883920" cy="411480"/>
          </a:xfrm>
          <a:prstGeom prst="rect">
            <a:avLst/>
          </a:prstGeom>
          <a:noFill/>
          <a:ln/>
        </p:spPr>
        <p:txBody>
          <a:bodyPr wrap="square" lIns="0" tIns="0" rIns="0" bIns="0" rtlCol="0" anchor="t"/>
          <a:lstStyle/>
          <a:p>
            <a:pPr algn="ctr" indent="0" marL="0">
              <a:buNone/>
            </a:pPr>
            <a:r>
              <a:rPr lang="en-US" sz="1500" b="1" dirty="0">
                <a:solidFill>
                  <a:srgbClr val="3182F6"/>
                </a:solidFill>
                <a:latin typeface="Arial Black" pitchFamily="34" charset="0"/>
                <a:ea typeface="Arial Black" pitchFamily="34" charset="-122"/>
                <a:cs typeface="Arial Black" pitchFamily="34" charset="-120"/>
              </a:rPr>
              <a:t>500+</a:t>
            </a:r>
            <a:endParaRPr lang="en-US" sz="1500" dirty="0"/>
          </a:p>
        </p:txBody>
      </p:sp>
      <p:sp>
        <p:nvSpPr>
          <p:cNvPr id="19" name="Text 16"/>
          <p:cNvSpPr txBox="1"/>
          <p:nvPr/>
        </p:nvSpPr>
        <p:spPr>
          <a:xfrm>
            <a:off x="2072640" y="5541264"/>
            <a:ext cx="883920" cy="274320"/>
          </a:xfrm>
          <a:prstGeom prst="rect">
            <a:avLst/>
          </a:prstGeom>
          <a:noFill/>
          <a:ln/>
        </p:spPr>
        <p:txBody>
          <a:bodyPr wrap="square" lIns="0" tIns="0" rIns="0" bIns="0" rtlCol="0" anchor="t"/>
          <a:lstStyle/>
          <a:p>
            <a:pPr algn="ctr" indent="0" marL="0">
              <a:buNone/>
            </a:pPr>
            <a:r>
              <a:rPr lang="en-US" sz="850" dirty="0">
                <a:solidFill>
                  <a:srgbClr val="475569"/>
                </a:solidFill>
                <a:latin typeface="Malgun Gothic" pitchFamily="34" charset="0"/>
                <a:ea typeface="Malgun Gothic" pitchFamily="34" charset="-122"/>
                <a:cs typeface="Malgun Gothic" pitchFamily="34" charset="-120"/>
              </a:rPr>
              <a:t>Flit 셀러 DB</a:t>
            </a:r>
            <a:endParaRPr lang="en-US" sz="850" dirty="0"/>
          </a:p>
        </p:txBody>
      </p:sp>
      <p:sp>
        <p:nvSpPr>
          <p:cNvPr id="20" name="Shape 17"/>
          <p:cNvSpPr/>
          <p:nvPr/>
        </p:nvSpPr>
        <p:spPr>
          <a:xfrm>
            <a:off x="3093720" y="5029200"/>
            <a:ext cx="975360" cy="868680"/>
          </a:xfrm>
          <a:prstGeom prst="roundRect">
            <a:avLst>
              <a:gd name="adj" fmla="val 10526"/>
            </a:avLst>
          </a:prstGeom>
          <a:solidFill>
            <a:srgbClr val="EAF2FF"/>
          </a:solidFill>
          <a:ln w="12700">
            <a:solidFill>
              <a:srgbClr val="EAF2FF"/>
            </a:solidFill>
            <a:prstDash val="solid"/>
          </a:ln>
        </p:spPr>
      </p:sp>
      <p:sp>
        <p:nvSpPr>
          <p:cNvPr id="21" name="Text 18"/>
          <p:cNvSpPr txBox="1"/>
          <p:nvPr/>
        </p:nvSpPr>
        <p:spPr>
          <a:xfrm>
            <a:off x="3139440" y="5138928"/>
            <a:ext cx="883920" cy="411480"/>
          </a:xfrm>
          <a:prstGeom prst="rect">
            <a:avLst/>
          </a:prstGeom>
          <a:noFill/>
          <a:ln/>
        </p:spPr>
        <p:txBody>
          <a:bodyPr wrap="square" lIns="0" tIns="0" rIns="0" bIns="0" rtlCol="0" anchor="t"/>
          <a:lstStyle/>
          <a:p>
            <a:pPr algn="ctr" indent="0" marL="0">
              <a:buNone/>
            </a:pPr>
            <a:r>
              <a:rPr lang="en-US" sz="1500" b="1" dirty="0">
                <a:solidFill>
                  <a:srgbClr val="3182F6"/>
                </a:solidFill>
                <a:latin typeface="Arial Black" pitchFamily="34" charset="0"/>
                <a:ea typeface="Arial Black" pitchFamily="34" charset="-122"/>
                <a:cs typeface="Arial Black" pitchFamily="34" charset="-120"/>
              </a:rPr>
              <a:t>98%</a:t>
            </a:r>
            <a:endParaRPr lang="en-US" sz="1500" dirty="0"/>
          </a:p>
        </p:txBody>
      </p:sp>
      <p:sp>
        <p:nvSpPr>
          <p:cNvPr id="22" name="Text 19"/>
          <p:cNvSpPr txBox="1"/>
          <p:nvPr/>
        </p:nvSpPr>
        <p:spPr>
          <a:xfrm>
            <a:off x="3139440" y="5541264"/>
            <a:ext cx="883920" cy="274320"/>
          </a:xfrm>
          <a:prstGeom prst="rect">
            <a:avLst/>
          </a:prstGeom>
          <a:noFill/>
          <a:ln/>
        </p:spPr>
        <p:txBody>
          <a:bodyPr wrap="square" lIns="0" tIns="0" rIns="0" bIns="0" rtlCol="0" anchor="t"/>
          <a:lstStyle/>
          <a:p>
            <a:pPr algn="ctr" indent="0" marL="0">
              <a:buNone/>
            </a:pPr>
            <a:r>
              <a:rPr lang="en-US" sz="850" dirty="0">
                <a:solidFill>
                  <a:srgbClr val="475569"/>
                </a:solidFill>
                <a:latin typeface="Malgun Gothic" pitchFamily="34" charset="0"/>
                <a:ea typeface="Malgun Gothic" pitchFamily="34" charset="-122"/>
                <a:cs typeface="Malgun Gothic" pitchFamily="34" charset="-120"/>
              </a:rPr>
              <a:t>재의뢰율</a:t>
            </a:r>
            <a:endParaRPr lang="en-US" sz="850" dirty="0"/>
          </a:p>
        </p:txBody>
      </p:sp>
      <p:sp>
        <p:nvSpPr>
          <p:cNvPr id="23" name="Shape 20"/>
          <p:cNvSpPr/>
          <p:nvPr/>
        </p:nvSpPr>
        <p:spPr>
          <a:xfrm>
            <a:off x="4709160" y="2331720"/>
            <a:ext cx="2158898" cy="1828800"/>
          </a:xfrm>
          <a:prstGeom prst="roundRect">
            <a:avLst>
              <a:gd name="adj" fmla="val 5000"/>
            </a:avLst>
          </a:prstGeom>
          <a:solidFill>
            <a:srgbClr val="12305F"/>
          </a:solidFill>
          <a:ln w="12700">
            <a:solidFill>
              <a:srgbClr val="1F5FD0"/>
            </a:solidFill>
            <a:prstDash val="solid"/>
          </a:ln>
        </p:spPr>
      </p:sp>
      <p:sp>
        <p:nvSpPr>
          <p:cNvPr id="24" name="Text 21"/>
          <p:cNvSpPr txBox="1"/>
          <p:nvPr/>
        </p:nvSpPr>
        <p:spPr>
          <a:xfrm>
            <a:off x="4937760" y="251460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01</a:t>
            </a:r>
            <a:endParaRPr lang="en-US" sz="1000" dirty="0"/>
          </a:p>
        </p:txBody>
      </p:sp>
      <p:sp>
        <p:nvSpPr>
          <p:cNvPr id="25" name="Text 22"/>
          <p:cNvSpPr txBox="1"/>
          <p:nvPr/>
        </p:nvSpPr>
        <p:spPr>
          <a:xfrm>
            <a:off x="4892040" y="277063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Flit 기반 셀러 선발</a:t>
            </a:r>
            <a:endParaRPr lang="en-US" sz="1100" dirty="0"/>
          </a:p>
        </p:txBody>
      </p:sp>
      <p:sp>
        <p:nvSpPr>
          <p:cNvPr id="26" name="Text 23"/>
          <p:cNvSpPr txBox="1"/>
          <p:nvPr/>
        </p:nvSpPr>
        <p:spPr>
          <a:xfrm>
            <a:off x="4892040" y="315468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플릿 플랫폼의 리뷰 점수와 참가 이력을 기반으로 행사 콘셉트에 맞는 셀러를 빠르게 선발합니다. 불참·품질 미달 리스크를 최소화합니다.</a:t>
            </a:r>
            <a:endParaRPr lang="en-US" sz="850" dirty="0"/>
          </a:p>
        </p:txBody>
      </p:sp>
      <p:sp>
        <p:nvSpPr>
          <p:cNvPr id="27" name="Shape 24"/>
          <p:cNvSpPr/>
          <p:nvPr/>
        </p:nvSpPr>
        <p:spPr>
          <a:xfrm>
            <a:off x="7050938" y="2331720"/>
            <a:ext cx="2158898" cy="1828800"/>
          </a:xfrm>
          <a:prstGeom prst="roundRect">
            <a:avLst>
              <a:gd name="adj" fmla="val 5000"/>
            </a:avLst>
          </a:prstGeom>
          <a:solidFill>
            <a:srgbClr val="12305F"/>
          </a:solidFill>
          <a:ln w="12700">
            <a:solidFill>
              <a:srgbClr val="1F5FD0"/>
            </a:solidFill>
            <a:prstDash val="solid"/>
          </a:ln>
        </p:spPr>
      </p:sp>
      <p:sp>
        <p:nvSpPr>
          <p:cNvPr id="28" name="Text 25"/>
          <p:cNvSpPr txBox="1"/>
          <p:nvPr/>
        </p:nvSpPr>
        <p:spPr>
          <a:xfrm>
            <a:off x="7279538" y="251460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02</a:t>
            </a:r>
            <a:endParaRPr lang="en-US" sz="1000" dirty="0"/>
          </a:p>
        </p:txBody>
      </p:sp>
      <p:sp>
        <p:nvSpPr>
          <p:cNvPr id="29" name="Text 26"/>
          <p:cNvSpPr txBox="1"/>
          <p:nvPr/>
        </p:nvSpPr>
        <p:spPr>
          <a:xfrm>
            <a:off x="7233818" y="277063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공간 최적화 레이아웃 설계</a:t>
            </a:r>
            <a:endParaRPr lang="en-US" sz="1100" dirty="0"/>
          </a:p>
        </p:txBody>
      </p:sp>
      <p:sp>
        <p:nvSpPr>
          <p:cNvPr id="30" name="Text 27"/>
          <p:cNvSpPr txBox="1"/>
          <p:nvPr/>
        </p:nvSpPr>
        <p:spPr>
          <a:xfrm>
            <a:off x="7233818" y="315468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공간의 형태, 유동 동선, 출입구 위치를 분석해 최적의 부스 배치와 동선을 설계합니다. 방문자 체류 시간과 셀러 매출을 동시에 높입니다.</a:t>
            </a:r>
            <a:endParaRPr lang="en-US" sz="850" dirty="0"/>
          </a:p>
        </p:txBody>
      </p:sp>
      <p:sp>
        <p:nvSpPr>
          <p:cNvPr id="31" name="Shape 28"/>
          <p:cNvSpPr/>
          <p:nvPr/>
        </p:nvSpPr>
        <p:spPr>
          <a:xfrm>
            <a:off x="9392717" y="2331720"/>
            <a:ext cx="2158898" cy="1828800"/>
          </a:xfrm>
          <a:prstGeom prst="roundRect">
            <a:avLst>
              <a:gd name="adj" fmla="val 5000"/>
            </a:avLst>
          </a:prstGeom>
          <a:solidFill>
            <a:srgbClr val="12305F"/>
          </a:solidFill>
          <a:ln w="12700">
            <a:solidFill>
              <a:srgbClr val="1F5FD0"/>
            </a:solidFill>
            <a:prstDash val="solid"/>
          </a:ln>
        </p:spPr>
      </p:sp>
      <p:sp>
        <p:nvSpPr>
          <p:cNvPr id="32" name="Text 29"/>
          <p:cNvSpPr txBox="1"/>
          <p:nvPr/>
        </p:nvSpPr>
        <p:spPr>
          <a:xfrm>
            <a:off x="9621317" y="251460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03</a:t>
            </a:r>
            <a:endParaRPr lang="en-US" sz="1000" dirty="0"/>
          </a:p>
        </p:txBody>
      </p:sp>
      <p:sp>
        <p:nvSpPr>
          <p:cNvPr id="33" name="Text 30"/>
          <p:cNvSpPr txBox="1"/>
          <p:nvPr/>
        </p:nvSpPr>
        <p:spPr>
          <a:xfrm>
            <a:off x="9575597" y="277063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전담 현장 매니저 배치</a:t>
            </a:r>
            <a:endParaRPr lang="en-US" sz="1100" dirty="0"/>
          </a:p>
        </p:txBody>
      </p:sp>
      <p:sp>
        <p:nvSpPr>
          <p:cNvPr id="34" name="Text 31"/>
          <p:cNvSpPr txBox="1"/>
          <p:nvPr/>
        </p:nvSpPr>
        <p:spPr>
          <a:xfrm>
            <a:off x="9575597" y="315468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행사 당일 전담 운영 매니저가 상주합니다. 셀러 입·퇴장 관리, 방문객 안내, 돌발 상황 대응까지 모두 책임집니다.</a:t>
            </a:r>
            <a:endParaRPr lang="en-US" sz="850" dirty="0"/>
          </a:p>
        </p:txBody>
      </p:sp>
      <p:sp>
        <p:nvSpPr>
          <p:cNvPr id="35" name="Shape 32"/>
          <p:cNvSpPr/>
          <p:nvPr/>
        </p:nvSpPr>
        <p:spPr>
          <a:xfrm>
            <a:off x="4709160" y="4343400"/>
            <a:ext cx="2158898" cy="1828800"/>
          </a:xfrm>
          <a:prstGeom prst="roundRect">
            <a:avLst>
              <a:gd name="adj" fmla="val 5000"/>
            </a:avLst>
          </a:prstGeom>
          <a:solidFill>
            <a:srgbClr val="12305F"/>
          </a:solidFill>
          <a:ln w="12700">
            <a:solidFill>
              <a:srgbClr val="1F5FD0"/>
            </a:solidFill>
            <a:prstDash val="solid"/>
          </a:ln>
        </p:spPr>
      </p:sp>
      <p:sp>
        <p:nvSpPr>
          <p:cNvPr id="36" name="Text 33"/>
          <p:cNvSpPr txBox="1"/>
          <p:nvPr/>
        </p:nvSpPr>
        <p:spPr>
          <a:xfrm>
            <a:off x="4937760" y="452628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04</a:t>
            </a:r>
            <a:endParaRPr lang="en-US" sz="1000" dirty="0"/>
          </a:p>
        </p:txBody>
      </p:sp>
      <p:sp>
        <p:nvSpPr>
          <p:cNvPr id="37" name="Text 34"/>
          <p:cNvSpPr txBox="1"/>
          <p:nvPr/>
        </p:nvSpPr>
        <p:spPr>
          <a:xfrm>
            <a:off x="4892040" y="478231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SNS 홍보 지원</a:t>
            </a:r>
            <a:endParaRPr lang="en-US" sz="1100" dirty="0"/>
          </a:p>
        </p:txBody>
      </p:sp>
      <p:sp>
        <p:nvSpPr>
          <p:cNvPr id="38" name="Text 35"/>
          <p:cNvSpPr txBox="1"/>
          <p:nvPr/>
        </p:nvSpPr>
        <p:spPr>
          <a:xfrm>
            <a:off x="4892040" y="516636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행사 전 인스타그램·카카오채널을 통한 셀러 모집 공고와 방문자 유입 홍보를 지원합니다. 별도 마케팅 비용 없이 진행됩니다.</a:t>
            </a:r>
            <a:endParaRPr lang="en-US" sz="850" dirty="0"/>
          </a:p>
        </p:txBody>
      </p:sp>
      <p:sp>
        <p:nvSpPr>
          <p:cNvPr id="39" name="Shape 36"/>
          <p:cNvSpPr/>
          <p:nvPr/>
        </p:nvSpPr>
        <p:spPr>
          <a:xfrm>
            <a:off x="7050938" y="4343400"/>
            <a:ext cx="2158898" cy="1828800"/>
          </a:xfrm>
          <a:prstGeom prst="roundRect">
            <a:avLst>
              <a:gd name="adj" fmla="val 5000"/>
            </a:avLst>
          </a:prstGeom>
          <a:solidFill>
            <a:srgbClr val="12305F"/>
          </a:solidFill>
          <a:ln w="12700">
            <a:solidFill>
              <a:srgbClr val="1F5FD0"/>
            </a:solidFill>
            <a:prstDash val="solid"/>
          </a:ln>
        </p:spPr>
      </p:sp>
      <p:sp>
        <p:nvSpPr>
          <p:cNvPr id="40" name="Text 37"/>
          <p:cNvSpPr txBox="1"/>
          <p:nvPr/>
        </p:nvSpPr>
        <p:spPr>
          <a:xfrm>
            <a:off x="7279538" y="452628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05</a:t>
            </a:r>
            <a:endParaRPr lang="en-US" sz="1000" dirty="0"/>
          </a:p>
        </p:txBody>
      </p:sp>
      <p:sp>
        <p:nvSpPr>
          <p:cNvPr id="41" name="Text 38"/>
          <p:cNvSpPr txBox="1"/>
          <p:nvPr/>
        </p:nvSpPr>
        <p:spPr>
          <a:xfrm>
            <a:off x="7233818" y="478231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투명한 정산 &amp; 보고서</a:t>
            </a:r>
            <a:endParaRPr lang="en-US" sz="1100" dirty="0"/>
          </a:p>
        </p:txBody>
      </p:sp>
      <p:sp>
        <p:nvSpPr>
          <p:cNvPr id="42" name="Text 39"/>
          <p:cNvSpPr txBox="1"/>
          <p:nvPr/>
        </p:nvSpPr>
        <p:spPr>
          <a:xfrm>
            <a:off x="7233818" y="516636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행사 종료 후 방문자 수, 셀러별 매출, 참가비 정산 내역을 담은 결과 보고서를 제공합니다. 모든 수치를 투명하게 공개합니다.</a:t>
            </a:r>
            <a:endParaRPr lang="en-US" sz="850" dirty="0"/>
          </a:p>
        </p:txBody>
      </p:sp>
      <p:sp>
        <p:nvSpPr>
          <p:cNvPr id="43" name="Shape 40"/>
          <p:cNvSpPr/>
          <p:nvPr/>
        </p:nvSpPr>
        <p:spPr>
          <a:xfrm>
            <a:off x="9392717" y="4343400"/>
            <a:ext cx="2158898" cy="1828800"/>
          </a:xfrm>
          <a:prstGeom prst="roundRect">
            <a:avLst>
              <a:gd name="adj" fmla="val 5000"/>
            </a:avLst>
          </a:prstGeom>
          <a:solidFill>
            <a:srgbClr val="12305F"/>
          </a:solidFill>
          <a:ln w="12700">
            <a:solidFill>
              <a:srgbClr val="1F5FD0"/>
            </a:solidFill>
            <a:prstDash val="solid"/>
          </a:ln>
        </p:spPr>
      </p:sp>
      <p:sp>
        <p:nvSpPr>
          <p:cNvPr id="44" name="Text 41"/>
          <p:cNvSpPr txBox="1"/>
          <p:nvPr/>
        </p:nvSpPr>
        <p:spPr>
          <a:xfrm>
            <a:off x="9621317" y="452628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06</a:t>
            </a:r>
            <a:endParaRPr lang="en-US" sz="1000" dirty="0"/>
          </a:p>
        </p:txBody>
      </p:sp>
      <p:sp>
        <p:nvSpPr>
          <p:cNvPr id="45" name="Text 42"/>
          <p:cNvSpPr txBox="1"/>
          <p:nvPr/>
        </p:nvSpPr>
        <p:spPr>
          <a:xfrm>
            <a:off x="9575597" y="478231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월 정기 운영 우대</a:t>
            </a:r>
            <a:endParaRPr lang="en-US" sz="1100" dirty="0"/>
          </a:p>
        </p:txBody>
      </p:sp>
      <p:sp>
        <p:nvSpPr>
          <p:cNvPr id="46" name="Text 43"/>
          <p:cNvSpPr txBox="1"/>
          <p:nvPr/>
        </p:nvSpPr>
        <p:spPr>
          <a:xfrm>
            <a:off x="9575597" y="516636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월 2회 이상 정기 운영 계약 시 운영비 할인과 전담 매니저 우선 배정 혜택을 제공합니다.</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44"/>
        </a:solidFill>
      </p:bgPr>
    </p:bg>
    <p:spTree>
      <p:nvGrpSpPr>
        <p:cNvPr id="1" name=""/>
        <p:cNvGrpSpPr/>
        <p:nvPr/>
      </p:nvGrpSpPr>
      <p:grpSpPr>
        <a:xfrm>
          <a:off x="0" y="0"/>
          <a:ext cx="0" cy="0"/>
          <a:chOff x="0" y="0"/>
          <a:chExt cx="0" cy="0"/>
        </a:xfrm>
      </p:grpSpPr>
      <p:sp>
        <p:nvSpPr>
          <p:cNvPr id="2" name="Shape 0"/>
          <p:cNvSpPr/>
          <p:nvPr/>
        </p:nvSpPr>
        <p:spPr>
          <a:xfrm>
            <a:off x="9265615" y="-2377440"/>
            <a:ext cx="5120640" cy="5120640"/>
          </a:xfrm>
          <a:prstGeom prst="ellipse">
            <a:avLst/>
          </a:prstGeom>
          <a:solidFill>
            <a:srgbClr val="12305F"/>
          </a:solidFill>
          <a:ln w="12700">
            <a:solidFill>
              <a:srgbClr val="12305F"/>
            </a:solidFill>
            <a:prstDash val="solid"/>
          </a:ln>
        </p:spPr>
      </p:sp>
      <p:sp>
        <p:nvSpPr>
          <p:cNvPr id="3" name="Shape 1"/>
          <p:cNvSpPr/>
          <p:nvPr/>
        </p:nvSpPr>
        <p:spPr>
          <a:xfrm>
            <a:off x="-1645920" y="5029200"/>
            <a:ext cx="3657600" cy="3657600"/>
          </a:xfrm>
          <a:prstGeom prst="ellipse">
            <a:avLst/>
          </a:prstGeom>
          <a:solidFill>
            <a:srgbClr val="12305F"/>
          </a:solidFill>
          <a:ln w="12700">
            <a:solidFill>
              <a:srgbClr val="12305F"/>
            </a:solidFill>
            <a:prstDash val="solid"/>
          </a:ln>
        </p:spPr>
      </p:sp>
      <p:sp>
        <p:nvSpPr>
          <p:cNvPr id="4" name="Text 2"/>
          <p:cNvSpPr txBox="1"/>
          <p:nvPr/>
        </p:nvSpPr>
        <p:spPr>
          <a:xfrm>
            <a:off x="640080" y="384048"/>
            <a:ext cx="1155700" cy="266700"/>
          </a:xfrm>
          <a:prstGeom prst="rect">
            <a:avLst/>
          </a:prstGeom>
          <a:noFill/>
          <a:ln/>
        </p:spPr>
        <p:txBody>
          <a:bodyPr wrap="square" lIns="0" tIns="0" rIns="0" bIns="0" rtlCol="0" anchor="ctr"/>
          <a:lstStyle/>
          <a:p>
            <a:pPr indent="0" marL="0">
              <a:buNone/>
            </a:pPr>
            <a:r>
              <a:rPr lang="en-US" sz="1400" b="1" dirty="0">
                <a:solidFill>
                  <a:srgbClr val="3182F6"/>
                </a:solidFill>
                <a:latin typeface="Arial Black" pitchFamily="34" charset="0"/>
                <a:ea typeface="Arial Black" pitchFamily="34" charset="-122"/>
                <a:cs typeface="Arial Black" pitchFamily="34" charset="-120"/>
              </a:rPr>
              <a:t>Flit</a:t>
            </a:r>
            <a:pPr indent="0" marL="0">
              <a:buNone/>
            </a:pPr>
            <a:r>
              <a:rPr lang="en-US" sz="1400" b="1" dirty="0">
                <a:solidFill>
                  <a:srgbClr val="FFFFFF"/>
                </a:solidFill>
                <a:latin typeface="Arial Black" pitchFamily="34" charset="0"/>
                <a:ea typeface="Arial Black" pitchFamily="34" charset="-122"/>
                <a:cs typeface="Arial Black" pitchFamily="34" charset="-120"/>
              </a:rPr>
              <a:t>Union</a:t>
            </a:r>
            <a:endParaRPr lang="en-US" sz="1400" dirty="0"/>
          </a:p>
        </p:txBody>
      </p:sp>
      <p:sp>
        <p:nvSpPr>
          <p:cNvPr id="5" name="Text 3"/>
          <p:cNvSpPr txBox="1"/>
          <p:nvPr/>
        </p:nvSpPr>
        <p:spPr>
          <a:xfrm>
            <a:off x="640080" y="868680"/>
            <a:ext cx="5486400" cy="274320"/>
          </a:xfrm>
          <a:prstGeom prst="rect">
            <a:avLst/>
          </a:prstGeom>
          <a:noFill/>
          <a:ln/>
        </p:spPr>
        <p:txBody>
          <a:bodyPr wrap="square" lIns="0" tIns="0" rIns="0" bIns="0" rtlCol="0" anchor="t"/>
          <a:lstStyle/>
          <a:p>
            <a:pPr indent="0" marL="0">
              <a:buNone/>
            </a:pPr>
            <a:r>
              <a:rPr lang="en-US" sz="1100" b="1" spc="300" kern="0" dirty="0">
                <a:solidFill>
                  <a:srgbClr val="93C5FD"/>
                </a:solidFill>
                <a:latin typeface="Malgun Gothic" pitchFamily="34" charset="0"/>
                <a:ea typeface="Malgun Gothic" pitchFamily="34" charset="-122"/>
                <a:cs typeface="Malgun Gothic" pitchFamily="34" charset="-120"/>
              </a:rPr>
              <a:t>05  SERVICE DETAIL  ·  축제·행사 부스 운영</a:t>
            </a:r>
            <a:endParaRPr lang="en-US" sz="1100" dirty="0"/>
          </a:p>
        </p:txBody>
      </p:sp>
      <p:sp>
        <p:nvSpPr>
          <p:cNvPr id="6" name="Text 4"/>
          <p:cNvSpPr txBox="1"/>
          <p:nvPr/>
        </p:nvSpPr>
        <p:spPr>
          <a:xfrm>
            <a:off x="640080" y="1143000"/>
            <a:ext cx="10911535" cy="594360"/>
          </a:xfrm>
          <a:prstGeom prst="rect">
            <a:avLst/>
          </a:prstGeom>
          <a:noFill/>
          <a:ln/>
        </p:spPr>
        <p:txBody>
          <a:bodyPr wrap="square" lIns="0" tIns="0" rIns="0" bIns="0" rtlCol="0" anchor="t"/>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축제·행사 부스 운영</a:t>
            </a:r>
            <a:endParaRPr lang="en-US" sz="2800" dirty="0"/>
          </a:p>
        </p:txBody>
      </p:sp>
      <p:sp>
        <p:nvSpPr>
          <p:cNvPr id="7" name="Text 5"/>
          <p:cNvSpPr txBox="1"/>
          <p:nvPr/>
        </p:nvSpPr>
        <p:spPr>
          <a:xfrm>
            <a:off x="640080" y="1737360"/>
            <a:ext cx="10911535" cy="411480"/>
          </a:xfrm>
          <a:prstGeom prst="rect">
            <a:avLst/>
          </a:prstGeom>
          <a:noFill/>
          <a:ln/>
        </p:spPr>
        <p:txBody>
          <a:bodyPr wrap="square" lIns="0" tIns="0" rIns="0" bIns="0" rtlCol="0" anchor="t"/>
          <a:lstStyle/>
          <a:p>
            <a:pPr indent="0" marL="0">
              <a:buNone/>
            </a:pPr>
            <a:r>
              <a:rPr lang="en-US" sz="1300" dirty="0">
                <a:solidFill>
                  <a:srgbClr val="D6E4F8"/>
                </a:solidFill>
                <a:latin typeface="Malgun Gothic" pitchFamily="34" charset="0"/>
                <a:ea typeface="Malgun Gothic" pitchFamily="34" charset="-122"/>
                <a:cs typeface="Malgun Gothic" pitchFamily="34" charset="-120"/>
              </a:rPr>
              <a:t>축제 전문  ·  지자체 축제와 대형 행사의 부스 존을 기획·운영하고 셀러 퀄리티를 관리합니다.</a:t>
            </a:r>
            <a:endParaRPr lang="en-US" sz="1300" dirty="0"/>
          </a:p>
        </p:txBody>
      </p:sp>
      <p:sp>
        <p:nvSpPr>
          <p:cNvPr id="8" name="Text 6"/>
          <p:cNvSpPr txBox="1"/>
          <p:nvPr/>
        </p:nvSpPr>
        <p:spPr>
          <a:xfrm>
            <a:off x="640080" y="6400800"/>
            <a:ext cx="3657600" cy="228600"/>
          </a:xfrm>
          <a:prstGeom prst="rect">
            <a:avLst/>
          </a:prstGeom>
          <a:noFill/>
          <a:ln/>
        </p:spPr>
        <p:txBody>
          <a:bodyPr wrap="square" lIns="0" tIns="0" rIns="0" bIns="0" rtlCol="0" anchor="t"/>
          <a:lstStyle/>
          <a:p>
            <a:pPr indent="0" marL="0">
              <a:buNone/>
            </a:pPr>
            <a:r>
              <a:rPr lang="en-US" sz="900" dirty="0">
                <a:solidFill>
                  <a:srgbClr val="94A3B8"/>
                </a:solidFill>
                <a:latin typeface="Malgun Gothic" pitchFamily="34" charset="0"/>
                <a:ea typeface="Malgun Gothic" pitchFamily="34" charset="-122"/>
                <a:cs typeface="Malgun Gothic" pitchFamily="34" charset="-120"/>
              </a:rPr>
              <a:t>플릿 유니온 회사소개서</a:t>
            </a:r>
            <a:endParaRPr lang="en-US" sz="900" dirty="0"/>
          </a:p>
        </p:txBody>
      </p:sp>
      <p:sp>
        <p:nvSpPr>
          <p:cNvPr id="9" name="Text 7"/>
          <p:cNvSpPr txBox="1"/>
          <p:nvPr/>
        </p:nvSpPr>
        <p:spPr>
          <a:xfrm>
            <a:off x="10637215" y="6400800"/>
            <a:ext cx="914400" cy="228600"/>
          </a:xfrm>
          <a:prstGeom prst="rect">
            <a:avLst/>
          </a:prstGeom>
          <a:noFill/>
          <a:ln/>
        </p:spPr>
        <p:txBody>
          <a:bodyPr wrap="square" lIns="0" tIns="0" rIns="0" bIns="0" rtlCol="0" anchor="t"/>
          <a:lstStyle/>
          <a:p>
            <a:pPr algn="r" indent="0" marL="0">
              <a:buNone/>
            </a:pPr>
            <a:r>
              <a:rPr lang="en-US" sz="900" dirty="0">
                <a:solidFill>
                  <a:srgbClr val="94A3B8"/>
                </a:solidFill>
                <a:latin typeface="Malgun Gothic" pitchFamily="34" charset="0"/>
                <a:ea typeface="Malgun Gothic" pitchFamily="34" charset="-122"/>
                <a:cs typeface="Malgun Gothic" pitchFamily="34" charset="-120"/>
              </a:rPr>
              <a:t>09</a:t>
            </a:r>
            <a:endParaRPr lang="en-US" sz="900" dirty="0"/>
          </a:p>
        </p:txBody>
      </p:sp>
      <p:sp>
        <p:nvSpPr>
          <p:cNvPr id="10" name="Shape 8"/>
          <p:cNvSpPr/>
          <p:nvPr/>
        </p:nvSpPr>
        <p:spPr>
          <a:xfrm>
            <a:off x="640080" y="2331720"/>
            <a:ext cx="3749040" cy="3840480"/>
          </a:xfrm>
          <a:prstGeom prst="roundRect">
            <a:avLst>
              <a:gd name="adj" fmla="val 2439"/>
            </a:avLst>
          </a:prstGeom>
          <a:solidFill>
            <a:srgbClr val="FFFFFF"/>
          </a:solidFill>
          <a:ln w="12700">
            <a:solidFill>
              <a:srgbClr val="FFFFFF"/>
            </a:solidFill>
            <a:prstDash val="solid"/>
          </a:ln>
        </p:spPr>
      </p:sp>
      <p:sp>
        <p:nvSpPr>
          <p:cNvPr id="11" name="Shape 9"/>
          <p:cNvSpPr/>
          <p:nvPr/>
        </p:nvSpPr>
        <p:spPr>
          <a:xfrm>
            <a:off x="960120" y="2651760"/>
            <a:ext cx="594360" cy="594360"/>
          </a:xfrm>
          <a:prstGeom prst="ellipse">
            <a:avLst/>
          </a:prstGeom>
          <a:solidFill>
            <a:srgbClr val="3182F6"/>
          </a:solidFill>
          <a:ln w="12700">
            <a:solidFill>
              <a:srgbClr val="3182F6"/>
            </a:solidFill>
            <a:prstDash val="solid"/>
          </a:ln>
        </p:spPr>
      </p:sp>
      <p:pic>
        <p:nvPicPr>
          <p:cNvPr id="12" name="Image 0" descr="preencoded.png">    </p:cNvPr>
          <p:cNvPicPr>
            <a:picLocks noChangeAspect="1"/>
          </p:cNvPicPr>
          <p:nvPr/>
        </p:nvPicPr>
        <p:blipFill>
          <a:blip r:embed="rId1"/>
          <a:stretch>
            <a:fillRect/>
          </a:stretch>
        </p:blipFill>
        <p:spPr>
          <a:xfrm>
            <a:off x="1108710" y="2800350"/>
            <a:ext cx="297180" cy="297180"/>
          </a:xfrm>
          <a:prstGeom prst="rect">
            <a:avLst/>
          </a:prstGeom>
        </p:spPr>
      </p:pic>
      <p:sp>
        <p:nvSpPr>
          <p:cNvPr id="13" name="Text 10"/>
          <p:cNvSpPr txBox="1"/>
          <p:nvPr/>
        </p:nvSpPr>
        <p:spPr>
          <a:xfrm>
            <a:off x="960120" y="3383280"/>
            <a:ext cx="3108960" cy="1554480"/>
          </a:xfrm>
          <a:prstGeom prst="rect">
            <a:avLst/>
          </a:prstGeom>
          <a:noFill/>
          <a:ln/>
        </p:spPr>
        <p:txBody>
          <a:bodyPr wrap="square" lIns="0" tIns="0" rIns="0" bIns="0" rtlCol="0" anchor="t"/>
          <a:lstStyle/>
          <a:p>
            <a:pPr indent="0" marL="0">
              <a:lnSpc>
                <a:spcPct val="125000"/>
              </a:lnSpc>
              <a:buNone/>
            </a:pPr>
            <a:r>
              <a:rPr lang="en-US" sz="1000" dirty="0">
                <a:solidFill>
                  <a:srgbClr val="475569"/>
                </a:solidFill>
                <a:latin typeface="Malgun Gothic" pitchFamily="34" charset="0"/>
                <a:ea typeface="Malgun Gothic" pitchFamily="34" charset="-122"/>
                <a:cs typeface="Malgun Gothic" pitchFamily="34" charset="-120"/>
              </a:rPr>
              <a:t>대규모 축제의 부스 존 운영을 통째로 위탁받습니다. 축제 콘셉트에 맞는 셀러 구성, 대규모 인파를 고려한 동선 설계, 안전 관리, 부스 장비 일괄 렌탈까지 한 번에 진행합니다. 주최 기관은 축제 본 프로그램에만 집중하시면 됩니다.</a:t>
            </a:r>
            <a:endParaRPr lang="en-US" sz="1000" dirty="0"/>
          </a:p>
        </p:txBody>
      </p:sp>
      <p:sp>
        <p:nvSpPr>
          <p:cNvPr id="14" name="Shape 11"/>
          <p:cNvSpPr/>
          <p:nvPr/>
        </p:nvSpPr>
        <p:spPr>
          <a:xfrm>
            <a:off x="960120" y="5029200"/>
            <a:ext cx="975360" cy="868680"/>
          </a:xfrm>
          <a:prstGeom prst="roundRect">
            <a:avLst>
              <a:gd name="adj" fmla="val 10526"/>
            </a:avLst>
          </a:prstGeom>
          <a:solidFill>
            <a:srgbClr val="EAF2FF"/>
          </a:solidFill>
          <a:ln w="12700">
            <a:solidFill>
              <a:srgbClr val="EAF2FF"/>
            </a:solidFill>
            <a:prstDash val="solid"/>
          </a:ln>
        </p:spPr>
      </p:sp>
      <p:sp>
        <p:nvSpPr>
          <p:cNvPr id="15" name="Text 12"/>
          <p:cNvSpPr txBox="1"/>
          <p:nvPr/>
        </p:nvSpPr>
        <p:spPr>
          <a:xfrm>
            <a:off x="1005840" y="5138928"/>
            <a:ext cx="883920" cy="411480"/>
          </a:xfrm>
          <a:prstGeom prst="rect">
            <a:avLst/>
          </a:prstGeom>
          <a:noFill/>
          <a:ln/>
        </p:spPr>
        <p:txBody>
          <a:bodyPr wrap="square" lIns="0" tIns="0" rIns="0" bIns="0" rtlCol="0" anchor="t"/>
          <a:lstStyle/>
          <a:p>
            <a:pPr algn="ctr" indent="0" marL="0">
              <a:buNone/>
            </a:pPr>
            <a:r>
              <a:rPr lang="en-US" sz="1500" b="1" dirty="0">
                <a:solidFill>
                  <a:srgbClr val="3182F6"/>
                </a:solidFill>
                <a:latin typeface="Arial Black" pitchFamily="34" charset="0"/>
                <a:ea typeface="Arial Black" pitchFamily="34" charset="-122"/>
                <a:cs typeface="Arial Black" pitchFamily="34" charset="-120"/>
              </a:rPr>
              <a:t>500+</a:t>
            </a:r>
            <a:endParaRPr lang="en-US" sz="1500" dirty="0"/>
          </a:p>
        </p:txBody>
      </p:sp>
      <p:sp>
        <p:nvSpPr>
          <p:cNvPr id="16" name="Text 13"/>
          <p:cNvSpPr txBox="1"/>
          <p:nvPr/>
        </p:nvSpPr>
        <p:spPr>
          <a:xfrm>
            <a:off x="1005840" y="5541264"/>
            <a:ext cx="883920" cy="274320"/>
          </a:xfrm>
          <a:prstGeom prst="rect">
            <a:avLst/>
          </a:prstGeom>
          <a:noFill/>
          <a:ln/>
        </p:spPr>
        <p:txBody>
          <a:bodyPr wrap="square" lIns="0" tIns="0" rIns="0" bIns="0" rtlCol="0" anchor="t"/>
          <a:lstStyle/>
          <a:p>
            <a:pPr algn="ctr" indent="0" marL="0">
              <a:buNone/>
            </a:pPr>
            <a:r>
              <a:rPr lang="en-US" sz="850" dirty="0">
                <a:solidFill>
                  <a:srgbClr val="475569"/>
                </a:solidFill>
                <a:latin typeface="Malgun Gothic" pitchFamily="34" charset="0"/>
                <a:ea typeface="Malgun Gothic" pitchFamily="34" charset="-122"/>
                <a:cs typeface="Malgun Gothic" pitchFamily="34" charset="-120"/>
              </a:rPr>
              <a:t>Flit 셀러 DB</a:t>
            </a:r>
            <a:endParaRPr lang="en-US" sz="850" dirty="0"/>
          </a:p>
        </p:txBody>
      </p:sp>
      <p:sp>
        <p:nvSpPr>
          <p:cNvPr id="17" name="Shape 14"/>
          <p:cNvSpPr/>
          <p:nvPr/>
        </p:nvSpPr>
        <p:spPr>
          <a:xfrm>
            <a:off x="2026920" y="5029200"/>
            <a:ext cx="975360" cy="868680"/>
          </a:xfrm>
          <a:prstGeom prst="roundRect">
            <a:avLst>
              <a:gd name="adj" fmla="val 10526"/>
            </a:avLst>
          </a:prstGeom>
          <a:solidFill>
            <a:srgbClr val="EAF2FF"/>
          </a:solidFill>
          <a:ln w="12700">
            <a:solidFill>
              <a:srgbClr val="EAF2FF"/>
            </a:solidFill>
            <a:prstDash val="solid"/>
          </a:ln>
        </p:spPr>
      </p:sp>
      <p:sp>
        <p:nvSpPr>
          <p:cNvPr id="18" name="Text 15"/>
          <p:cNvSpPr txBox="1"/>
          <p:nvPr/>
        </p:nvSpPr>
        <p:spPr>
          <a:xfrm>
            <a:off x="2072640" y="5138928"/>
            <a:ext cx="883920" cy="411480"/>
          </a:xfrm>
          <a:prstGeom prst="rect">
            <a:avLst/>
          </a:prstGeom>
          <a:noFill/>
          <a:ln/>
        </p:spPr>
        <p:txBody>
          <a:bodyPr wrap="square" lIns="0" tIns="0" rIns="0" bIns="0" rtlCol="0" anchor="t"/>
          <a:lstStyle/>
          <a:p>
            <a:pPr algn="ctr" indent="0" marL="0">
              <a:buNone/>
            </a:pPr>
            <a:r>
              <a:rPr lang="en-US" sz="1500" b="1" dirty="0">
                <a:solidFill>
                  <a:srgbClr val="3182F6"/>
                </a:solidFill>
                <a:latin typeface="Arial Black" pitchFamily="34" charset="0"/>
                <a:ea typeface="Arial Black" pitchFamily="34" charset="-122"/>
                <a:cs typeface="Arial Black" pitchFamily="34" charset="-120"/>
              </a:rPr>
              <a:t>100+</a:t>
            </a:r>
            <a:endParaRPr lang="en-US" sz="1500" dirty="0"/>
          </a:p>
        </p:txBody>
      </p:sp>
      <p:sp>
        <p:nvSpPr>
          <p:cNvPr id="19" name="Text 16"/>
          <p:cNvSpPr txBox="1"/>
          <p:nvPr/>
        </p:nvSpPr>
        <p:spPr>
          <a:xfrm>
            <a:off x="2072640" y="5541264"/>
            <a:ext cx="883920" cy="274320"/>
          </a:xfrm>
          <a:prstGeom prst="rect">
            <a:avLst/>
          </a:prstGeom>
          <a:noFill/>
          <a:ln/>
        </p:spPr>
        <p:txBody>
          <a:bodyPr wrap="square" lIns="0" tIns="0" rIns="0" bIns="0" rtlCol="0" anchor="t"/>
          <a:lstStyle/>
          <a:p>
            <a:pPr algn="ctr" indent="0" marL="0">
              <a:buNone/>
            </a:pPr>
            <a:r>
              <a:rPr lang="en-US" sz="850" dirty="0">
                <a:solidFill>
                  <a:srgbClr val="475569"/>
                </a:solidFill>
                <a:latin typeface="Malgun Gothic" pitchFamily="34" charset="0"/>
                <a:ea typeface="Malgun Gothic" pitchFamily="34" charset="-122"/>
                <a:cs typeface="Malgun Gothic" pitchFamily="34" charset="-120"/>
              </a:rPr>
              <a:t>푸드트럭 DB</a:t>
            </a:r>
            <a:endParaRPr lang="en-US" sz="850" dirty="0"/>
          </a:p>
        </p:txBody>
      </p:sp>
      <p:sp>
        <p:nvSpPr>
          <p:cNvPr id="20" name="Shape 17"/>
          <p:cNvSpPr/>
          <p:nvPr/>
        </p:nvSpPr>
        <p:spPr>
          <a:xfrm>
            <a:off x="3093720" y="5029200"/>
            <a:ext cx="975360" cy="868680"/>
          </a:xfrm>
          <a:prstGeom prst="roundRect">
            <a:avLst>
              <a:gd name="adj" fmla="val 10526"/>
            </a:avLst>
          </a:prstGeom>
          <a:solidFill>
            <a:srgbClr val="EAF2FF"/>
          </a:solidFill>
          <a:ln w="12700">
            <a:solidFill>
              <a:srgbClr val="EAF2FF"/>
            </a:solidFill>
            <a:prstDash val="solid"/>
          </a:ln>
        </p:spPr>
      </p:sp>
      <p:sp>
        <p:nvSpPr>
          <p:cNvPr id="21" name="Text 18"/>
          <p:cNvSpPr txBox="1"/>
          <p:nvPr/>
        </p:nvSpPr>
        <p:spPr>
          <a:xfrm>
            <a:off x="3139440" y="5138928"/>
            <a:ext cx="883920" cy="411480"/>
          </a:xfrm>
          <a:prstGeom prst="rect">
            <a:avLst/>
          </a:prstGeom>
          <a:noFill/>
          <a:ln/>
        </p:spPr>
        <p:txBody>
          <a:bodyPr wrap="square" lIns="0" tIns="0" rIns="0" bIns="0" rtlCol="0" anchor="t"/>
          <a:lstStyle/>
          <a:p>
            <a:pPr algn="ctr" indent="0" marL="0">
              <a:buNone/>
            </a:pPr>
            <a:r>
              <a:rPr lang="en-US" sz="1500" b="1" dirty="0">
                <a:solidFill>
                  <a:srgbClr val="3182F6"/>
                </a:solidFill>
                <a:latin typeface="Arial Black" pitchFamily="34" charset="0"/>
                <a:ea typeface="Arial Black" pitchFamily="34" charset="-122"/>
                <a:cs typeface="Arial Black" pitchFamily="34" charset="-120"/>
              </a:rPr>
              <a:t>전국</a:t>
            </a:r>
            <a:endParaRPr lang="en-US" sz="1500" dirty="0"/>
          </a:p>
        </p:txBody>
      </p:sp>
      <p:sp>
        <p:nvSpPr>
          <p:cNvPr id="22" name="Text 19"/>
          <p:cNvSpPr txBox="1"/>
          <p:nvPr/>
        </p:nvSpPr>
        <p:spPr>
          <a:xfrm>
            <a:off x="3139440" y="5541264"/>
            <a:ext cx="883920" cy="274320"/>
          </a:xfrm>
          <a:prstGeom prst="rect">
            <a:avLst/>
          </a:prstGeom>
          <a:noFill/>
          <a:ln/>
        </p:spPr>
        <p:txBody>
          <a:bodyPr wrap="square" lIns="0" tIns="0" rIns="0" bIns="0" rtlCol="0" anchor="t"/>
          <a:lstStyle/>
          <a:p>
            <a:pPr algn="ctr" indent="0" marL="0">
              <a:buNone/>
            </a:pPr>
            <a:r>
              <a:rPr lang="en-US" sz="850" dirty="0">
                <a:solidFill>
                  <a:srgbClr val="475569"/>
                </a:solidFill>
                <a:latin typeface="Malgun Gothic" pitchFamily="34" charset="0"/>
                <a:ea typeface="Malgun Gothic" pitchFamily="34" charset="-122"/>
                <a:cs typeface="Malgun Gothic" pitchFamily="34" charset="-120"/>
              </a:rPr>
              <a:t>출장 운영</a:t>
            </a:r>
            <a:endParaRPr lang="en-US" sz="850" dirty="0"/>
          </a:p>
        </p:txBody>
      </p:sp>
      <p:sp>
        <p:nvSpPr>
          <p:cNvPr id="23" name="Shape 20"/>
          <p:cNvSpPr/>
          <p:nvPr/>
        </p:nvSpPr>
        <p:spPr>
          <a:xfrm>
            <a:off x="4709160" y="2331720"/>
            <a:ext cx="2158898" cy="1828800"/>
          </a:xfrm>
          <a:prstGeom prst="roundRect">
            <a:avLst>
              <a:gd name="adj" fmla="val 5000"/>
            </a:avLst>
          </a:prstGeom>
          <a:solidFill>
            <a:srgbClr val="12305F"/>
          </a:solidFill>
          <a:ln w="12700">
            <a:solidFill>
              <a:srgbClr val="1F5FD0"/>
            </a:solidFill>
            <a:prstDash val="solid"/>
          </a:ln>
        </p:spPr>
      </p:sp>
      <p:sp>
        <p:nvSpPr>
          <p:cNvPr id="24" name="Text 21"/>
          <p:cNvSpPr txBox="1"/>
          <p:nvPr/>
        </p:nvSpPr>
        <p:spPr>
          <a:xfrm>
            <a:off x="4937760" y="251460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01</a:t>
            </a:r>
            <a:endParaRPr lang="en-US" sz="1000" dirty="0"/>
          </a:p>
        </p:txBody>
      </p:sp>
      <p:sp>
        <p:nvSpPr>
          <p:cNvPr id="25" name="Text 22"/>
          <p:cNvSpPr txBox="1"/>
          <p:nvPr/>
        </p:nvSpPr>
        <p:spPr>
          <a:xfrm>
            <a:off x="4892040" y="277063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부스 존 단위 위탁 운영</a:t>
            </a:r>
            <a:endParaRPr lang="en-US" sz="1100" dirty="0"/>
          </a:p>
        </p:txBody>
      </p:sp>
      <p:sp>
        <p:nvSpPr>
          <p:cNvPr id="26" name="Text 23"/>
          <p:cNvSpPr txBox="1"/>
          <p:nvPr/>
        </p:nvSpPr>
        <p:spPr>
          <a:xfrm>
            <a:off x="4892040" y="315468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축제장 내 지정 구역 전체를 위탁받아 셀러 선발부터 배치, 운영, 철수까지 책임집니다. 주최 기관의 관리 부담을 덜어 드립니다.</a:t>
            </a:r>
            <a:endParaRPr lang="en-US" sz="850" dirty="0"/>
          </a:p>
        </p:txBody>
      </p:sp>
      <p:sp>
        <p:nvSpPr>
          <p:cNvPr id="27" name="Shape 24"/>
          <p:cNvSpPr/>
          <p:nvPr/>
        </p:nvSpPr>
        <p:spPr>
          <a:xfrm>
            <a:off x="7050938" y="2331720"/>
            <a:ext cx="2158898" cy="1828800"/>
          </a:xfrm>
          <a:prstGeom prst="roundRect">
            <a:avLst>
              <a:gd name="adj" fmla="val 5000"/>
            </a:avLst>
          </a:prstGeom>
          <a:solidFill>
            <a:srgbClr val="12305F"/>
          </a:solidFill>
          <a:ln w="12700">
            <a:solidFill>
              <a:srgbClr val="1F5FD0"/>
            </a:solidFill>
            <a:prstDash val="solid"/>
          </a:ln>
        </p:spPr>
      </p:sp>
      <p:sp>
        <p:nvSpPr>
          <p:cNvPr id="28" name="Text 25"/>
          <p:cNvSpPr txBox="1"/>
          <p:nvPr/>
        </p:nvSpPr>
        <p:spPr>
          <a:xfrm>
            <a:off x="7279538" y="251460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02</a:t>
            </a:r>
            <a:endParaRPr lang="en-US" sz="1000" dirty="0"/>
          </a:p>
        </p:txBody>
      </p:sp>
      <p:sp>
        <p:nvSpPr>
          <p:cNvPr id="29" name="Text 26"/>
          <p:cNvSpPr txBox="1"/>
          <p:nvPr/>
        </p:nvSpPr>
        <p:spPr>
          <a:xfrm>
            <a:off x="7233818" y="277063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지역 셀러 우선 구성</a:t>
            </a:r>
            <a:endParaRPr lang="en-US" sz="1100" dirty="0"/>
          </a:p>
        </p:txBody>
      </p:sp>
      <p:sp>
        <p:nvSpPr>
          <p:cNvPr id="30" name="Text 27"/>
          <p:cNvSpPr txBox="1"/>
          <p:nvPr/>
        </p:nvSpPr>
        <p:spPr>
          <a:xfrm>
            <a:off x="7233818" y="315468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지역 특산물·전통 공예 셀러를 우선 배치하여 축제의 지역색을 살리고, 부족한 카테고리는 Flit 셀러로 보충합니다.</a:t>
            </a:r>
            <a:endParaRPr lang="en-US" sz="850" dirty="0"/>
          </a:p>
        </p:txBody>
      </p:sp>
      <p:sp>
        <p:nvSpPr>
          <p:cNvPr id="31" name="Shape 28"/>
          <p:cNvSpPr/>
          <p:nvPr/>
        </p:nvSpPr>
        <p:spPr>
          <a:xfrm>
            <a:off x="9392717" y="2331720"/>
            <a:ext cx="2158898" cy="1828800"/>
          </a:xfrm>
          <a:prstGeom prst="roundRect">
            <a:avLst>
              <a:gd name="adj" fmla="val 5000"/>
            </a:avLst>
          </a:prstGeom>
          <a:solidFill>
            <a:srgbClr val="12305F"/>
          </a:solidFill>
          <a:ln w="12700">
            <a:solidFill>
              <a:srgbClr val="1F5FD0"/>
            </a:solidFill>
            <a:prstDash val="solid"/>
          </a:ln>
        </p:spPr>
      </p:sp>
      <p:sp>
        <p:nvSpPr>
          <p:cNvPr id="32" name="Text 29"/>
          <p:cNvSpPr txBox="1"/>
          <p:nvPr/>
        </p:nvSpPr>
        <p:spPr>
          <a:xfrm>
            <a:off x="9621317" y="251460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03</a:t>
            </a:r>
            <a:endParaRPr lang="en-US" sz="1000" dirty="0"/>
          </a:p>
        </p:txBody>
      </p:sp>
      <p:sp>
        <p:nvSpPr>
          <p:cNvPr id="33" name="Text 30"/>
          <p:cNvSpPr txBox="1"/>
          <p:nvPr/>
        </p:nvSpPr>
        <p:spPr>
          <a:xfrm>
            <a:off x="9575597" y="277063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대규모 인파 동선 설계</a:t>
            </a:r>
            <a:endParaRPr lang="en-US" sz="1100" dirty="0"/>
          </a:p>
        </p:txBody>
      </p:sp>
      <p:sp>
        <p:nvSpPr>
          <p:cNvPr id="34" name="Text 31"/>
          <p:cNvSpPr txBox="1"/>
          <p:nvPr/>
        </p:nvSpPr>
        <p:spPr>
          <a:xfrm>
            <a:off x="9575597" y="315468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출입구, 주 통로, 대기열 위치를 분석해 혼잡과 병목이 생기지 않는 부스 배치를 설계합니다.</a:t>
            </a:r>
            <a:endParaRPr lang="en-US" sz="850" dirty="0"/>
          </a:p>
        </p:txBody>
      </p:sp>
      <p:sp>
        <p:nvSpPr>
          <p:cNvPr id="35" name="Shape 32"/>
          <p:cNvSpPr/>
          <p:nvPr/>
        </p:nvSpPr>
        <p:spPr>
          <a:xfrm>
            <a:off x="4709160" y="4343400"/>
            <a:ext cx="2158898" cy="1828800"/>
          </a:xfrm>
          <a:prstGeom prst="roundRect">
            <a:avLst>
              <a:gd name="adj" fmla="val 5000"/>
            </a:avLst>
          </a:prstGeom>
          <a:solidFill>
            <a:srgbClr val="12305F"/>
          </a:solidFill>
          <a:ln w="12700">
            <a:solidFill>
              <a:srgbClr val="1F5FD0"/>
            </a:solidFill>
            <a:prstDash val="solid"/>
          </a:ln>
        </p:spPr>
      </p:sp>
      <p:sp>
        <p:nvSpPr>
          <p:cNvPr id="36" name="Text 33"/>
          <p:cNvSpPr txBox="1"/>
          <p:nvPr/>
        </p:nvSpPr>
        <p:spPr>
          <a:xfrm>
            <a:off x="4937760" y="452628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04</a:t>
            </a:r>
            <a:endParaRPr lang="en-US" sz="1000" dirty="0"/>
          </a:p>
        </p:txBody>
      </p:sp>
      <p:sp>
        <p:nvSpPr>
          <p:cNvPr id="37" name="Text 34"/>
          <p:cNvSpPr txBox="1"/>
          <p:nvPr/>
        </p:nvSpPr>
        <p:spPr>
          <a:xfrm>
            <a:off x="4892040" y="478231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안전 관리 인력 배치</a:t>
            </a:r>
            <a:endParaRPr lang="en-US" sz="1100" dirty="0"/>
          </a:p>
        </p:txBody>
      </p:sp>
      <p:sp>
        <p:nvSpPr>
          <p:cNvPr id="38" name="Text 35"/>
          <p:cNvSpPr txBox="1"/>
          <p:nvPr/>
        </p:nvSpPr>
        <p:spPr>
          <a:xfrm>
            <a:off x="4892040" y="516636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행사 규모에 맞춘 안전 인력과 비상 대응 절차를 사전에 수립하고, 주최 기관·소방·경비와 협업 체계를 구성합니다.</a:t>
            </a:r>
            <a:endParaRPr lang="en-US" sz="850" dirty="0"/>
          </a:p>
        </p:txBody>
      </p:sp>
      <p:sp>
        <p:nvSpPr>
          <p:cNvPr id="39" name="Shape 36"/>
          <p:cNvSpPr/>
          <p:nvPr/>
        </p:nvSpPr>
        <p:spPr>
          <a:xfrm>
            <a:off x="7050938" y="4343400"/>
            <a:ext cx="2158898" cy="1828800"/>
          </a:xfrm>
          <a:prstGeom prst="roundRect">
            <a:avLst>
              <a:gd name="adj" fmla="val 5000"/>
            </a:avLst>
          </a:prstGeom>
          <a:solidFill>
            <a:srgbClr val="12305F"/>
          </a:solidFill>
          <a:ln w="12700">
            <a:solidFill>
              <a:srgbClr val="1F5FD0"/>
            </a:solidFill>
            <a:prstDash val="solid"/>
          </a:ln>
        </p:spPr>
      </p:sp>
      <p:sp>
        <p:nvSpPr>
          <p:cNvPr id="40" name="Text 37"/>
          <p:cNvSpPr txBox="1"/>
          <p:nvPr/>
        </p:nvSpPr>
        <p:spPr>
          <a:xfrm>
            <a:off x="7279538" y="452628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05</a:t>
            </a:r>
            <a:endParaRPr lang="en-US" sz="1000" dirty="0"/>
          </a:p>
        </p:txBody>
      </p:sp>
      <p:sp>
        <p:nvSpPr>
          <p:cNvPr id="41" name="Text 38"/>
          <p:cNvSpPr txBox="1"/>
          <p:nvPr/>
        </p:nvSpPr>
        <p:spPr>
          <a:xfrm>
            <a:off x="7233818" y="478231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부스 장비 일괄 렌탈</a:t>
            </a:r>
            <a:endParaRPr lang="en-US" sz="1100" dirty="0"/>
          </a:p>
        </p:txBody>
      </p:sp>
      <p:sp>
        <p:nvSpPr>
          <p:cNvPr id="42" name="Text 39"/>
          <p:cNvSpPr txBox="1"/>
          <p:nvPr/>
        </p:nvSpPr>
        <p:spPr>
          <a:xfrm>
            <a:off x="7233818" y="516636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텐트, 테이블, 배너, 조명을 통일된 규격으로 일괄 제공하여 부스 존 전체의 시각적 완성도를 높입니다.</a:t>
            </a:r>
            <a:endParaRPr lang="en-US" sz="850" dirty="0"/>
          </a:p>
        </p:txBody>
      </p:sp>
      <p:sp>
        <p:nvSpPr>
          <p:cNvPr id="43" name="Shape 40"/>
          <p:cNvSpPr/>
          <p:nvPr/>
        </p:nvSpPr>
        <p:spPr>
          <a:xfrm>
            <a:off x="9392717" y="4343400"/>
            <a:ext cx="2158898" cy="1828800"/>
          </a:xfrm>
          <a:prstGeom prst="roundRect">
            <a:avLst>
              <a:gd name="adj" fmla="val 5000"/>
            </a:avLst>
          </a:prstGeom>
          <a:solidFill>
            <a:srgbClr val="12305F"/>
          </a:solidFill>
          <a:ln w="12700">
            <a:solidFill>
              <a:srgbClr val="1F5FD0"/>
            </a:solidFill>
            <a:prstDash val="solid"/>
          </a:ln>
        </p:spPr>
      </p:sp>
      <p:sp>
        <p:nvSpPr>
          <p:cNvPr id="44" name="Text 41"/>
          <p:cNvSpPr txBox="1"/>
          <p:nvPr/>
        </p:nvSpPr>
        <p:spPr>
          <a:xfrm>
            <a:off x="9621317" y="452628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06</a:t>
            </a:r>
            <a:endParaRPr lang="en-US" sz="1000" dirty="0"/>
          </a:p>
        </p:txBody>
      </p:sp>
      <p:sp>
        <p:nvSpPr>
          <p:cNvPr id="45" name="Text 42"/>
          <p:cNvSpPr txBox="1"/>
          <p:nvPr/>
        </p:nvSpPr>
        <p:spPr>
          <a:xfrm>
            <a:off x="9575597" y="478231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콘셉트 맞춤 연출</a:t>
            </a:r>
            <a:endParaRPr lang="en-US" sz="1100" dirty="0"/>
          </a:p>
        </p:txBody>
      </p:sp>
      <p:sp>
        <p:nvSpPr>
          <p:cNvPr id="46" name="Text 43"/>
          <p:cNvSpPr txBox="1"/>
          <p:nvPr/>
        </p:nvSpPr>
        <p:spPr>
          <a:xfrm>
            <a:off x="9575597" y="516636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민속·전통, 지역 브랜드 등 축제 정체성에 맞춰 부스 장식과 사이니지를 기획합니다.</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44"/>
        </a:solidFill>
      </p:bgPr>
    </p:bg>
    <p:spTree>
      <p:nvGrpSpPr>
        <p:cNvPr id="1" name=""/>
        <p:cNvGrpSpPr/>
        <p:nvPr/>
      </p:nvGrpSpPr>
      <p:grpSpPr>
        <a:xfrm>
          <a:off x="0" y="0"/>
          <a:ext cx="0" cy="0"/>
          <a:chOff x="0" y="0"/>
          <a:chExt cx="0" cy="0"/>
        </a:xfrm>
      </p:grpSpPr>
      <p:sp>
        <p:nvSpPr>
          <p:cNvPr id="2" name="Shape 0"/>
          <p:cNvSpPr/>
          <p:nvPr/>
        </p:nvSpPr>
        <p:spPr>
          <a:xfrm>
            <a:off x="9265615" y="-2377440"/>
            <a:ext cx="5120640" cy="5120640"/>
          </a:xfrm>
          <a:prstGeom prst="ellipse">
            <a:avLst/>
          </a:prstGeom>
          <a:solidFill>
            <a:srgbClr val="12305F"/>
          </a:solidFill>
          <a:ln w="12700">
            <a:solidFill>
              <a:srgbClr val="12305F"/>
            </a:solidFill>
            <a:prstDash val="solid"/>
          </a:ln>
        </p:spPr>
      </p:sp>
      <p:sp>
        <p:nvSpPr>
          <p:cNvPr id="3" name="Shape 1"/>
          <p:cNvSpPr/>
          <p:nvPr/>
        </p:nvSpPr>
        <p:spPr>
          <a:xfrm>
            <a:off x="-1645920" y="5029200"/>
            <a:ext cx="3657600" cy="3657600"/>
          </a:xfrm>
          <a:prstGeom prst="ellipse">
            <a:avLst/>
          </a:prstGeom>
          <a:solidFill>
            <a:srgbClr val="12305F"/>
          </a:solidFill>
          <a:ln w="12700">
            <a:solidFill>
              <a:srgbClr val="12305F"/>
            </a:solidFill>
            <a:prstDash val="solid"/>
          </a:ln>
        </p:spPr>
      </p:sp>
      <p:sp>
        <p:nvSpPr>
          <p:cNvPr id="4" name="Text 2"/>
          <p:cNvSpPr txBox="1"/>
          <p:nvPr/>
        </p:nvSpPr>
        <p:spPr>
          <a:xfrm>
            <a:off x="640080" y="384048"/>
            <a:ext cx="1155700" cy="266700"/>
          </a:xfrm>
          <a:prstGeom prst="rect">
            <a:avLst/>
          </a:prstGeom>
          <a:noFill/>
          <a:ln/>
        </p:spPr>
        <p:txBody>
          <a:bodyPr wrap="square" lIns="0" tIns="0" rIns="0" bIns="0" rtlCol="0" anchor="ctr"/>
          <a:lstStyle/>
          <a:p>
            <a:pPr indent="0" marL="0">
              <a:buNone/>
            </a:pPr>
            <a:r>
              <a:rPr lang="en-US" sz="1400" b="1" dirty="0">
                <a:solidFill>
                  <a:srgbClr val="3182F6"/>
                </a:solidFill>
                <a:latin typeface="Arial Black" pitchFamily="34" charset="0"/>
                <a:ea typeface="Arial Black" pitchFamily="34" charset="-122"/>
                <a:cs typeface="Arial Black" pitchFamily="34" charset="-120"/>
              </a:rPr>
              <a:t>Flit</a:t>
            </a:r>
            <a:pPr indent="0" marL="0">
              <a:buNone/>
            </a:pPr>
            <a:r>
              <a:rPr lang="en-US" sz="1400" b="1" dirty="0">
                <a:solidFill>
                  <a:srgbClr val="FFFFFF"/>
                </a:solidFill>
                <a:latin typeface="Arial Black" pitchFamily="34" charset="0"/>
                <a:ea typeface="Arial Black" pitchFamily="34" charset="-122"/>
                <a:cs typeface="Arial Black" pitchFamily="34" charset="-120"/>
              </a:rPr>
              <a:t>Union</a:t>
            </a:r>
            <a:endParaRPr lang="en-US" sz="1400" dirty="0"/>
          </a:p>
        </p:txBody>
      </p:sp>
      <p:sp>
        <p:nvSpPr>
          <p:cNvPr id="5" name="Text 3"/>
          <p:cNvSpPr txBox="1"/>
          <p:nvPr/>
        </p:nvSpPr>
        <p:spPr>
          <a:xfrm>
            <a:off x="640080" y="868680"/>
            <a:ext cx="5486400" cy="274320"/>
          </a:xfrm>
          <a:prstGeom prst="rect">
            <a:avLst/>
          </a:prstGeom>
          <a:noFill/>
          <a:ln/>
        </p:spPr>
        <p:txBody>
          <a:bodyPr wrap="square" lIns="0" tIns="0" rIns="0" bIns="0" rtlCol="0" anchor="t"/>
          <a:lstStyle/>
          <a:p>
            <a:pPr indent="0" marL="0">
              <a:buNone/>
            </a:pPr>
            <a:r>
              <a:rPr lang="en-US" sz="1100" b="1" spc="300" kern="0" dirty="0">
                <a:solidFill>
                  <a:srgbClr val="93C5FD"/>
                </a:solidFill>
                <a:latin typeface="Malgun Gothic" pitchFamily="34" charset="0"/>
                <a:ea typeface="Malgun Gothic" pitchFamily="34" charset="-122"/>
                <a:cs typeface="Malgun Gothic" pitchFamily="34" charset="-120"/>
              </a:rPr>
              <a:t>05  SERVICE DETAIL  ·  체험부스 기획·운영</a:t>
            </a:r>
            <a:endParaRPr lang="en-US" sz="1100" dirty="0"/>
          </a:p>
        </p:txBody>
      </p:sp>
      <p:sp>
        <p:nvSpPr>
          <p:cNvPr id="6" name="Text 4"/>
          <p:cNvSpPr txBox="1"/>
          <p:nvPr/>
        </p:nvSpPr>
        <p:spPr>
          <a:xfrm>
            <a:off x="640080" y="1143000"/>
            <a:ext cx="10911535" cy="594360"/>
          </a:xfrm>
          <a:prstGeom prst="rect">
            <a:avLst/>
          </a:prstGeom>
          <a:noFill/>
          <a:ln/>
        </p:spPr>
        <p:txBody>
          <a:bodyPr wrap="square" lIns="0" tIns="0" rIns="0" bIns="0" rtlCol="0" anchor="t"/>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체험부스 기획·운영</a:t>
            </a:r>
            <a:endParaRPr lang="en-US" sz="2800" dirty="0"/>
          </a:p>
        </p:txBody>
      </p:sp>
      <p:sp>
        <p:nvSpPr>
          <p:cNvPr id="7" name="Text 5"/>
          <p:cNvSpPr txBox="1"/>
          <p:nvPr/>
        </p:nvSpPr>
        <p:spPr>
          <a:xfrm>
            <a:off x="640080" y="1737360"/>
            <a:ext cx="10911535" cy="411480"/>
          </a:xfrm>
          <a:prstGeom prst="rect">
            <a:avLst/>
          </a:prstGeom>
          <a:noFill/>
          <a:ln/>
        </p:spPr>
        <p:txBody>
          <a:bodyPr wrap="square" lIns="0" tIns="0" rIns="0" bIns="0" rtlCol="0" anchor="t"/>
          <a:lstStyle/>
          <a:p>
            <a:pPr indent="0" marL="0">
              <a:buNone/>
            </a:pPr>
            <a:r>
              <a:rPr lang="en-US" sz="1300" dirty="0">
                <a:solidFill>
                  <a:srgbClr val="D6E4F8"/>
                </a:solidFill>
                <a:latin typeface="Malgun Gothic" pitchFamily="34" charset="0"/>
                <a:ea typeface="Malgun Gothic" pitchFamily="34" charset="-122"/>
                <a:cs typeface="Malgun Gothic" pitchFamily="34" charset="-120"/>
              </a:rPr>
              <a:t>체험 프로그램 직영  ·  석고방향제·에코백·키링 만들기 등 체험부스를 재료, 강사, 운영 인력까지 포함해 직접 운영합니다.</a:t>
            </a:r>
            <a:endParaRPr lang="en-US" sz="1300" dirty="0"/>
          </a:p>
        </p:txBody>
      </p:sp>
      <p:sp>
        <p:nvSpPr>
          <p:cNvPr id="8" name="Text 6"/>
          <p:cNvSpPr txBox="1"/>
          <p:nvPr/>
        </p:nvSpPr>
        <p:spPr>
          <a:xfrm>
            <a:off x="640080" y="6400800"/>
            <a:ext cx="3657600" cy="228600"/>
          </a:xfrm>
          <a:prstGeom prst="rect">
            <a:avLst/>
          </a:prstGeom>
          <a:noFill/>
          <a:ln/>
        </p:spPr>
        <p:txBody>
          <a:bodyPr wrap="square" lIns="0" tIns="0" rIns="0" bIns="0" rtlCol="0" anchor="t"/>
          <a:lstStyle/>
          <a:p>
            <a:pPr indent="0" marL="0">
              <a:buNone/>
            </a:pPr>
            <a:r>
              <a:rPr lang="en-US" sz="900" dirty="0">
                <a:solidFill>
                  <a:srgbClr val="94A3B8"/>
                </a:solidFill>
                <a:latin typeface="Malgun Gothic" pitchFamily="34" charset="0"/>
                <a:ea typeface="Malgun Gothic" pitchFamily="34" charset="-122"/>
                <a:cs typeface="Malgun Gothic" pitchFamily="34" charset="-120"/>
              </a:rPr>
              <a:t>플릿 유니온 회사소개서</a:t>
            </a:r>
            <a:endParaRPr lang="en-US" sz="900" dirty="0"/>
          </a:p>
        </p:txBody>
      </p:sp>
      <p:sp>
        <p:nvSpPr>
          <p:cNvPr id="9" name="Text 7"/>
          <p:cNvSpPr txBox="1"/>
          <p:nvPr/>
        </p:nvSpPr>
        <p:spPr>
          <a:xfrm>
            <a:off x="10637215" y="6400800"/>
            <a:ext cx="914400" cy="228600"/>
          </a:xfrm>
          <a:prstGeom prst="rect">
            <a:avLst/>
          </a:prstGeom>
          <a:noFill/>
          <a:ln/>
        </p:spPr>
        <p:txBody>
          <a:bodyPr wrap="square" lIns="0" tIns="0" rIns="0" bIns="0" rtlCol="0" anchor="t"/>
          <a:lstStyle/>
          <a:p>
            <a:pPr algn="r" indent="0" marL="0">
              <a:buNone/>
            </a:pPr>
            <a:r>
              <a:rPr lang="en-US" sz="900" dirty="0">
                <a:solidFill>
                  <a:srgbClr val="94A3B8"/>
                </a:solidFill>
                <a:latin typeface="Malgun Gothic" pitchFamily="34" charset="0"/>
                <a:ea typeface="Malgun Gothic" pitchFamily="34" charset="-122"/>
                <a:cs typeface="Malgun Gothic" pitchFamily="34" charset="-120"/>
              </a:rPr>
              <a:t>10</a:t>
            </a:r>
            <a:endParaRPr lang="en-US" sz="900" dirty="0"/>
          </a:p>
        </p:txBody>
      </p:sp>
      <p:sp>
        <p:nvSpPr>
          <p:cNvPr id="10" name="Shape 8"/>
          <p:cNvSpPr/>
          <p:nvPr/>
        </p:nvSpPr>
        <p:spPr>
          <a:xfrm>
            <a:off x="640080" y="2331720"/>
            <a:ext cx="3749040" cy="3840480"/>
          </a:xfrm>
          <a:prstGeom prst="roundRect">
            <a:avLst>
              <a:gd name="adj" fmla="val 2439"/>
            </a:avLst>
          </a:prstGeom>
          <a:solidFill>
            <a:srgbClr val="FFFFFF"/>
          </a:solidFill>
          <a:ln w="12700">
            <a:solidFill>
              <a:srgbClr val="FFFFFF"/>
            </a:solidFill>
            <a:prstDash val="solid"/>
          </a:ln>
        </p:spPr>
      </p:sp>
      <p:sp>
        <p:nvSpPr>
          <p:cNvPr id="11" name="Shape 9"/>
          <p:cNvSpPr/>
          <p:nvPr/>
        </p:nvSpPr>
        <p:spPr>
          <a:xfrm>
            <a:off x="960120" y="2651760"/>
            <a:ext cx="594360" cy="594360"/>
          </a:xfrm>
          <a:prstGeom prst="ellipse">
            <a:avLst/>
          </a:prstGeom>
          <a:solidFill>
            <a:srgbClr val="3182F6"/>
          </a:solidFill>
          <a:ln w="12700">
            <a:solidFill>
              <a:srgbClr val="3182F6"/>
            </a:solidFill>
            <a:prstDash val="solid"/>
          </a:ln>
        </p:spPr>
      </p:sp>
      <p:pic>
        <p:nvPicPr>
          <p:cNvPr id="12" name="Image 0" descr="preencoded.png">    </p:cNvPr>
          <p:cNvPicPr>
            <a:picLocks noChangeAspect="1"/>
          </p:cNvPicPr>
          <p:nvPr/>
        </p:nvPicPr>
        <p:blipFill>
          <a:blip r:embed="rId1"/>
          <a:stretch>
            <a:fillRect/>
          </a:stretch>
        </p:blipFill>
        <p:spPr>
          <a:xfrm>
            <a:off x="1108710" y="2800350"/>
            <a:ext cx="297180" cy="297180"/>
          </a:xfrm>
          <a:prstGeom prst="rect">
            <a:avLst/>
          </a:prstGeom>
        </p:spPr>
      </p:pic>
      <p:sp>
        <p:nvSpPr>
          <p:cNvPr id="13" name="Text 10"/>
          <p:cNvSpPr txBox="1"/>
          <p:nvPr/>
        </p:nvSpPr>
        <p:spPr>
          <a:xfrm>
            <a:off x="960120" y="3383280"/>
            <a:ext cx="3108960" cy="1554480"/>
          </a:xfrm>
          <a:prstGeom prst="rect">
            <a:avLst/>
          </a:prstGeom>
          <a:noFill/>
          <a:ln/>
        </p:spPr>
        <p:txBody>
          <a:bodyPr wrap="square" lIns="0" tIns="0" rIns="0" bIns="0" rtlCol="0" anchor="t"/>
          <a:lstStyle/>
          <a:p>
            <a:pPr indent="0" marL="0">
              <a:lnSpc>
                <a:spcPct val="125000"/>
              </a:lnSpc>
              <a:buNone/>
            </a:pPr>
            <a:r>
              <a:rPr lang="en-US" sz="1000" dirty="0">
                <a:solidFill>
                  <a:srgbClr val="475569"/>
                </a:solidFill>
                <a:latin typeface="Malgun Gothic" pitchFamily="34" charset="0"/>
                <a:ea typeface="Malgun Gothic" pitchFamily="34" charset="-122"/>
                <a:cs typeface="Malgun Gothic" pitchFamily="34" charset="-120"/>
              </a:rPr>
              <a:t>플릿 유니온이 직접 운영하는 체험부스입니다. 석고방향제, 에코백 드로잉, 키캡·키링 만들기, 페이스페인팅 등 프로그램별 재료와 운영 인력을 모두 갖추고 있어 부스 수와 참여 인원만 정해 주시면 됩니다. 1개 부스부터 8개 이상의 체험 존까지, 지자체 축제·아파트 행사·기업 가족 행사에 맞춰 구성합니다.</a:t>
            </a:r>
            <a:endParaRPr lang="en-US" sz="1000" dirty="0"/>
          </a:p>
        </p:txBody>
      </p:sp>
      <p:sp>
        <p:nvSpPr>
          <p:cNvPr id="14" name="Shape 11"/>
          <p:cNvSpPr/>
          <p:nvPr/>
        </p:nvSpPr>
        <p:spPr>
          <a:xfrm>
            <a:off x="960120" y="5029200"/>
            <a:ext cx="975360" cy="868680"/>
          </a:xfrm>
          <a:prstGeom prst="roundRect">
            <a:avLst>
              <a:gd name="adj" fmla="val 10526"/>
            </a:avLst>
          </a:prstGeom>
          <a:solidFill>
            <a:srgbClr val="EAF2FF"/>
          </a:solidFill>
          <a:ln w="12700">
            <a:solidFill>
              <a:srgbClr val="EAF2FF"/>
            </a:solidFill>
            <a:prstDash val="solid"/>
          </a:ln>
        </p:spPr>
      </p:sp>
      <p:sp>
        <p:nvSpPr>
          <p:cNvPr id="15" name="Text 12"/>
          <p:cNvSpPr txBox="1"/>
          <p:nvPr/>
        </p:nvSpPr>
        <p:spPr>
          <a:xfrm>
            <a:off x="1005840" y="5138928"/>
            <a:ext cx="883920" cy="411480"/>
          </a:xfrm>
          <a:prstGeom prst="rect">
            <a:avLst/>
          </a:prstGeom>
          <a:noFill/>
          <a:ln/>
        </p:spPr>
        <p:txBody>
          <a:bodyPr wrap="square" lIns="0" tIns="0" rIns="0" bIns="0" rtlCol="0" anchor="t"/>
          <a:lstStyle/>
          <a:p>
            <a:pPr algn="ctr" indent="0" marL="0">
              <a:buNone/>
            </a:pPr>
            <a:r>
              <a:rPr lang="en-US" sz="1500" b="1" dirty="0">
                <a:solidFill>
                  <a:srgbClr val="3182F6"/>
                </a:solidFill>
                <a:latin typeface="Arial Black" pitchFamily="34" charset="0"/>
                <a:ea typeface="Arial Black" pitchFamily="34" charset="-122"/>
                <a:cs typeface="Arial Black" pitchFamily="34" charset="-120"/>
              </a:rPr>
              <a:t>15종+</a:t>
            </a:r>
            <a:endParaRPr lang="en-US" sz="1500" dirty="0"/>
          </a:p>
        </p:txBody>
      </p:sp>
      <p:sp>
        <p:nvSpPr>
          <p:cNvPr id="16" name="Text 13"/>
          <p:cNvSpPr txBox="1"/>
          <p:nvPr/>
        </p:nvSpPr>
        <p:spPr>
          <a:xfrm>
            <a:off x="1005840" y="5541264"/>
            <a:ext cx="883920" cy="274320"/>
          </a:xfrm>
          <a:prstGeom prst="rect">
            <a:avLst/>
          </a:prstGeom>
          <a:noFill/>
          <a:ln/>
        </p:spPr>
        <p:txBody>
          <a:bodyPr wrap="square" lIns="0" tIns="0" rIns="0" bIns="0" rtlCol="0" anchor="t"/>
          <a:lstStyle/>
          <a:p>
            <a:pPr algn="ctr" indent="0" marL="0">
              <a:buNone/>
            </a:pPr>
            <a:r>
              <a:rPr lang="en-US" sz="850" dirty="0">
                <a:solidFill>
                  <a:srgbClr val="475569"/>
                </a:solidFill>
                <a:latin typeface="Malgun Gothic" pitchFamily="34" charset="0"/>
                <a:ea typeface="Malgun Gothic" pitchFamily="34" charset="-122"/>
                <a:cs typeface="Malgun Gothic" pitchFamily="34" charset="-120"/>
              </a:rPr>
              <a:t>보유 체험 프로그램</a:t>
            </a:r>
            <a:endParaRPr lang="en-US" sz="850" dirty="0"/>
          </a:p>
        </p:txBody>
      </p:sp>
      <p:sp>
        <p:nvSpPr>
          <p:cNvPr id="17" name="Shape 14"/>
          <p:cNvSpPr/>
          <p:nvPr/>
        </p:nvSpPr>
        <p:spPr>
          <a:xfrm>
            <a:off x="2026920" y="5029200"/>
            <a:ext cx="975360" cy="868680"/>
          </a:xfrm>
          <a:prstGeom prst="roundRect">
            <a:avLst>
              <a:gd name="adj" fmla="val 10526"/>
            </a:avLst>
          </a:prstGeom>
          <a:solidFill>
            <a:srgbClr val="EAF2FF"/>
          </a:solidFill>
          <a:ln w="12700">
            <a:solidFill>
              <a:srgbClr val="EAF2FF"/>
            </a:solidFill>
            <a:prstDash val="solid"/>
          </a:ln>
        </p:spPr>
      </p:sp>
      <p:sp>
        <p:nvSpPr>
          <p:cNvPr id="18" name="Text 15"/>
          <p:cNvSpPr txBox="1"/>
          <p:nvPr/>
        </p:nvSpPr>
        <p:spPr>
          <a:xfrm>
            <a:off x="2072640" y="5138928"/>
            <a:ext cx="883920" cy="411480"/>
          </a:xfrm>
          <a:prstGeom prst="rect">
            <a:avLst/>
          </a:prstGeom>
          <a:noFill/>
          <a:ln/>
        </p:spPr>
        <p:txBody>
          <a:bodyPr wrap="square" lIns="0" tIns="0" rIns="0" bIns="0" rtlCol="0" anchor="t"/>
          <a:lstStyle/>
          <a:p>
            <a:pPr algn="ctr" indent="0" marL="0">
              <a:buNone/>
            </a:pPr>
            <a:r>
              <a:rPr lang="en-US" sz="1500" b="1" dirty="0">
                <a:solidFill>
                  <a:srgbClr val="3182F6"/>
                </a:solidFill>
                <a:latin typeface="Arial Black" pitchFamily="34" charset="0"/>
                <a:ea typeface="Arial Black" pitchFamily="34" charset="-122"/>
                <a:cs typeface="Arial Black" pitchFamily="34" charset="-120"/>
              </a:rPr>
              <a:t>1부스~</a:t>
            </a:r>
            <a:endParaRPr lang="en-US" sz="1500" dirty="0"/>
          </a:p>
        </p:txBody>
      </p:sp>
      <p:sp>
        <p:nvSpPr>
          <p:cNvPr id="19" name="Text 16"/>
          <p:cNvSpPr txBox="1"/>
          <p:nvPr/>
        </p:nvSpPr>
        <p:spPr>
          <a:xfrm>
            <a:off x="2072640" y="5541264"/>
            <a:ext cx="883920" cy="274320"/>
          </a:xfrm>
          <a:prstGeom prst="rect">
            <a:avLst/>
          </a:prstGeom>
          <a:noFill/>
          <a:ln/>
        </p:spPr>
        <p:txBody>
          <a:bodyPr wrap="square" lIns="0" tIns="0" rIns="0" bIns="0" rtlCol="0" anchor="t"/>
          <a:lstStyle/>
          <a:p>
            <a:pPr algn="ctr" indent="0" marL="0">
              <a:buNone/>
            </a:pPr>
            <a:r>
              <a:rPr lang="en-US" sz="850" dirty="0">
                <a:solidFill>
                  <a:srgbClr val="475569"/>
                </a:solidFill>
                <a:latin typeface="Malgun Gothic" pitchFamily="34" charset="0"/>
                <a:ea typeface="Malgun Gothic" pitchFamily="34" charset="-122"/>
                <a:cs typeface="Malgun Gothic" pitchFamily="34" charset="-120"/>
              </a:rPr>
              <a:t>최소 의뢰 규모</a:t>
            </a:r>
            <a:endParaRPr lang="en-US" sz="850" dirty="0"/>
          </a:p>
        </p:txBody>
      </p:sp>
      <p:sp>
        <p:nvSpPr>
          <p:cNvPr id="20" name="Shape 17"/>
          <p:cNvSpPr/>
          <p:nvPr/>
        </p:nvSpPr>
        <p:spPr>
          <a:xfrm>
            <a:off x="3093720" y="5029200"/>
            <a:ext cx="975360" cy="868680"/>
          </a:xfrm>
          <a:prstGeom prst="roundRect">
            <a:avLst>
              <a:gd name="adj" fmla="val 10526"/>
            </a:avLst>
          </a:prstGeom>
          <a:solidFill>
            <a:srgbClr val="EAF2FF"/>
          </a:solidFill>
          <a:ln w="12700">
            <a:solidFill>
              <a:srgbClr val="EAF2FF"/>
            </a:solidFill>
            <a:prstDash val="solid"/>
          </a:ln>
        </p:spPr>
      </p:sp>
      <p:sp>
        <p:nvSpPr>
          <p:cNvPr id="21" name="Text 18"/>
          <p:cNvSpPr txBox="1"/>
          <p:nvPr/>
        </p:nvSpPr>
        <p:spPr>
          <a:xfrm>
            <a:off x="3139440" y="5138928"/>
            <a:ext cx="883920" cy="411480"/>
          </a:xfrm>
          <a:prstGeom prst="rect">
            <a:avLst/>
          </a:prstGeom>
          <a:noFill/>
          <a:ln/>
        </p:spPr>
        <p:txBody>
          <a:bodyPr wrap="square" lIns="0" tIns="0" rIns="0" bIns="0" rtlCol="0" anchor="t"/>
          <a:lstStyle/>
          <a:p>
            <a:pPr algn="ctr" indent="0" marL="0">
              <a:buNone/>
            </a:pPr>
            <a:r>
              <a:rPr lang="en-US" sz="1500" b="1" dirty="0">
                <a:solidFill>
                  <a:srgbClr val="3182F6"/>
                </a:solidFill>
                <a:latin typeface="Arial Black" pitchFamily="34" charset="0"/>
                <a:ea typeface="Arial Black" pitchFamily="34" charset="-122"/>
                <a:cs typeface="Arial Black" pitchFamily="34" charset="-120"/>
              </a:rPr>
              <a:t>100인분</a:t>
            </a:r>
            <a:endParaRPr lang="en-US" sz="1500" dirty="0"/>
          </a:p>
        </p:txBody>
      </p:sp>
      <p:sp>
        <p:nvSpPr>
          <p:cNvPr id="22" name="Text 19"/>
          <p:cNvSpPr txBox="1"/>
          <p:nvPr/>
        </p:nvSpPr>
        <p:spPr>
          <a:xfrm>
            <a:off x="3139440" y="5541264"/>
            <a:ext cx="883920" cy="274320"/>
          </a:xfrm>
          <a:prstGeom prst="rect">
            <a:avLst/>
          </a:prstGeom>
          <a:noFill/>
          <a:ln/>
        </p:spPr>
        <p:txBody>
          <a:bodyPr wrap="square" lIns="0" tIns="0" rIns="0" bIns="0" rtlCol="0" anchor="t"/>
          <a:lstStyle/>
          <a:p>
            <a:pPr algn="ctr" indent="0" marL="0">
              <a:buNone/>
            </a:pPr>
            <a:r>
              <a:rPr lang="en-US" sz="850" dirty="0">
                <a:solidFill>
                  <a:srgbClr val="475569"/>
                </a:solidFill>
                <a:latin typeface="Malgun Gothic" pitchFamily="34" charset="0"/>
                <a:ea typeface="Malgun Gothic" pitchFamily="34" charset="-122"/>
                <a:cs typeface="Malgun Gothic" pitchFamily="34" charset="-120"/>
              </a:rPr>
              <a:t>부스당 준비 가능</a:t>
            </a:r>
            <a:endParaRPr lang="en-US" sz="850" dirty="0"/>
          </a:p>
        </p:txBody>
      </p:sp>
      <p:sp>
        <p:nvSpPr>
          <p:cNvPr id="23" name="Shape 20"/>
          <p:cNvSpPr/>
          <p:nvPr/>
        </p:nvSpPr>
        <p:spPr>
          <a:xfrm>
            <a:off x="4709160" y="2331720"/>
            <a:ext cx="2158898" cy="1828800"/>
          </a:xfrm>
          <a:prstGeom prst="roundRect">
            <a:avLst>
              <a:gd name="adj" fmla="val 5000"/>
            </a:avLst>
          </a:prstGeom>
          <a:solidFill>
            <a:srgbClr val="12305F"/>
          </a:solidFill>
          <a:ln w="12700">
            <a:solidFill>
              <a:srgbClr val="1F5FD0"/>
            </a:solidFill>
            <a:prstDash val="solid"/>
          </a:ln>
        </p:spPr>
      </p:sp>
      <p:sp>
        <p:nvSpPr>
          <p:cNvPr id="24" name="Text 21"/>
          <p:cNvSpPr txBox="1"/>
          <p:nvPr/>
        </p:nvSpPr>
        <p:spPr>
          <a:xfrm>
            <a:off x="4937760" y="251460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01</a:t>
            </a:r>
            <a:endParaRPr lang="en-US" sz="1000" dirty="0"/>
          </a:p>
        </p:txBody>
      </p:sp>
      <p:sp>
        <p:nvSpPr>
          <p:cNvPr id="25" name="Text 22"/>
          <p:cNvSpPr txBox="1"/>
          <p:nvPr/>
        </p:nvSpPr>
        <p:spPr>
          <a:xfrm>
            <a:off x="4892040" y="277063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만들기 체험 프로그램</a:t>
            </a:r>
            <a:endParaRPr lang="en-US" sz="1100" dirty="0"/>
          </a:p>
        </p:txBody>
      </p:sp>
      <p:sp>
        <p:nvSpPr>
          <p:cNvPr id="26" name="Text 23"/>
          <p:cNvSpPr txBox="1"/>
          <p:nvPr/>
        </p:nvSpPr>
        <p:spPr>
          <a:xfrm>
            <a:off x="4892040" y="315468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석고방향제, 에코백 드로잉, 키캡·키링, 뱃지, 손거울, 가면, 팽이, 하바리움펜, 말랑이 등 보유 프로그램 중 행사 성격과 연령대에 맞게 구성합니다.</a:t>
            </a:r>
            <a:endParaRPr lang="en-US" sz="850" dirty="0"/>
          </a:p>
        </p:txBody>
      </p:sp>
      <p:sp>
        <p:nvSpPr>
          <p:cNvPr id="27" name="Shape 24"/>
          <p:cNvSpPr/>
          <p:nvPr/>
        </p:nvSpPr>
        <p:spPr>
          <a:xfrm>
            <a:off x="7050938" y="2331720"/>
            <a:ext cx="2158898" cy="1828800"/>
          </a:xfrm>
          <a:prstGeom prst="roundRect">
            <a:avLst>
              <a:gd name="adj" fmla="val 5000"/>
            </a:avLst>
          </a:prstGeom>
          <a:solidFill>
            <a:srgbClr val="12305F"/>
          </a:solidFill>
          <a:ln w="12700">
            <a:solidFill>
              <a:srgbClr val="1F5FD0"/>
            </a:solidFill>
            <a:prstDash val="solid"/>
          </a:ln>
        </p:spPr>
      </p:sp>
      <p:sp>
        <p:nvSpPr>
          <p:cNvPr id="28" name="Text 25"/>
          <p:cNvSpPr txBox="1"/>
          <p:nvPr/>
        </p:nvSpPr>
        <p:spPr>
          <a:xfrm>
            <a:off x="7279538" y="251460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02</a:t>
            </a:r>
            <a:endParaRPr lang="en-US" sz="1000" dirty="0"/>
          </a:p>
        </p:txBody>
      </p:sp>
      <p:sp>
        <p:nvSpPr>
          <p:cNvPr id="29" name="Text 26"/>
          <p:cNvSpPr txBox="1"/>
          <p:nvPr/>
        </p:nvSpPr>
        <p:spPr>
          <a:xfrm>
            <a:off x="7233818" y="277063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가족·어린이 행사 구성</a:t>
            </a:r>
            <a:endParaRPr lang="en-US" sz="1100" dirty="0"/>
          </a:p>
        </p:txBody>
      </p:sp>
      <p:sp>
        <p:nvSpPr>
          <p:cNvPr id="30" name="Text 27"/>
          <p:cNvSpPr txBox="1"/>
          <p:nvPr/>
        </p:nvSpPr>
        <p:spPr>
          <a:xfrm>
            <a:off x="7233818" y="315468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페이스페인팅, 타투스티커, 삐에로 캐릭터를 만들기 부스와 함께 배치하여 유아·초등 가족 단위 방문객이 머무르는 체험 존을 만듭니다.</a:t>
            </a:r>
            <a:endParaRPr lang="en-US" sz="850" dirty="0"/>
          </a:p>
        </p:txBody>
      </p:sp>
      <p:sp>
        <p:nvSpPr>
          <p:cNvPr id="31" name="Shape 28"/>
          <p:cNvSpPr/>
          <p:nvPr/>
        </p:nvSpPr>
        <p:spPr>
          <a:xfrm>
            <a:off x="9392717" y="2331720"/>
            <a:ext cx="2158898" cy="1828800"/>
          </a:xfrm>
          <a:prstGeom prst="roundRect">
            <a:avLst>
              <a:gd name="adj" fmla="val 5000"/>
            </a:avLst>
          </a:prstGeom>
          <a:solidFill>
            <a:srgbClr val="12305F"/>
          </a:solidFill>
          <a:ln w="12700">
            <a:solidFill>
              <a:srgbClr val="1F5FD0"/>
            </a:solidFill>
            <a:prstDash val="solid"/>
          </a:ln>
        </p:spPr>
      </p:sp>
      <p:sp>
        <p:nvSpPr>
          <p:cNvPr id="32" name="Text 29"/>
          <p:cNvSpPr txBox="1"/>
          <p:nvPr/>
        </p:nvSpPr>
        <p:spPr>
          <a:xfrm>
            <a:off x="9621317" y="251460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03</a:t>
            </a:r>
            <a:endParaRPr lang="en-US" sz="1000" dirty="0"/>
          </a:p>
        </p:txBody>
      </p:sp>
      <p:sp>
        <p:nvSpPr>
          <p:cNvPr id="33" name="Text 30"/>
          <p:cNvSpPr txBox="1"/>
          <p:nvPr/>
        </p:nvSpPr>
        <p:spPr>
          <a:xfrm>
            <a:off x="9575597" y="277063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참여 인원 단위 견적</a:t>
            </a:r>
            <a:endParaRPr lang="en-US" sz="1100" dirty="0"/>
          </a:p>
        </p:txBody>
      </p:sp>
      <p:sp>
        <p:nvSpPr>
          <p:cNvPr id="34" name="Text 31"/>
          <p:cNvSpPr txBox="1"/>
          <p:nvPr/>
        </p:nvSpPr>
        <p:spPr>
          <a:xfrm>
            <a:off x="9575597" y="315468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부스당 40인분, 100인분처럼 참여 인원을 기준으로 재료를 준비하고 견적을 산정합니다. 예산과 예상 방문객에 맞춰 부스 수와 인원을 조정해 드립니다.</a:t>
            </a:r>
            <a:endParaRPr lang="en-US" sz="850" dirty="0"/>
          </a:p>
        </p:txBody>
      </p:sp>
      <p:sp>
        <p:nvSpPr>
          <p:cNvPr id="35" name="Shape 32"/>
          <p:cNvSpPr/>
          <p:nvPr/>
        </p:nvSpPr>
        <p:spPr>
          <a:xfrm>
            <a:off x="4709160" y="4343400"/>
            <a:ext cx="2158898" cy="1828800"/>
          </a:xfrm>
          <a:prstGeom prst="roundRect">
            <a:avLst>
              <a:gd name="adj" fmla="val 5000"/>
            </a:avLst>
          </a:prstGeom>
          <a:solidFill>
            <a:srgbClr val="12305F"/>
          </a:solidFill>
          <a:ln w="12700">
            <a:solidFill>
              <a:srgbClr val="1F5FD0"/>
            </a:solidFill>
            <a:prstDash val="solid"/>
          </a:ln>
        </p:spPr>
      </p:sp>
      <p:sp>
        <p:nvSpPr>
          <p:cNvPr id="36" name="Text 33"/>
          <p:cNvSpPr txBox="1"/>
          <p:nvPr/>
        </p:nvSpPr>
        <p:spPr>
          <a:xfrm>
            <a:off x="4937760" y="452628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04</a:t>
            </a:r>
            <a:endParaRPr lang="en-US" sz="1000" dirty="0"/>
          </a:p>
        </p:txBody>
      </p:sp>
      <p:sp>
        <p:nvSpPr>
          <p:cNvPr id="37" name="Text 34"/>
          <p:cNvSpPr txBox="1"/>
          <p:nvPr/>
        </p:nvSpPr>
        <p:spPr>
          <a:xfrm>
            <a:off x="4892040" y="478231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무료 체험 후 유료 전환</a:t>
            </a:r>
            <a:endParaRPr lang="en-US" sz="1100" dirty="0"/>
          </a:p>
        </p:txBody>
      </p:sp>
      <p:sp>
        <p:nvSpPr>
          <p:cNvPr id="38" name="Text 35"/>
          <p:cNvSpPr txBox="1"/>
          <p:nvPr/>
        </p:nvSpPr>
        <p:spPr>
          <a:xfrm>
            <a:off x="4892040" y="516636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주최 측 무료 지원 인원이 소진된 뒤에는 현장 유료 판매로 전환하여 운영 시간을 끝까지 채웁니다.</a:t>
            </a:r>
            <a:endParaRPr lang="en-US" sz="850" dirty="0"/>
          </a:p>
        </p:txBody>
      </p:sp>
      <p:sp>
        <p:nvSpPr>
          <p:cNvPr id="39" name="Shape 36"/>
          <p:cNvSpPr/>
          <p:nvPr/>
        </p:nvSpPr>
        <p:spPr>
          <a:xfrm>
            <a:off x="7050938" y="4343400"/>
            <a:ext cx="2158898" cy="1828800"/>
          </a:xfrm>
          <a:prstGeom prst="roundRect">
            <a:avLst>
              <a:gd name="adj" fmla="val 5000"/>
            </a:avLst>
          </a:prstGeom>
          <a:solidFill>
            <a:srgbClr val="12305F"/>
          </a:solidFill>
          <a:ln w="12700">
            <a:solidFill>
              <a:srgbClr val="1F5FD0"/>
            </a:solidFill>
            <a:prstDash val="solid"/>
          </a:ln>
        </p:spPr>
      </p:sp>
      <p:sp>
        <p:nvSpPr>
          <p:cNvPr id="40" name="Text 37"/>
          <p:cNvSpPr txBox="1"/>
          <p:nvPr/>
        </p:nvSpPr>
        <p:spPr>
          <a:xfrm>
            <a:off x="7279538" y="452628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05</a:t>
            </a:r>
            <a:endParaRPr lang="en-US" sz="1000" dirty="0"/>
          </a:p>
        </p:txBody>
      </p:sp>
      <p:sp>
        <p:nvSpPr>
          <p:cNvPr id="41" name="Text 38"/>
          <p:cNvSpPr txBox="1"/>
          <p:nvPr/>
        </p:nvSpPr>
        <p:spPr>
          <a:xfrm>
            <a:off x="7233818" y="478231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타임테이블 대기열 관리</a:t>
            </a:r>
            <a:endParaRPr lang="en-US" sz="1100" dirty="0"/>
          </a:p>
        </p:txBody>
      </p:sp>
      <p:sp>
        <p:nvSpPr>
          <p:cNvPr id="42" name="Text 39"/>
          <p:cNvSpPr txBox="1"/>
          <p:nvPr/>
        </p:nvSpPr>
        <p:spPr>
          <a:xfrm>
            <a:off x="7233818" y="516636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석고방향제처럼 경화 시간이 필요한 프로그램은 15분 단위 타임제(한 타임 8명)로 접수하여 대기열을 관리합니다.</a:t>
            </a:r>
            <a:endParaRPr lang="en-US" sz="850" dirty="0"/>
          </a:p>
        </p:txBody>
      </p:sp>
      <p:sp>
        <p:nvSpPr>
          <p:cNvPr id="43" name="Shape 40"/>
          <p:cNvSpPr/>
          <p:nvPr/>
        </p:nvSpPr>
        <p:spPr>
          <a:xfrm>
            <a:off x="9392717" y="4343400"/>
            <a:ext cx="2158898" cy="1828800"/>
          </a:xfrm>
          <a:prstGeom prst="roundRect">
            <a:avLst>
              <a:gd name="adj" fmla="val 5000"/>
            </a:avLst>
          </a:prstGeom>
          <a:solidFill>
            <a:srgbClr val="12305F"/>
          </a:solidFill>
          <a:ln w="12700">
            <a:solidFill>
              <a:srgbClr val="1F5FD0"/>
            </a:solidFill>
            <a:prstDash val="solid"/>
          </a:ln>
        </p:spPr>
      </p:sp>
      <p:sp>
        <p:nvSpPr>
          <p:cNvPr id="44" name="Text 41"/>
          <p:cNvSpPr txBox="1"/>
          <p:nvPr/>
        </p:nvSpPr>
        <p:spPr>
          <a:xfrm>
            <a:off x="9621317" y="452628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06</a:t>
            </a:r>
            <a:endParaRPr lang="en-US" sz="1000" dirty="0"/>
          </a:p>
        </p:txBody>
      </p:sp>
      <p:sp>
        <p:nvSpPr>
          <p:cNvPr id="45" name="Text 42"/>
          <p:cNvSpPr txBox="1"/>
          <p:nvPr/>
        </p:nvSpPr>
        <p:spPr>
          <a:xfrm>
            <a:off x="9575597" y="478231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전기 없이 설치 가능</a:t>
            </a:r>
            <a:endParaRPr lang="en-US" sz="1100" dirty="0"/>
          </a:p>
        </p:txBody>
      </p:sp>
      <p:sp>
        <p:nvSpPr>
          <p:cNvPr id="46" name="Text 43"/>
          <p:cNvSpPr txBox="1"/>
          <p:nvPr/>
        </p:nvSpPr>
        <p:spPr>
          <a:xfrm>
            <a:off x="9575597" y="516636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대부분의 프로그램이 전기를 쓰지 않아 잔디마당, 광장, 공원 어디든 설치할 수 있습니다. 전기가 필요한 프로그램은 사전에 안내해 드립니다.</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44"/>
        </a:solidFill>
      </p:bgPr>
    </p:bg>
    <p:spTree>
      <p:nvGrpSpPr>
        <p:cNvPr id="1" name=""/>
        <p:cNvGrpSpPr/>
        <p:nvPr/>
      </p:nvGrpSpPr>
      <p:grpSpPr>
        <a:xfrm>
          <a:off x="0" y="0"/>
          <a:ext cx="0" cy="0"/>
          <a:chOff x="0" y="0"/>
          <a:chExt cx="0" cy="0"/>
        </a:xfrm>
      </p:grpSpPr>
      <p:sp>
        <p:nvSpPr>
          <p:cNvPr id="2" name="Shape 0"/>
          <p:cNvSpPr/>
          <p:nvPr/>
        </p:nvSpPr>
        <p:spPr>
          <a:xfrm>
            <a:off x="9265615" y="-2377440"/>
            <a:ext cx="5120640" cy="5120640"/>
          </a:xfrm>
          <a:prstGeom prst="ellipse">
            <a:avLst/>
          </a:prstGeom>
          <a:solidFill>
            <a:srgbClr val="12305F"/>
          </a:solidFill>
          <a:ln w="12700">
            <a:solidFill>
              <a:srgbClr val="12305F"/>
            </a:solidFill>
            <a:prstDash val="solid"/>
          </a:ln>
        </p:spPr>
      </p:sp>
      <p:sp>
        <p:nvSpPr>
          <p:cNvPr id="3" name="Shape 1"/>
          <p:cNvSpPr/>
          <p:nvPr/>
        </p:nvSpPr>
        <p:spPr>
          <a:xfrm>
            <a:off x="-1645920" y="5029200"/>
            <a:ext cx="3657600" cy="3657600"/>
          </a:xfrm>
          <a:prstGeom prst="ellipse">
            <a:avLst/>
          </a:prstGeom>
          <a:solidFill>
            <a:srgbClr val="12305F"/>
          </a:solidFill>
          <a:ln w="12700">
            <a:solidFill>
              <a:srgbClr val="12305F"/>
            </a:solidFill>
            <a:prstDash val="solid"/>
          </a:ln>
        </p:spPr>
      </p:sp>
      <p:sp>
        <p:nvSpPr>
          <p:cNvPr id="4" name="Text 2"/>
          <p:cNvSpPr txBox="1"/>
          <p:nvPr/>
        </p:nvSpPr>
        <p:spPr>
          <a:xfrm>
            <a:off x="640080" y="384048"/>
            <a:ext cx="1155700" cy="266700"/>
          </a:xfrm>
          <a:prstGeom prst="rect">
            <a:avLst/>
          </a:prstGeom>
          <a:noFill/>
          <a:ln/>
        </p:spPr>
        <p:txBody>
          <a:bodyPr wrap="square" lIns="0" tIns="0" rIns="0" bIns="0" rtlCol="0" anchor="ctr"/>
          <a:lstStyle/>
          <a:p>
            <a:pPr indent="0" marL="0">
              <a:buNone/>
            </a:pPr>
            <a:r>
              <a:rPr lang="en-US" sz="1400" b="1" dirty="0">
                <a:solidFill>
                  <a:srgbClr val="3182F6"/>
                </a:solidFill>
                <a:latin typeface="Arial Black" pitchFamily="34" charset="0"/>
                <a:ea typeface="Arial Black" pitchFamily="34" charset="-122"/>
                <a:cs typeface="Arial Black" pitchFamily="34" charset="-120"/>
              </a:rPr>
              <a:t>Flit</a:t>
            </a:r>
            <a:pPr indent="0" marL="0">
              <a:buNone/>
            </a:pPr>
            <a:r>
              <a:rPr lang="en-US" sz="1400" b="1" dirty="0">
                <a:solidFill>
                  <a:srgbClr val="FFFFFF"/>
                </a:solidFill>
                <a:latin typeface="Arial Black" pitchFamily="34" charset="0"/>
                <a:ea typeface="Arial Black" pitchFamily="34" charset="-122"/>
                <a:cs typeface="Arial Black" pitchFamily="34" charset="-120"/>
              </a:rPr>
              <a:t>Union</a:t>
            </a:r>
            <a:endParaRPr lang="en-US" sz="1400" dirty="0"/>
          </a:p>
        </p:txBody>
      </p:sp>
      <p:sp>
        <p:nvSpPr>
          <p:cNvPr id="5" name="Text 3"/>
          <p:cNvSpPr txBox="1"/>
          <p:nvPr/>
        </p:nvSpPr>
        <p:spPr>
          <a:xfrm>
            <a:off x="640080" y="868680"/>
            <a:ext cx="5486400" cy="274320"/>
          </a:xfrm>
          <a:prstGeom prst="rect">
            <a:avLst/>
          </a:prstGeom>
          <a:noFill/>
          <a:ln/>
        </p:spPr>
        <p:txBody>
          <a:bodyPr wrap="square" lIns="0" tIns="0" rIns="0" bIns="0" rtlCol="0" anchor="t"/>
          <a:lstStyle/>
          <a:p>
            <a:pPr indent="0" marL="0">
              <a:buNone/>
            </a:pPr>
            <a:r>
              <a:rPr lang="en-US" sz="1100" b="1" spc="300" kern="0" dirty="0">
                <a:solidFill>
                  <a:srgbClr val="93C5FD"/>
                </a:solidFill>
                <a:latin typeface="Malgun Gothic" pitchFamily="34" charset="0"/>
                <a:ea typeface="Malgun Gothic" pitchFamily="34" charset="-122"/>
                <a:cs typeface="Malgun Gothic" pitchFamily="34" charset="-120"/>
              </a:rPr>
              <a:t>05  SERVICE DETAIL  ·  무대·공연 연출</a:t>
            </a:r>
            <a:endParaRPr lang="en-US" sz="1100" dirty="0"/>
          </a:p>
        </p:txBody>
      </p:sp>
      <p:sp>
        <p:nvSpPr>
          <p:cNvPr id="6" name="Text 4"/>
          <p:cNvSpPr txBox="1"/>
          <p:nvPr/>
        </p:nvSpPr>
        <p:spPr>
          <a:xfrm>
            <a:off x="640080" y="1143000"/>
            <a:ext cx="10911535" cy="594360"/>
          </a:xfrm>
          <a:prstGeom prst="rect">
            <a:avLst/>
          </a:prstGeom>
          <a:noFill/>
          <a:ln/>
        </p:spPr>
        <p:txBody>
          <a:bodyPr wrap="square" lIns="0" tIns="0" rIns="0" bIns="0" rtlCol="0" anchor="t"/>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무대·공연 연출</a:t>
            </a:r>
            <a:endParaRPr lang="en-US" sz="2800" dirty="0"/>
          </a:p>
        </p:txBody>
      </p:sp>
      <p:sp>
        <p:nvSpPr>
          <p:cNvPr id="7" name="Text 5"/>
          <p:cNvSpPr txBox="1"/>
          <p:nvPr/>
        </p:nvSpPr>
        <p:spPr>
          <a:xfrm>
            <a:off x="640080" y="1737360"/>
            <a:ext cx="10911535" cy="411480"/>
          </a:xfrm>
          <a:prstGeom prst="rect">
            <a:avLst/>
          </a:prstGeom>
          <a:noFill/>
          <a:ln/>
        </p:spPr>
        <p:txBody>
          <a:bodyPr wrap="square" lIns="0" tIns="0" rIns="0" bIns="0" rtlCol="0" anchor="t"/>
          <a:lstStyle/>
          <a:p>
            <a:pPr indent="0" marL="0">
              <a:buNone/>
            </a:pPr>
            <a:r>
              <a:rPr lang="en-US" sz="1300" dirty="0">
                <a:solidFill>
                  <a:srgbClr val="D6E4F8"/>
                </a:solidFill>
                <a:latin typeface="Malgun Gothic" pitchFamily="34" charset="0"/>
                <a:ea typeface="Malgun Gothic" pitchFamily="34" charset="-122"/>
                <a:cs typeface="Malgun Gothic" pitchFamily="34" charset="-120"/>
              </a:rPr>
              <a:t>무대 · 음향 · 공연  ·  이동식 무대와 음향·조명 설치, 버스킹·공연팀 섭외까지 행사의 메인 프로그램을 마켓·부스와 함께 구성합니다.</a:t>
            </a:r>
            <a:endParaRPr lang="en-US" sz="1300" dirty="0"/>
          </a:p>
        </p:txBody>
      </p:sp>
      <p:sp>
        <p:nvSpPr>
          <p:cNvPr id="8" name="Text 6"/>
          <p:cNvSpPr txBox="1"/>
          <p:nvPr/>
        </p:nvSpPr>
        <p:spPr>
          <a:xfrm>
            <a:off x="640080" y="6400800"/>
            <a:ext cx="3657600" cy="228600"/>
          </a:xfrm>
          <a:prstGeom prst="rect">
            <a:avLst/>
          </a:prstGeom>
          <a:noFill/>
          <a:ln/>
        </p:spPr>
        <p:txBody>
          <a:bodyPr wrap="square" lIns="0" tIns="0" rIns="0" bIns="0" rtlCol="0" anchor="t"/>
          <a:lstStyle/>
          <a:p>
            <a:pPr indent="0" marL="0">
              <a:buNone/>
            </a:pPr>
            <a:r>
              <a:rPr lang="en-US" sz="900" dirty="0">
                <a:solidFill>
                  <a:srgbClr val="94A3B8"/>
                </a:solidFill>
                <a:latin typeface="Malgun Gothic" pitchFamily="34" charset="0"/>
                <a:ea typeface="Malgun Gothic" pitchFamily="34" charset="-122"/>
                <a:cs typeface="Malgun Gothic" pitchFamily="34" charset="-120"/>
              </a:rPr>
              <a:t>플릿 유니온 회사소개서</a:t>
            </a:r>
            <a:endParaRPr lang="en-US" sz="900" dirty="0"/>
          </a:p>
        </p:txBody>
      </p:sp>
      <p:sp>
        <p:nvSpPr>
          <p:cNvPr id="9" name="Text 7"/>
          <p:cNvSpPr txBox="1"/>
          <p:nvPr/>
        </p:nvSpPr>
        <p:spPr>
          <a:xfrm>
            <a:off x="10637215" y="6400800"/>
            <a:ext cx="914400" cy="228600"/>
          </a:xfrm>
          <a:prstGeom prst="rect">
            <a:avLst/>
          </a:prstGeom>
          <a:noFill/>
          <a:ln/>
        </p:spPr>
        <p:txBody>
          <a:bodyPr wrap="square" lIns="0" tIns="0" rIns="0" bIns="0" rtlCol="0" anchor="t"/>
          <a:lstStyle/>
          <a:p>
            <a:pPr algn="r" indent="0" marL="0">
              <a:buNone/>
            </a:pPr>
            <a:r>
              <a:rPr lang="en-US" sz="900" dirty="0">
                <a:solidFill>
                  <a:srgbClr val="94A3B8"/>
                </a:solidFill>
                <a:latin typeface="Malgun Gothic" pitchFamily="34" charset="0"/>
                <a:ea typeface="Malgun Gothic" pitchFamily="34" charset="-122"/>
                <a:cs typeface="Malgun Gothic" pitchFamily="34" charset="-120"/>
              </a:rPr>
              <a:t>11</a:t>
            </a:r>
            <a:endParaRPr lang="en-US" sz="900" dirty="0"/>
          </a:p>
        </p:txBody>
      </p:sp>
      <p:sp>
        <p:nvSpPr>
          <p:cNvPr id="10" name="Shape 8"/>
          <p:cNvSpPr/>
          <p:nvPr/>
        </p:nvSpPr>
        <p:spPr>
          <a:xfrm>
            <a:off x="640080" y="2331720"/>
            <a:ext cx="3749040" cy="3840480"/>
          </a:xfrm>
          <a:prstGeom prst="roundRect">
            <a:avLst>
              <a:gd name="adj" fmla="val 2439"/>
            </a:avLst>
          </a:prstGeom>
          <a:solidFill>
            <a:srgbClr val="FFFFFF"/>
          </a:solidFill>
          <a:ln w="12700">
            <a:solidFill>
              <a:srgbClr val="FFFFFF"/>
            </a:solidFill>
            <a:prstDash val="solid"/>
          </a:ln>
        </p:spPr>
      </p:sp>
      <p:sp>
        <p:nvSpPr>
          <p:cNvPr id="11" name="Shape 9"/>
          <p:cNvSpPr/>
          <p:nvPr/>
        </p:nvSpPr>
        <p:spPr>
          <a:xfrm>
            <a:off x="960120" y="2651760"/>
            <a:ext cx="594360" cy="594360"/>
          </a:xfrm>
          <a:prstGeom prst="ellipse">
            <a:avLst/>
          </a:prstGeom>
          <a:solidFill>
            <a:srgbClr val="3182F6"/>
          </a:solidFill>
          <a:ln w="12700">
            <a:solidFill>
              <a:srgbClr val="3182F6"/>
            </a:solidFill>
            <a:prstDash val="solid"/>
          </a:ln>
        </p:spPr>
      </p:sp>
      <p:pic>
        <p:nvPicPr>
          <p:cNvPr id="12" name="Image 0" descr="preencoded.png">    </p:cNvPr>
          <p:cNvPicPr>
            <a:picLocks noChangeAspect="1"/>
          </p:cNvPicPr>
          <p:nvPr/>
        </p:nvPicPr>
        <p:blipFill>
          <a:blip r:embed="rId1"/>
          <a:stretch>
            <a:fillRect/>
          </a:stretch>
        </p:blipFill>
        <p:spPr>
          <a:xfrm>
            <a:off x="1108710" y="2800350"/>
            <a:ext cx="297180" cy="297180"/>
          </a:xfrm>
          <a:prstGeom prst="rect">
            <a:avLst/>
          </a:prstGeom>
        </p:spPr>
      </p:pic>
      <p:sp>
        <p:nvSpPr>
          <p:cNvPr id="13" name="Text 10"/>
          <p:cNvSpPr txBox="1"/>
          <p:nvPr/>
        </p:nvSpPr>
        <p:spPr>
          <a:xfrm>
            <a:off x="960120" y="3383280"/>
            <a:ext cx="3108960" cy="1554480"/>
          </a:xfrm>
          <a:prstGeom prst="rect">
            <a:avLst/>
          </a:prstGeom>
          <a:noFill/>
          <a:ln/>
        </p:spPr>
        <p:txBody>
          <a:bodyPr wrap="square" lIns="0" tIns="0" rIns="0" bIns="0" rtlCol="0" anchor="t"/>
          <a:lstStyle/>
          <a:p>
            <a:pPr indent="0" marL="0">
              <a:lnSpc>
                <a:spcPct val="125000"/>
              </a:lnSpc>
              <a:buNone/>
            </a:pPr>
            <a:r>
              <a:rPr lang="en-US" sz="1000" dirty="0">
                <a:solidFill>
                  <a:srgbClr val="475569"/>
                </a:solidFill>
                <a:latin typeface="Malgun Gothic" pitchFamily="34" charset="0"/>
                <a:ea typeface="Malgun Gothic" pitchFamily="34" charset="-122"/>
                <a:cs typeface="Malgun Gothic" pitchFamily="34" charset="-120"/>
              </a:rPr>
              <a:t>마켓과 부스만으로는 방문객이 오래 머물지 않습니다. 이동식 무대와 트러스, PA 음향, 조명, LED 전광판을 설치하고 버스킹·밴드·공연팀을 섭외하여 행사의 중심을 만듭니다. 음향·무대 협력사 29곳과 조명 협력사 6곳을 통해 소규모 버스킹 무대부터 객석을 갖춘 메인 무대까지 규모에 맞게 제안해 드립니다.</a:t>
            </a:r>
            <a:endParaRPr lang="en-US" sz="1000" dirty="0"/>
          </a:p>
        </p:txBody>
      </p:sp>
      <p:sp>
        <p:nvSpPr>
          <p:cNvPr id="14" name="Shape 11"/>
          <p:cNvSpPr/>
          <p:nvPr/>
        </p:nvSpPr>
        <p:spPr>
          <a:xfrm>
            <a:off x="960120" y="5029200"/>
            <a:ext cx="975360" cy="868680"/>
          </a:xfrm>
          <a:prstGeom prst="roundRect">
            <a:avLst>
              <a:gd name="adj" fmla="val 10526"/>
            </a:avLst>
          </a:prstGeom>
          <a:solidFill>
            <a:srgbClr val="EAF2FF"/>
          </a:solidFill>
          <a:ln w="12700">
            <a:solidFill>
              <a:srgbClr val="EAF2FF"/>
            </a:solidFill>
            <a:prstDash val="solid"/>
          </a:ln>
        </p:spPr>
      </p:sp>
      <p:sp>
        <p:nvSpPr>
          <p:cNvPr id="15" name="Text 12"/>
          <p:cNvSpPr txBox="1"/>
          <p:nvPr/>
        </p:nvSpPr>
        <p:spPr>
          <a:xfrm>
            <a:off x="1005840" y="5138928"/>
            <a:ext cx="883920" cy="411480"/>
          </a:xfrm>
          <a:prstGeom prst="rect">
            <a:avLst/>
          </a:prstGeom>
          <a:noFill/>
          <a:ln/>
        </p:spPr>
        <p:txBody>
          <a:bodyPr wrap="square" lIns="0" tIns="0" rIns="0" bIns="0" rtlCol="0" anchor="t"/>
          <a:lstStyle/>
          <a:p>
            <a:pPr algn="ctr" indent="0" marL="0">
              <a:buNone/>
            </a:pPr>
            <a:r>
              <a:rPr lang="en-US" sz="1500" b="1" dirty="0">
                <a:solidFill>
                  <a:srgbClr val="3182F6"/>
                </a:solidFill>
                <a:latin typeface="Arial Black" pitchFamily="34" charset="0"/>
                <a:ea typeface="Arial Black" pitchFamily="34" charset="-122"/>
                <a:cs typeface="Arial Black" pitchFamily="34" charset="-120"/>
              </a:rPr>
              <a:t>29곳</a:t>
            </a:r>
            <a:endParaRPr lang="en-US" sz="1500" dirty="0"/>
          </a:p>
        </p:txBody>
      </p:sp>
      <p:sp>
        <p:nvSpPr>
          <p:cNvPr id="16" name="Text 13"/>
          <p:cNvSpPr txBox="1"/>
          <p:nvPr/>
        </p:nvSpPr>
        <p:spPr>
          <a:xfrm>
            <a:off x="1005840" y="5541264"/>
            <a:ext cx="883920" cy="274320"/>
          </a:xfrm>
          <a:prstGeom prst="rect">
            <a:avLst/>
          </a:prstGeom>
          <a:noFill/>
          <a:ln/>
        </p:spPr>
        <p:txBody>
          <a:bodyPr wrap="square" lIns="0" tIns="0" rIns="0" bIns="0" rtlCol="0" anchor="t"/>
          <a:lstStyle/>
          <a:p>
            <a:pPr algn="ctr" indent="0" marL="0">
              <a:buNone/>
            </a:pPr>
            <a:r>
              <a:rPr lang="en-US" sz="850" dirty="0">
                <a:solidFill>
                  <a:srgbClr val="475569"/>
                </a:solidFill>
                <a:latin typeface="Malgun Gothic" pitchFamily="34" charset="0"/>
                <a:ea typeface="Malgun Gothic" pitchFamily="34" charset="-122"/>
                <a:cs typeface="Malgun Gothic" pitchFamily="34" charset="-120"/>
              </a:rPr>
              <a:t>음향·무대 협력사</a:t>
            </a:r>
            <a:endParaRPr lang="en-US" sz="850" dirty="0"/>
          </a:p>
        </p:txBody>
      </p:sp>
      <p:sp>
        <p:nvSpPr>
          <p:cNvPr id="17" name="Shape 14"/>
          <p:cNvSpPr/>
          <p:nvPr/>
        </p:nvSpPr>
        <p:spPr>
          <a:xfrm>
            <a:off x="2026920" y="5029200"/>
            <a:ext cx="975360" cy="868680"/>
          </a:xfrm>
          <a:prstGeom prst="roundRect">
            <a:avLst>
              <a:gd name="adj" fmla="val 10526"/>
            </a:avLst>
          </a:prstGeom>
          <a:solidFill>
            <a:srgbClr val="EAF2FF"/>
          </a:solidFill>
          <a:ln w="12700">
            <a:solidFill>
              <a:srgbClr val="EAF2FF"/>
            </a:solidFill>
            <a:prstDash val="solid"/>
          </a:ln>
        </p:spPr>
      </p:sp>
      <p:sp>
        <p:nvSpPr>
          <p:cNvPr id="18" name="Text 15"/>
          <p:cNvSpPr txBox="1"/>
          <p:nvPr/>
        </p:nvSpPr>
        <p:spPr>
          <a:xfrm>
            <a:off x="2072640" y="5138928"/>
            <a:ext cx="883920" cy="411480"/>
          </a:xfrm>
          <a:prstGeom prst="rect">
            <a:avLst/>
          </a:prstGeom>
          <a:noFill/>
          <a:ln/>
        </p:spPr>
        <p:txBody>
          <a:bodyPr wrap="square" lIns="0" tIns="0" rIns="0" bIns="0" rtlCol="0" anchor="t"/>
          <a:lstStyle/>
          <a:p>
            <a:pPr algn="ctr" indent="0" marL="0">
              <a:buNone/>
            </a:pPr>
            <a:r>
              <a:rPr lang="en-US" sz="1500" b="1" dirty="0">
                <a:solidFill>
                  <a:srgbClr val="3182F6"/>
                </a:solidFill>
                <a:latin typeface="Arial Black" pitchFamily="34" charset="0"/>
                <a:ea typeface="Arial Black" pitchFamily="34" charset="-122"/>
                <a:cs typeface="Arial Black" pitchFamily="34" charset="-120"/>
              </a:rPr>
              <a:t>6곳</a:t>
            </a:r>
            <a:endParaRPr lang="en-US" sz="1500" dirty="0"/>
          </a:p>
        </p:txBody>
      </p:sp>
      <p:sp>
        <p:nvSpPr>
          <p:cNvPr id="19" name="Text 16"/>
          <p:cNvSpPr txBox="1"/>
          <p:nvPr/>
        </p:nvSpPr>
        <p:spPr>
          <a:xfrm>
            <a:off x="2072640" y="5541264"/>
            <a:ext cx="883920" cy="274320"/>
          </a:xfrm>
          <a:prstGeom prst="rect">
            <a:avLst/>
          </a:prstGeom>
          <a:noFill/>
          <a:ln/>
        </p:spPr>
        <p:txBody>
          <a:bodyPr wrap="square" lIns="0" tIns="0" rIns="0" bIns="0" rtlCol="0" anchor="t"/>
          <a:lstStyle/>
          <a:p>
            <a:pPr algn="ctr" indent="0" marL="0">
              <a:buNone/>
            </a:pPr>
            <a:r>
              <a:rPr lang="en-US" sz="850" dirty="0">
                <a:solidFill>
                  <a:srgbClr val="475569"/>
                </a:solidFill>
                <a:latin typeface="Malgun Gothic" pitchFamily="34" charset="0"/>
                <a:ea typeface="Malgun Gothic" pitchFamily="34" charset="-122"/>
                <a:cs typeface="Malgun Gothic" pitchFamily="34" charset="-120"/>
              </a:rPr>
              <a:t>조명 협력사</a:t>
            </a:r>
            <a:endParaRPr lang="en-US" sz="850" dirty="0"/>
          </a:p>
        </p:txBody>
      </p:sp>
      <p:sp>
        <p:nvSpPr>
          <p:cNvPr id="20" name="Shape 17"/>
          <p:cNvSpPr/>
          <p:nvPr/>
        </p:nvSpPr>
        <p:spPr>
          <a:xfrm>
            <a:off x="3093720" y="5029200"/>
            <a:ext cx="975360" cy="868680"/>
          </a:xfrm>
          <a:prstGeom prst="roundRect">
            <a:avLst>
              <a:gd name="adj" fmla="val 10526"/>
            </a:avLst>
          </a:prstGeom>
          <a:solidFill>
            <a:srgbClr val="EAF2FF"/>
          </a:solidFill>
          <a:ln w="12700">
            <a:solidFill>
              <a:srgbClr val="EAF2FF"/>
            </a:solidFill>
            <a:prstDash val="solid"/>
          </a:ln>
        </p:spPr>
      </p:sp>
      <p:sp>
        <p:nvSpPr>
          <p:cNvPr id="21" name="Text 18"/>
          <p:cNvSpPr txBox="1"/>
          <p:nvPr/>
        </p:nvSpPr>
        <p:spPr>
          <a:xfrm>
            <a:off x="3139440" y="5138928"/>
            <a:ext cx="883920" cy="411480"/>
          </a:xfrm>
          <a:prstGeom prst="rect">
            <a:avLst/>
          </a:prstGeom>
          <a:noFill/>
          <a:ln/>
        </p:spPr>
        <p:txBody>
          <a:bodyPr wrap="square" lIns="0" tIns="0" rIns="0" bIns="0" rtlCol="0" anchor="t"/>
          <a:lstStyle/>
          <a:p>
            <a:pPr algn="ctr" indent="0" marL="0">
              <a:buNone/>
            </a:pPr>
            <a:r>
              <a:rPr lang="en-US" sz="1500" b="1" dirty="0">
                <a:solidFill>
                  <a:srgbClr val="3182F6"/>
                </a:solidFill>
                <a:latin typeface="Arial Black" pitchFamily="34" charset="0"/>
                <a:ea typeface="Arial Black" pitchFamily="34" charset="-122"/>
                <a:cs typeface="Arial Black" pitchFamily="34" charset="-120"/>
              </a:rPr>
              <a:t>전국</a:t>
            </a:r>
            <a:endParaRPr lang="en-US" sz="1500" dirty="0"/>
          </a:p>
        </p:txBody>
      </p:sp>
      <p:sp>
        <p:nvSpPr>
          <p:cNvPr id="22" name="Text 19"/>
          <p:cNvSpPr txBox="1"/>
          <p:nvPr/>
        </p:nvSpPr>
        <p:spPr>
          <a:xfrm>
            <a:off x="3139440" y="5541264"/>
            <a:ext cx="883920" cy="274320"/>
          </a:xfrm>
          <a:prstGeom prst="rect">
            <a:avLst/>
          </a:prstGeom>
          <a:noFill/>
          <a:ln/>
        </p:spPr>
        <p:txBody>
          <a:bodyPr wrap="square" lIns="0" tIns="0" rIns="0" bIns="0" rtlCol="0" anchor="t"/>
          <a:lstStyle/>
          <a:p>
            <a:pPr algn="ctr" indent="0" marL="0">
              <a:buNone/>
            </a:pPr>
            <a:r>
              <a:rPr lang="en-US" sz="850" dirty="0">
                <a:solidFill>
                  <a:srgbClr val="475569"/>
                </a:solidFill>
                <a:latin typeface="Malgun Gothic" pitchFamily="34" charset="0"/>
                <a:ea typeface="Malgun Gothic" pitchFamily="34" charset="-122"/>
                <a:cs typeface="Malgun Gothic" pitchFamily="34" charset="-120"/>
              </a:rPr>
              <a:t>현지 대응 협력사</a:t>
            </a:r>
            <a:endParaRPr lang="en-US" sz="850" dirty="0"/>
          </a:p>
        </p:txBody>
      </p:sp>
      <p:sp>
        <p:nvSpPr>
          <p:cNvPr id="23" name="Shape 20"/>
          <p:cNvSpPr/>
          <p:nvPr/>
        </p:nvSpPr>
        <p:spPr>
          <a:xfrm>
            <a:off x="4709160" y="2331720"/>
            <a:ext cx="2158898" cy="1828800"/>
          </a:xfrm>
          <a:prstGeom prst="roundRect">
            <a:avLst>
              <a:gd name="adj" fmla="val 5000"/>
            </a:avLst>
          </a:prstGeom>
          <a:solidFill>
            <a:srgbClr val="12305F"/>
          </a:solidFill>
          <a:ln w="12700">
            <a:solidFill>
              <a:srgbClr val="1F5FD0"/>
            </a:solidFill>
            <a:prstDash val="solid"/>
          </a:ln>
        </p:spPr>
      </p:sp>
      <p:sp>
        <p:nvSpPr>
          <p:cNvPr id="24" name="Text 21"/>
          <p:cNvSpPr txBox="1"/>
          <p:nvPr/>
        </p:nvSpPr>
        <p:spPr>
          <a:xfrm>
            <a:off x="4937760" y="251460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01</a:t>
            </a:r>
            <a:endParaRPr lang="en-US" sz="1000" dirty="0"/>
          </a:p>
        </p:txBody>
      </p:sp>
      <p:sp>
        <p:nvSpPr>
          <p:cNvPr id="25" name="Text 22"/>
          <p:cNvSpPr txBox="1"/>
          <p:nvPr/>
        </p:nvSpPr>
        <p:spPr>
          <a:xfrm>
            <a:off x="4892040" y="277063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이동식 무대·트러스 설치</a:t>
            </a:r>
            <a:endParaRPr lang="en-US" sz="1100" dirty="0"/>
          </a:p>
        </p:txBody>
      </p:sp>
      <p:sp>
        <p:nvSpPr>
          <p:cNvPr id="26" name="Text 23"/>
          <p:cNvSpPr txBox="1"/>
          <p:nvPr/>
        </p:nvSpPr>
        <p:spPr>
          <a:xfrm>
            <a:off x="4892040" y="315468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조립식 무대, 무대 계단, 백월 트러스, 관람석을 행사 규모에 맞춰 설치합니다. 현장 실측 후 설치 위치와 규격을 확정합니다.</a:t>
            </a:r>
            <a:endParaRPr lang="en-US" sz="850" dirty="0"/>
          </a:p>
        </p:txBody>
      </p:sp>
      <p:sp>
        <p:nvSpPr>
          <p:cNvPr id="27" name="Shape 24"/>
          <p:cNvSpPr/>
          <p:nvPr/>
        </p:nvSpPr>
        <p:spPr>
          <a:xfrm>
            <a:off x="7050938" y="2331720"/>
            <a:ext cx="2158898" cy="1828800"/>
          </a:xfrm>
          <a:prstGeom prst="roundRect">
            <a:avLst>
              <a:gd name="adj" fmla="val 5000"/>
            </a:avLst>
          </a:prstGeom>
          <a:solidFill>
            <a:srgbClr val="12305F"/>
          </a:solidFill>
          <a:ln w="12700">
            <a:solidFill>
              <a:srgbClr val="1F5FD0"/>
            </a:solidFill>
            <a:prstDash val="solid"/>
          </a:ln>
        </p:spPr>
      </p:sp>
      <p:sp>
        <p:nvSpPr>
          <p:cNvPr id="28" name="Text 25"/>
          <p:cNvSpPr txBox="1"/>
          <p:nvPr/>
        </p:nvSpPr>
        <p:spPr>
          <a:xfrm>
            <a:off x="7279538" y="251460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02</a:t>
            </a:r>
            <a:endParaRPr lang="en-US" sz="1000" dirty="0"/>
          </a:p>
        </p:txBody>
      </p:sp>
      <p:sp>
        <p:nvSpPr>
          <p:cNvPr id="29" name="Text 26"/>
          <p:cNvSpPr txBox="1"/>
          <p:nvPr/>
        </p:nvSpPr>
        <p:spPr>
          <a:xfrm>
            <a:off x="7233818" y="277063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음향·조명 운영</a:t>
            </a:r>
            <a:endParaRPr lang="en-US" sz="1100" dirty="0"/>
          </a:p>
        </p:txBody>
      </p:sp>
      <p:sp>
        <p:nvSpPr>
          <p:cNvPr id="30" name="Text 27"/>
          <p:cNvSpPr txBox="1"/>
          <p:nvPr/>
        </p:nvSpPr>
        <p:spPr>
          <a:xfrm>
            <a:off x="7233818" y="315468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PA/SR 음향 시스템과 무대 조명, LED 전광판을 설치하고 행사 내내 음향·조명 오퍼레이터가 상주합니다.</a:t>
            </a:r>
            <a:endParaRPr lang="en-US" sz="850" dirty="0"/>
          </a:p>
        </p:txBody>
      </p:sp>
      <p:sp>
        <p:nvSpPr>
          <p:cNvPr id="31" name="Shape 28"/>
          <p:cNvSpPr/>
          <p:nvPr/>
        </p:nvSpPr>
        <p:spPr>
          <a:xfrm>
            <a:off x="9392717" y="2331720"/>
            <a:ext cx="2158898" cy="1828800"/>
          </a:xfrm>
          <a:prstGeom prst="roundRect">
            <a:avLst>
              <a:gd name="adj" fmla="val 5000"/>
            </a:avLst>
          </a:prstGeom>
          <a:solidFill>
            <a:srgbClr val="12305F"/>
          </a:solidFill>
          <a:ln w="12700">
            <a:solidFill>
              <a:srgbClr val="1F5FD0"/>
            </a:solidFill>
            <a:prstDash val="solid"/>
          </a:ln>
        </p:spPr>
      </p:sp>
      <p:sp>
        <p:nvSpPr>
          <p:cNvPr id="32" name="Text 29"/>
          <p:cNvSpPr txBox="1"/>
          <p:nvPr/>
        </p:nvSpPr>
        <p:spPr>
          <a:xfrm>
            <a:off x="9621317" y="251460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03</a:t>
            </a:r>
            <a:endParaRPr lang="en-US" sz="1000" dirty="0"/>
          </a:p>
        </p:txBody>
      </p:sp>
      <p:sp>
        <p:nvSpPr>
          <p:cNvPr id="33" name="Text 30"/>
          <p:cNvSpPr txBox="1"/>
          <p:nvPr/>
        </p:nvSpPr>
        <p:spPr>
          <a:xfrm>
            <a:off x="9575597" y="277063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공연팀 섭외</a:t>
            </a:r>
            <a:endParaRPr lang="en-US" sz="1100" dirty="0"/>
          </a:p>
        </p:txBody>
      </p:sp>
      <p:sp>
        <p:nvSpPr>
          <p:cNvPr id="34" name="Text 31"/>
          <p:cNvSpPr txBox="1"/>
          <p:nvPr/>
        </p:nvSpPr>
        <p:spPr>
          <a:xfrm>
            <a:off x="9575597" y="315468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어쿠스틱 버스커, 밴드, 댄스팀, 전통 공연팀을 행사 콘셉트와 방문객 연령대에 맞춰 섭외하고 출연 계약을 대행합니다.</a:t>
            </a:r>
            <a:endParaRPr lang="en-US" sz="850" dirty="0"/>
          </a:p>
        </p:txBody>
      </p:sp>
      <p:sp>
        <p:nvSpPr>
          <p:cNvPr id="35" name="Shape 32"/>
          <p:cNvSpPr/>
          <p:nvPr/>
        </p:nvSpPr>
        <p:spPr>
          <a:xfrm>
            <a:off x="4709160" y="4343400"/>
            <a:ext cx="2158898" cy="1828800"/>
          </a:xfrm>
          <a:prstGeom prst="roundRect">
            <a:avLst>
              <a:gd name="adj" fmla="val 5000"/>
            </a:avLst>
          </a:prstGeom>
          <a:solidFill>
            <a:srgbClr val="12305F"/>
          </a:solidFill>
          <a:ln w="12700">
            <a:solidFill>
              <a:srgbClr val="1F5FD0"/>
            </a:solidFill>
            <a:prstDash val="solid"/>
          </a:ln>
        </p:spPr>
      </p:sp>
      <p:sp>
        <p:nvSpPr>
          <p:cNvPr id="36" name="Text 33"/>
          <p:cNvSpPr txBox="1"/>
          <p:nvPr/>
        </p:nvSpPr>
        <p:spPr>
          <a:xfrm>
            <a:off x="4937760" y="452628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04</a:t>
            </a:r>
            <a:endParaRPr lang="en-US" sz="1000" dirty="0"/>
          </a:p>
        </p:txBody>
      </p:sp>
      <p:sp>
        <p:nvSpPr>
          <p:cNvPr id="37" name="Text 34"/>
          <p:cNvSpPr txBox="1"/>
          <p:nvPr/>
        </p:nvSpPr>
        <p:spPr>
          <a:xfrm>
            <a:off x="4892040" y="478231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식순·큐시트 진행</a:t>
            </a:r>
            <a:endParaRPr lang="en-US" sz="1100" dirty="0"/>
          </a:p>
        </p:txBody>
      </p:sp>
      <p:sp>
        <p:nvSpPr>
          <p:cNvPr id="38" name="Text 35"/>
          <p:cNvSpPr txBox="1"/>
          <p:nvPr/>
        </p:nvSpPr>
        <p:spPr>
          <a:xfrm>
            <a:off x="4892040" y="516636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개회식, 축사, 공연, 경품 추첨 등 식순을 큐시트로 정리하고 사회자 섭외와 진행을 맡습니다.</a:t>
            </a:r>
            <a:endParaRPr lang="en-US" sz="850" dirty="0"/>
          </a:p>
        </p:txBody>
      </p:sp>
      <p:sp>
        <p:nvSpPr>
          <p:cNvPr id="39" name="Shape 36"/>
          <p:cNvSpPr/>
          <p:nvPr/>
        </p:nvSpPr>
        <p:spPr>
          <a:xfrm>
            <a:off x="7050938" y="4343400"/>
            <a:ext cx="2158898" cy="1828800"/>
          </a:xfrm>
          <a:prstGeom prst="roundRect">
            <a:avLst>
              <a:gd name="adj" fmla="val 5000"/>
            </a:avLst>
          </a:prstGeom>
          <a:solidFill>
            <a:srgbClr val="12305F"/>
          </a:solidFill>
          <a:ln w="12700">
            <a:solidFill>
              <a:srgbClr val="1F5FD0"/>
            </a:solidFill>
            <a:prstDash val="solid"/>
          </a:ln>
        </p:spPr>
      </p:sp>
      <p:sp>
        <p:nvSpPr>
          <p:cNvPr id="40" name="Text 37"/>
          <p:cNvSpPr txBox="1"/>
          <p:nvPr/>
        </p:nvSpPr>
        <p:spPr>
          <a:xfrm>
            <a:off x="7279538" y="452628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05</a:t>
            </a:r>
            <a:endParaRPr lang="en-US" sz="1000" dirty="0"/>
          </a:p>
        </p:txBody>
      </p:sp>
      <p:sp>
        <p:nvSpPr>
          <p:cNvPr id="41" name="Text 38"/>
          <p:cNvSpPr txBox="1"/>
          <p:nvPr/>
        </p:nvSpPr>
        <p:spPr>
          <a:xfrm>
            <a:off x="7233818" y="478231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마켓·부스와 동선 통합</a:t>
            </a:r>
            <a:endParaRPr lang="en-US" sz="1100" dirty="0"/>
          </a:p>
        </p:txBody>
      </p:sp>
      <p:sp>
        <p:nvSpPr>
          <p:cNvPr id="42" name="Text 39"/>
          <p:cNvSpPr txBox="1"/>
          <p:nvPr/>
        </p:nvSpPr>
        <p:spPr>
          <a:xfrm>
            <a:off x="7233818" y="516636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무대 객석과 플리마켓·푸드트럭·체험부스 동선이 충돌하지 않도록 배치하여 공연 관객이 자연스럽게 부스로 이어지게 설계합니다.</a:t>
            </a:r>
            <a:endParaRPr lang="en-US" sz="850" dirty="0"/>
          </a:p>
        </p:txBody>
      </p:sp>
      <p:sp>
        <p:nvSpPr>
          <p:cNvPr id="43" name="Shape 40"/>
          <p:cNvSpPr/>
          <p:nvPr/>
        </p:nvSpPr>
        <p:spPr>
          <a:xfrm>
            <a:off x="9392717" y="4343400"/>
            <a:ext cx="2158898" cy="1828800"/>
          </a:xfrm>
          <a:prstGeom prst="roundRect">
            <a:avLst>
              <a:gd name="adj" fmla="val 5000"/>
            </a:avLst>
          </a:prstGeom>
          <a:solidFill>
            <a:srgbClr val="12305F"/>
          </a:solidFill>
          <a:ln w="12700">
            <a:solidFill>
              <a:srgbClr val="1F5FD0"/>
            </a:solidFill>
            <a:prstDash val="solid"/>
          </a:ln>
        </p:spPr>
      </p:sp>
      <p:sp>
        <p:nvSpPr>
          <p:cNvPr id="44" name="Text 41"/>
          <p:cNvSpPr txBox="1"/>
          <p:nvPr/>
        </p:nvSpPr>
        <p:spPr>
          <a:xfrm>
            <a:off x="9621317" y="452628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06</a:t>
            </a:r>
            <a:endParaRPr lang="en-US" sz="1000" dirty="0"/>
          </a:p>
        </p:txBody>
      </p:sp>
      <p:sp>
        <p:nvSpPr>
          <p:cNvPr id="45" name="Text 42"/>
          <p:cNvSpPr txBox="1"/>
          <p:nvPr/>
        </p:nvSpPr>
        <p:spPr>
          <a:xfrm>
            <a:off x="9575597" y="478231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전기·발전차 수배</a:t>
            </a:r>
            <a:endParaRPr lang="en-US" sz="1100" dirty="0"/>
          </a:p>
        </p:txBody>
      </p:sp>
      <p:sp>
        <p:nvSpPr>
          <p:cNvPr id="46" name="Text 43"/>
          <p:cNvSpPr txBox="1"/>
          <p:nvPr/>
        </p:nvSpPr>
        <p:spPr>
          <a:xfrm>
            <a:off x="9575597" y="516636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음향·조명 전력 수요를 산출하여 발전차와 간선 작업, 스트링 조명까지 일괄 수배합니다.</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44"/>
        </a:solidFill>
      </p:bgPr>
    </p:bg>
    <p:spTree>
      <p:nvGrpSpPr>
        <p:cNvPr id="1" name=""/>
        <p:cNvGrpSpPr/>
        <p:nvPr/>
      </p:nvGrpSpPr>
      <p:grpSpPr>
        <a:xfrm>
          <a:off x="0" y="0"/>
          <a:ext cx="0" cy="0"/>
          <a:chOff x="0" y="0"/>
          <a:chExt cx="0" cy="0"/>
        </a:xfrm>
      </p:grpSpPr>
      <p:sp>
        <p:nvSpPr>
          <p:cNvPr id="2" name="Shape 0"/>
          <p:cNvSpPr/>
          <p:nvPr/>
        </p:nvSpPr>
        <p:spPr>
          <a:xfrm>
            <a:off x="9265615" y="-2377440"/>
            <a:ext cx="5120640" cy="5120640"/>
          </a:xfrm>
          <a:prstGeom prst="ellipse">
            <a:avLst/>
          </a:prstGeom>
          <a:solidFill>
            <a:srgbClr val="12305F"/>
          </a:solidFill>
          <a:ln w="12700">
            <a:solidFill>
              <a:srgbClr val="12305F"/>
            </a:solidFill>
            <a:prstDash val="solid"/>
          </a:ln>
        </p:spPr>
      </p:sp>
      <p:sp>
        <p:nvSpPr>
          <p:cNvPr id="3" name="Shape 1"/>
          <p:cNvSpPr/>
          <p:nvPr/>
        </p:nvSpPr>
        <p:spPr>
          <a:xfrm>
            <a:off x="-1645920" y="5029200"/>
            <a:ext cx="3657600" cy="3657600"/>
          </a:xfrm>
          <a:prstGeom prst="ellipse">
            <a:avLst/>
          </a:prstGeom>
          <a:solidFill>
            <a:srgbClr val="12305F"/>
          </a:solidFill>
          <a:ln w="12700">
            <a:solidFill>
              <a:srgbClr val="12305F"/>
            </a:solidFill>
            <a:prstDash val="solid"/>
          </a:ln>
        </p:spPr>
      </p:sp>
      <p:sp>
        <p:nvSpPr>
          <p:cNvPr id="4" name="Text 2"/>
          <p:cNvSpPr txBox="1"/>
          <p:nvPr/>
        </p:nvSpPr>
        <p:spPr>
          <a:xfrm>
            <a:off x="640080" y="384048"/>
            <a:ext cx="1155700" cy="266700"/>
          </a:xfrm>
          <a:prstGeom prst="rect">
            <a:avLst/>
          </a:prstGeom>
          <a:noFill/>
          <a:ln/>
        </p:spPr>
        <p:txBody>
          <a:bodyPr wrap="square" lIns="0" tIns="0" rIns="0" bIns="0" rtlCol="0" anchor="ctr"/>
          <a:lstStyle/>
          <a:p>
            <a:pPr indent="0" marL="0">
              <a:buNone/>
            </a:pPr>
            <a:r>
              <a:rPr lang="en-US" sz="1400" b="1" dirty="0">
                <a:solidFill>
                  <a:srgbClr val="3182F6"/>
                </a:solidFill>
                <a:latin typeface="Arial Black" pitchFamily="34" charset="0"/>
                <a:ea typeface="Arial Black" pitchFamily="34" charset="-122"/>
                <a:cs typeface="Arial Black" pitchFamily="34" charset="-120"/>
              </a:rPr>
              <a:t>Flit</a:t>
            </a:r>
            <a:pPr indent="0" marL="0">
              <a:buNone/>
            </a:pPr>
            <a:r>
              <a:rPr lang="en-US" sz="1400" b="1" dirty="0">
                <a:solidFill>
                  <a:srgbClr val="FFFFFF"/>
                </a:solidFill>
                <a:latin typeface="Arial Black" pitchFamily="34" charset="0"/>
                <a:ea typeface="Arial Black" pitchFamily="34" charset="-122"/>
                <a:cs typeface="Arial Black" pitchFamily="34" charset="-120"/>
              </a:rPr>
              <a:t>Union</a:t>
            </a:r>
            <a:endParaRPr lang="en-US" sz="1400" dirty="0"/>
          </a:p>
        </p:txBody>
      </p:sp>
      <p:sp>
        <p:nvSpPr>
          <p:cNvPr id="5" name="Text 3"/>
          <p:cNvSpPr txBox="1"/>
          <p:nvPr/>
        </p:nvSpPr>
        <p:spPr>
          <a:xfrm>
            <a:off x="640080" y="868680"/>
            <a:ext cx="5486400" cy="274320"/>
          </a:xfrm>
          <a:prstGeom prst="rect">
            <a:avLst/>
          </a:prstGeom>
          <a:noFill/>
          <a:ln/>
        </p:spPr>
        <p:txBody>
          <a:bodyPr wrap="square" lIns="0" tIns="0" rIns="0" bIns="0" rtlCol="0" anchor="t"/>
          <a:lstStyle/>
          <a:p>
            <a:pPr indent="0" marL="0">
              <a:buNone/>
            </a:pPr>
            <a:r>
              <a:rPr lang="en-US" sz="1100" b="1" spc="300" kern="0" dirty="0">
                <a:solidFill>
                  <a:srgbClr val="93C5FD"/>
                </a:solidFill>
                <a:latin typeface="Malgun Gothic" pitchFamily="34" charset="0"/>
                <a:ea typeface="Malgun Gothic" pitchFamily="34" charset="-122"/>
                <a:cs typeface="Malgun Gothic" pitchFamily="34" charset="-120"/>
              </a:rPr>
              <a:t>05  SERVICE DETAIL  ·  야시장·야간 행사 운영</a:t>
            </a:r>
            <a:endParaRPr lang="en-US" sz="1100" dirty="0"/>
          </a:p>
        </p:txBody>
      </p:sp>
      <p:sp>
        <p:nvSpPr>
          <p:cNvPr id="6" name="Text 4"/>
          <p:cNvSpPr txBox="1"/>
          <p:nvPr/>
        </p:nvSpPr>
        <p:spPr>
          <a:xfrm>
            <a:off x="640080" y="1143000"/>
            <a:ext cx="10911535" cy="594360"/>
          </a:xfrm>
          <a:prstGeom prst="rect">
            <a:avLst/>
          </a:prstGeom>
          <a:noFill/>
          <a:ln/>
        </p:spPr>
        <p:txBody>
          <a:bodyPr wrap="square" lIns="0" tIns="0" rIns="0" bIns="0" rtlCol="0" anchor="t"/>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야시장·야간 행사 운영</a:t>
            </a:r>
            <a:endParaRPr lang="en-US" sz="2800" dirty="0"/>
          </a:p>
        </p:txBody>
      </p:sp>
      <p:sp>
        <p:nvSpPr>
          <p:cNvPr id="7" name="Text 5"/>
          <p:cNvSpPr txBox="1"/>
          <p:nvPr/>
        </p:nvSpPr>
        <p:spPr>
          <a:xfrm>
            <a:off x="640080" y="1737360"/>
            <a:ext cx="10911535" cy="411480"/>
          </a:xfrm>
          <a:prstGeom prst="rect">
            <a:avLst/>
          </a:prstGeom>
          <a:noFill/>
          <a:ln/>
        </p:spPr>
        <p:txBody>
          <a:bodyPr wrap="square" lIns="0" tIns="0" rIns="0" bIns="0" rtlCol="0" anchor="t"/>
          <a:lstStyle/>
          <a:p>
            <a:pPr indent="0" marL="0">
              <a:buNone/>
            </a:pPr>
            <a:r>
              <a:rPr lang="en-US" sz="1300" dirty="0">
                <a:solidFill>
                  <a:srgbClr val="D6E4F8"/>
                </a:solidFill>
                <a:latin typeface="Malgun Gothic" pitchFamily="34" charset="0"/>
                <a:ea typeface="Malgun Gothic" pitchFamily="34" charset="-122"/>
                <a:cs typeface="Malgun Gothic" pitchFamily="34" charset="-120"/>
              </a:rPr>
              <a:t>야간 행사 특화  ·  저녁부터 밤까지 이어지는 야시장 행사를 전문적으로 기획합니다.</a:t>
            </a:r>
            <a:endParaRPr lang="en-US" sz="1300" dirty="0"/>
          </a:p>
        </p:txBody>
      </p:sp>
      <p:sp>
        <p:nvSpPr>
          <p:cNvPr id="8" name="Text 6"/>
          <p:cNvSpPr txBox="1"/>
          <p:nvPr/>
        </p:nvSpPr>
        <p:spPr>
          <a:xfrm>
            <a:off x="640080" y="6400800"/>
            <a:ext cx="3657600" cy="228600"/>
          </a:xfrm>
          <a:prstGeom prst="rect">
            <a:avLst/>
          </a:prstGeom>
          <a:noFill/>
          <a:ln/>
        </p:spPr>
        <p:txBody>
          <a:bodyPr wrap="square" lIns="0" tIns="0" rIns="0" bIns="0" rtlCol="0" anchor="t"/>
          <a:lstStyle/>
          <a:p>
            <a:pPr indent="0" marL="0">
              <a:buNone/>
            </a:pPr>
            <a:r>
              <a:rPr lang="en-US" sz="900" dirty="0">
                <a:solidFill>
                  <a:srgbClr val="94A3B8"/>
                </a:solidFill>
                <a:latin typeface="Malgun Gothic" pitchFamily="34" charset="0"/>
                <a:ea typeface="Malgun Gothic" pitchFamily="34" charset="-122"/>
                <a:cs typeface="Malgun Gothic" pitchFamily="34" charset="-120"/>
              </a:rPr>
              <a:t>플릿 유니온 회사소개서</a:t>
            </a:r>
            <a:endParaRPr lang="en-US" sz="900" dirty="0"/>
          </a:p>
        </p:txBody>
      </p:sp>
      <p:sp>
        <p:nvSpPr>
          <p:cNvPr id="9" name="Text 7"/>
          <p:cNvSpPr txBox="1"/>
          <p:nvPr/>
        </p:nvSpPr>
        <p:spPr>
          <a:xfrm>
            <a:off x="10637215" y="6400800"/>
            <a:ext cx="914400" cy="228600"/>
          </a:xfrm>
          <a:prstGeom prst="rect">
            <a:avLst/>
          </a:prstGeom>
          <a:noFill/>
          <a:ln/>
        </p:spPr>
        <p:txBody>
          <a:bodyPr wrap="square" lIns="0" tIns="0" rIns="0" bIns="0" rtlCol="0" anchor="t"/>
          <a:lstStyle/>
          <a:p>
            <a:pPr algn="r" indent="0" marL="0">
              <a:buNone/>
            </a:pPr>
            <a:r>
              <a:rPr lang="en-US" sz="900" dirty="0">
                <a:solidFill>
                  <a:srgbClr val="94A3B8"/>
                </a:solidFill>
                <a:latin typeface="Malgun Gothic" pitchFamily="34" charset="0"/>
                <a:ea typeface="Malgun Gothic" pitchFamily="34" charset="-122"/>
                <a:cs typeface="Malgun Gothic" pitchFamily="34" charset="-120"/>
              </a:rPr>
              <a:t>12</a:t>
            </a:r>
            <a:endParaRPr lang="en-US" sz="900" dirty="0"/>
          </a:p>
        </p:txBody>
      </p:sp>
      <p:sp>
        <p:nvSpPr>
          <p:cNvPr id="10" name="Shape 8"/>
          <p:cNvSpPr/>
          <p:nvPr/>
        </p:nvSpPr>
        <p:spPr>
          <a:xfrm>
            <a:off x="640080" y="2331720"/>
            <a:ext cx="3749040" cy="3840480"/>
          </a:xfrm>
          <a:prstGeom prst="roundRect">
            <a:avLst>
              <a:gd name="adj" fmla="val 2439"/>
            </a:avLst>
          </a:prstGeom>
          <a:solidFill>
            <a:srgbClr val="FFFFFF"/>
          </a:solidFill>
          <a:ln w="12700">
            <a:solidFill>
              <a:srgbClr val="FFFFFF"/>
            </a:solidFill>
            <a:prstDash val="solid"/>
          </a:ln>
        </p:spPr>
      </p:sp>
      <p:sp>
        <p:nvSpPr>
          <p:cNvPr id="11" name="Shape 9"/>
          <p:cNvSpPr/>
          <p:nvPr/>
        </p:nvSpPr>
        <p:spPr>
          <a:xfrm>
            <a:off x="960120" y="2651760"/>
            <a:ext cx="594360" cy="594360"/>
          </a:xfrm>
          <a:prstGeom prst="ellipse">
            <a:avLst/>
          </a:prstGeom>
          <a:solidFill>
            <a:srgbClr val="3182F6"/>
          </a:solidFill>
          <a:ln w="12700">
            <a:solidFill>
              <a:srgbClr val="3182F6"/>
            </a:solidFill>
            <a:prstDash val="solid"/>
          </a:ln>
        </p:spPr>
      </p:sp>
      <p:pic>
        <p:nvPicPr>
          <p:cNvPr id="12" name="Image 0" descr="preencoded.png">    </p:cNvPr>
          <p:cNvPicPr>
            <a:picLocks noChangeAspect="1"/>
          </p:cNvPicPr>
          <p:nvPr/>
        </p:nvPicPr>
        <p:blipFill>
          <a:blip r:embed="rId1"/>
          <a:stretch>
            <a:fillRect/>
          </a:stretch>
        </p:blipFill>
        <p:spPr>
          <a:xfrm>
            <a:off x="1108710" y="2800350"/>
            <a:ext cx="297180" cy="297180"/>
          </a:xfrm>
          <a:prstGeom prst="rect">
            <a:avLst/>
          </a:prstGeom>
        </p:spPr>
      </p:pic>
      <p:sp>
        <p:nvSpPr>
          <p:cNvPr id="13" name="Text 10"/>
          <p:cNvSpPr txBox="1"/>
          <p:nvPr/>
        </p:nvSpPr>
        <p:spPr>
          <a:xfrm>
            <a:off x="960120" y="3383280"/>
            <a:ext cx="3108960" cy="1554480"/>
          </a:xfrm>
          <a:prstGeom prst="rect">
            <a:avLst/>
          </a:prstGeom>
          <a:noFill/>
          <a:ln/>
        </p:spPr>
        <p:txBody>
          <a:bodyPr wrap="square" lIns="0" tIns="0" rIns="0" bIns="0" rtlCol="0" anchor="t"/>
          <a:lstStyle/>
          <a:p>
            <a:pPr indent="0" marL="0">
              <a:lnSpc>
                <a:spcPct val="125000"/>
              </a:lnSpc>
              <a:buNone/>
            </a:pPr>
            <a:r>
              <a:rPr lang="en-US" sz="1000" dirty="0">
                <a:solidFill>
                  <a:srgbClr val="475569"/>
                </a:solidFill>
                <a:latin typeface="Malgun Gothic" pitchFamily="34" charset="0"/>
                <a:ea typeface="Malgun Gothic" pitchFamily="34" charset="-122"/>
                <a:cs typeface="Malgun Gothic" pitchFamily="34" charset="-120"/>
              </a:rPr>
              <a:t>야간 조명, 공연, 푸드트럭, 핸드메이드 셀러가 어우러진 복합 야시장. 단순한 마켓을 넘어 방문자들이 기억하는 '경험'을 만듭니다. 플릿 유니온의 야간 행사 전담 시스템이 안전과 흥행을 동시에 보장합니다.</a:t>
            </a:r>
            <a:endParaRPr lang="en-US" sz="1000" dirty="0"/>
          </a:p>
        </p:txBody>
      </p:sp>
      <p:sp>
        <p:nvSpPr>
          <p:cNvPr id="14" name="Shape 11"/>
          <p:cNvSpPr/>
          <p:nvPr/>
        </p:nvSpPr>
        <p:spPr>
          <a:xfrm>
            <a:off x="960120" y="5029200"/>
            <a:ext cx="975360" cy="868680"/>
          </a:xfrm>
          <a:prstGeom prst="roundRect">
            <a:avLst>
              <a:gd name="adj" fmla="val 10526"/>
            </a:avLst>
          </a:prstGeom>
          <a:solidFill>
            <a:srgbClr val="EAF2FF"/>
          </a:solidFill>
          <a:ln w="12700">
            <a:solidFill>
              <a:srgbClr val="EAF2FF"/>
            </a:solidFill>
            <a:prstDash val="solid"/>
          </a:ln>
        </p:spPr>
      </p:sp>
      <p:sp>
        <p:nvSpPr>
          <p:cNvPr id="15" name="Text 12"/>
          <p:cNvSpPr txBox="1"/>
          <p:nvPr/>
        </p:nvSpPr>
        <p:spPr>
          <a:xfrm>
            <a:off x="1005840" y="5138928"/>
            <a:ext cx="883920" cy="411480"/>
          </a:xfrm>
          <a:prstGeom prst="rect">
            <a:avLst/>
          </a:prstGeom>
          <a:noFill/>
          <a:ln/>
        </p:spPr>
        <p:txBody>
          <a:bodyPr wrap="square" lIns="0" tIns="0" rIns="0" bIns="0" rtlCol="0" anchor="t"/>
          <a:lstStyle/>
          <a:p>
            <a:pPr algn="ctr" indent="0" marL="0">
              <a:buNone/>
            </a:pPr>
            <a:r>
              <a:rPr lang="en-US" sz="1500" b="1" dirty="0">
                <a:solidFill>
                  <a:srgbClr val="3182F6"/>
                </a:solidFill>
                <a:latin typeface="Arial Black" pitchFamily="34" charset="0"/>
                <a:ea typeface="Arial Black" pitchFamily="34" charset="-122"/>
                <a:cs typeface="Arial Black" pitchFamily="34" charset="-120"/>
              </a:rPr>
              <a:t>20+</a:t>
            </a:r>
            <a:endParaRPr lang="en-US" sz="1500" dirty="0"/>
          </a:p>
        </p:txBody>
      </p:sp>
      <p:sp>
        <p:nvSpPr>
          <p:cNvPr id="16" name="Text 13"/>
          <p:cNvSpPr txBox="1"/>
          <p:nvPr/>
        </p:nvSpPr>
        <p:spPr>
          <a:xfrm>
            <a:off x="1005840" y="5541264"/>
            <a:ext cx="883920" cy="274320"/>
          </a:xfrm>
          <a:prstGeom prst="rect">
            <a:avLst/>
          </a:prstGeom>
          <a:noFill/>
          <a:ln/>
        </p:spPr>
        <p:txBody>
          <a:bodyPr wrap="square" lIns="0" tIns="0" rIns="0" bIns="0" rtlCol="0" anchor="t"/>
          <a:lstStyle/>
          <a:p>
            <a:pPr algn="ctr" indent="0" marL="0">
              <a:buNone/>
            </a:pPr>
            <a:r>
              <a:rPr lang="en-US" sz="850" dirty="0">
                <a:solidFill>
                  <a:srgbClr val="475569"/>
                </a:solidFill>
                <a:latin typeface="Malgun Gothic" pitchFamily="34" charset="0"/>
                <a:ea typeface="Malgun Gothic" pitchFamily="34" charset="-122"/>
                <a:cs typeface="Malgun Gothic" pitchFamily="34" charset="-120"/>
              </a:rPr>
              <a:t>야시장 운영</a:t>
            </a:r>
            <a:endParaRPr lang="en-US" sz="850" dirty="0"/>
          </a:p>
        </p:txBody>
      </p:sp>
      <p:sp>
        <p:nvSpPr>
          <p:cNvPr id="17" name="Shape 14"/>
          <p:cNvSpPr/>
          <p:nvPr/>
        </p:nvSpPr>
        <p:spPr>
          <a:xfrm>
            <a:off x="2026920" y="5029200"/>
            <a:ext cx="975360" cy="868680"/>
          </a:xfrm>
          <a:prstGeom prst="roundRect">
            <a:avLst>
              <a:gd name="adj" fmla="val 10526"/>
            </a:avLst>
          </a:prstGeom>
          <a:solidFill>
            <a:srgbClr val="EAF2FF"/>
          </a:solidFill>
          <a:ln w="12700">
            <a:solidFill>
              <a:srgbClr val="EAF2FF"/>
            </a:solidFill>
            <a:prstDash val="solid"/>
          </a:ln>
        </p:spPr>
      </p:sp>
      <p:sp>
        <p:nvSpPr>
          <p:cNvPr id="18" name="Text 15"/>
          <p:cNvSpPr txBox="1"/>
          <p:nvPr/>
        </p:nvSpPr>
        <p:spPr>
          <a:xfrm>
            <a:off x="2072640" y="5138928"/>
            <a:ext cx="883920" cy="411480"/>
          </a:xfrm>
          <a:prstGeom prst="rect">
            <a:avLst/>
          </a:prstGeom>
          <a:noFill/>
          <a:ln/>
        </p:spPr>
        <p:txBody>
          <a:bodyPr wrap="square" lIns="0" tIns="0" rIns="0" bIns="0" rtlCol="0" anchor="t"/>
          <a:lstStyle/>
          <a:p>
            <a:pPr algn="ctr" indent="0" marL="0">
              <a:buNone/>
            </a:pPr>
            <a:r>
              <a:rPr lang="en-US" sz="1500" b="1" dirty="0">
                <a:solidFill>
                  <a:srgbClr val="3182F6"/>
                </a:solidFill>
                <a:latin typeface="Arial Black" pitchFamily="34" charset="0"/>
                <a:ea typeface="Arial Black" pitchFamily="34" charset="-122"/>
                <a:cs typeface="Arial Black" pitchFamily="34" charset="-120"/>
              </a:rPr>
              <a:t>3,500+</a:t>
            </a:r>
            <a:endParaRPr lang="en-US" sz="1500" dirty="0"/>
          </a:p>
        </p:txBody>
      </p:sp>
      <p:sp>
        <p:nvSpPr>
          <p:cNvPr id="19" name="Text 16"/>
          <p:cNvSpPr txBox="1"/>
          <p:nvPr/>
        </p:nvSpPr>
        <p:spPr>
          <a:xfrm>
            <a:off x="2072640" y="5541264"/>
            <a:ext cx="883920" cy="274320"/>
          </a:xfrm>
          <a:prstGeom prst="rect">
            <a:avLst/>
          </a:prstGeom>
          <a:noFill/>
          <a:ln/>
        </p:spPr>
        <p:txBody>
          <a:bodyPr wrap="square" lIns="0" tIns="0" rIns="0" bIns="0" rtlCol="0" anchor="t"/>
          <a:lstStyle/>
          <a:p>
            <a:pPr algn="ctr" indent="0" marL="0">
              <a:buNone/>
            </a:pPr>
            <a:r>
              <a:rPr lang="en-US" sz="850" dirty="0">
                <a:solidFill>
                  <a:srgbClr val="475569"/>
                </a:solidFill>
                <a:latin typeface="Malgun Gothic" pitchFamily="34" charset="0"/>
                <a:ea typeface="Malgun Gothic" pitchFamily="34" charset="-122"/>
                <a:cs typeface="Malgun Gothic" pitchFamily="34" charset="-120"/>
              </a:rPr>
              <a:t>평균 일 방문자</a:t>
            </a:r>
            <a:endParaRPr lang="en-US" sz="850" dirty="0"/>
          </a:p>
        </p:txBody>
      </p:sp>
      <p:sp>
        <p:nvSpPr>
          <p:cNvPr id="20" name="Shape 17"/>
          <p:cNvSpPr/>
          <p:nvPr/>
        </p:nvSpPr>
        <p:spPr>
          <a:xfrm>
            <a:off x="3093720" y="5029200"/>
            <a:ext cx="975360" cy="868680"/>
          </a:xfrm>
          <a:prstGeom prst="roundRect">
            <a:avLst>
              <a:gd name="adj" fmla="val 10526"/>
            </a:avLst>
          </a:prstGeom>
          <a:solidFill>
            <a:srgbClr val="EAF2FF"/>
          </a:solidFill>
          <a:ln w="12700">
            <a:solidFill>
              <a:srgbClr val="EAF2FF"/>
            </a:solidFill>
            <a:prstDash val="solid"/>
          </a:ln>
        </p:spPr>
      </p:sp>
      <p:sp>
        <p:nvSpPr>
          <p:cNvPr id="21" name="Text 18"/>
          <p:cNvSpPr txBox="1"/>
          <p:nvPr/>
        </p:nvSpPr>
        <p:spPr>
          <a:xfrm>
            <a:off x="3139440" y="5138928"/>
            <a:ext cx="883920" cy="411480"/>
          </a:xfrm>
          <a:prstGeom prst="rect">
            <a:avLst/>
          </a:prstGeom>
          <a:noFill/>
          <a:ln/>
        </p:spPr>
        <p:txBody>
          <a:bodyPr wrap="square" lIns="0" tIns="0" rIns="0" bIns="0" rtlCol="0" anchor="t"/>
          <a:lstStyle/>
          <a:p>
            <a:pPr algn="ctr" indent="0" marL="0">
              <a:buNone/>
            </a:pPr>
            <a:r>
              <a:rPr lang="en-US" sz="1500" b="1" dirty="0">
                <a:solidFill>
                  <a:srgbClr val="3182F6"/>
                </a:solidFill>
                <a:latin typeface="Arial Black" pitchFamily="34" charset="0"/>
                <a:ea typeface="Arial Black" pitchFamily="34" charset="-122"/>
                <a:cs typeface="Arial Black" pitchFamily="34" charset="-120"/>
              </a:rPr>
              <a:t>100%</a:t>
            </a:r>
            <a:endParaRPr lang="en-US" sz="1500" dirty="0"/>
          </a:p>
        </p:txBody>
      </p:sp>
      <p:sp>
        <p:nvSpPr>
          <p:cNvPr id="22" name="Text 19"/>
          <p:cNvSpPr txBox="1"/>
          <p:nvPr/>
        </p:nvSpPr>
        <p:spPr>
          <a:xfrm>
            <a:off x="3139440" y="5541264"/>
            <a:ext cx="883920" cy="274320"/>
          </a:xfrm>
          <a:prstGeom prst="rect">
            <a:avLst/>
          </a:prstGeom>
          <a:noFill/>
          <a:ln/>
        </p:spPr>
        <p:txBody>
          <a:bodyPr wrap="square" lIns="0" tIns="0" rIns="0" bIns="0" rtlCol="0" anchor="t"/>
          <a:lstStyle/>
          <a:p>
            <a:pPr algn="ctr" indent="0" marL="0">
              <a:buNone/>
            </a:pPr>
            <a:r>
              <a:rPr lang="en-US" sz="850" dirty="0">
                <a:solidFill>
                  <a:srgbClr val="475569"/>
                </a:solidFill>
                <a:latin typeface="Malgun Gothic" pitchFamily="34" charset="0"/>
                <a:ea typeface="Malgun Gothic" pitchFamily="34" charset="-122"/>
                <a:cs typeface="Malgun Gothic" pitchFamily="34" charset="-120"/>
              </a:rPr>
              <a:t>재계약률</a:t>
            </a:r>
            <a:endParaRPr lang="en-US" sz="850" dirty="0"/>
          </a:p>
        </p:txBody>
      </p:sp>
      <p:sp>
        <p:nvSpPr>
          <p:cNvPr id="23" name="Shape 20"/>
          <p:cNvSpPr/>
          <p:nvPr/>
        </p:nvSpPr>
        <p:spPr>
          <a:xfrm>
            <a:off x="4709160" y="2331720"/>
            <a:ext cx="2158898" cy="1828800"/>
          </a:xfrm>
          <a:prstGeom prst="roundRect">
            <a:avLst>
              <a:gd name="adj" fmla="val 5000"/>
            </a:avLst>
          </a:prstGeom>
          <a:solidFill>
            <a:srgbClr val="12305F"/>
          </a:solidFill>
          <a:ln w="12700">
            <a:solidFill>
              <a:srgbClr val="1F5FD0"/>
            </a:solidFill>
            <a:prstDash val="solid"/>
          </a:ln>
        </p:spPr>
      </p:sp>
      <p:sp>
        <p:nvSpPr>
          <p:cNvPr id="24" name="Text 21"/>
          <p:cNvSpPr txBox="1"/>
          <p:nvPr/>
        </p:nvSpPr>
        <p:spPr>
          <a:xfrm>
            <a:off x="4937760" y="251460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01</a:t>
            </a:r>
            <a:endParaRPr lang="en-US" sz="1000" dirty="0"/>
          </a:p>
        </p:txBody>
      </p:sp>
      <p:sp>
        <p:nvSpPr>
          <p:cNvPr id="25" name="Text 22"/>
          <p:cNvSpPr txBox="1"/>
          <p:nvPr/>
        </p:nvSpPr>
        <p:spPr>
          <a:xfrm>
            <a:off x="4892040" y="277063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야간 조명 연출 기획</a:t>
            </a:r>
            <a:endParaRPr lang="en-US" sz="1100" dirty="0"/>
          </a:p>
        </p:txBody>
      </p:sp>
      <p:sp>
        <p:nvSpPr>
          <p:cNvPr id="26" name="Text 23"/>
          <p:cNvSpPr txBox="1"/>
          <p:nvPr/>
        </p:nvSpPr>
        <p:spPr>
          <a:xfrm>
            <a:off x="4892040" y="315468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무드등, 가랜드, 포토존 조명까지 야시장만의 감성적인 야간 조명 연출을 기획하고 설치합니다.</a:t>
            </a:r>
            <a:endParaRPr lang="en-US" sz="850" dirty="0"/>
          </a:p>
        </p:txBody>
      </p:sp>
      <p:sp>
        <p:nvSpPr>
          <p:cNvPr id="27" name="Shape 24"/>
          <p:cNvSpPr/>
          <p:nvPr/>
        </p:nvSpPr>
        <p:spPr>
          <a:xfrm>
            <a:off x="7050938" y="2331720"/>
            <a:ext cx="2158898" cy="1828800"/>
          </a:xfrm>
          <a:prstGeom prst="roundRect">
            <a:avLst>
              <a:gd name="adj" fmla="val 5000"/>
            </a:avLst>
          </a:prstGeom>
          <a:solidFill>
            <a:srgbClr val="12305F"/>
          </a:solidFill>
          <a:ln w="12700">
            <a:solidFill>
              <a:srgbClr val="1F5FD0"/>
            </a:solidFill>
            <a:prstDash val="solid"/>
          </a:ln>
        </p:spPr>
      </p:sp>
      <p:sp>
        <p:nvSpPr>
          <p:cNvPr id="28" name="Text 25"/>
          <p:cNvSpPr txBox="1"/>
          <p:nvPr/>
        </p:nvSpPr>
        <p:spPr>
          <a:xfrm>
            <a:off x="7279538" y="251460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02</a:t>
            </a:r>
            <a:endParaRPr lang="en-US" sz="1000" dirty="0"/>
          </a:p>
        </p:txBody>
      </p:sp>
      <p:sp>
        <p:nvSpPr>
          <p:cNvPr id="29" name="Text 26"/>
          <p:cNvSpPr txBox="1"/>
          <p:nvPr/>
        </p:nvSpPr>
        <p:spPr>
          <a:xfrm>
            <a:off x="7233818" y="277063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공연·버스킹 연계</a:t>
            </a:r>
            <a:endParaRPr lang="en-US" sz="1100" dirty="0"/>
          </a:p>
        </p:txBody>
      </p:sp>
      <p:sp>
        <p:nvSpPr>
          <p:cNvPr id="30" name="Text 27"/>
          <p:cNvSpPr txBox="1"/>
          <p:nvPr/>
        </p:nvSpPr>
        <p:spPr>
          <a:xfrm>
            <a:off x="7233818" y="315468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어쿠스틱 버스커, 소규모 공연팀과 연계하여 야시장에 활기를 더합니다. 공연 섭외와 무대 설치까지 대행합니다.</a:t>
            </a:r>
            <a:endParaRPr lang="en-US" sz="850" dirty="0"/>
          </a:p>
        </p:txBody>
      </p:sp>
      <p:sp>
        <p:nvSpPr>
          <p:cNvPr id="31" name="Shape 28"/>
          <p:cNvSpPr/>
          <p:nvPr/>
        </p:nvSpPr>
        <p:spPr>
          <a:xfrm>
            <a:off x="9392717" y="2331720"/>
            <a:ext cx="2158898" cy="1828800"/>
          </a:xfrm>
          <a:prstGeom prst="roundRect">
            <a:avLst>
              <a:gd name="adj" fmla="val 5000"/>
            </a:avLst>
          </a:prstGeom>
          <a:solidFill>
            <a:srgbClr val="12305F"/>
          </a:solidFill>
          <a:ln w="12700">
            <a:solidFill>
              <a:srgbClr val="1F5FD0"/>
            </a:solidFill>
            <a:prstDash val="solid"/>
          </a:ln>
        </p:spPr>
      </p:sp>
      <p:sp>
        <p:nvSpPr>
          <p:cNvPr id="32" name="Text 29"/>
          <p:cNvSpPr txBox="1"/>
          <p:nvPr/>
        </p:nvSpPr>
        <p:spPr>
          <a:xfrm>
            <a:off x="9621317" y="251460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03</a:t>
            </a:r>
            <a:endParaRPr lang="en-US" sz="1000" dirty="0"/>
          </a:p>
        </p:txBody>
      </p:sp>
      <p:sp>
        <p:nvSpPr>
          <p:cNvPr id="33" name="Text 30"/>
          <p:cNvSpPr txBox="1"/>
          <p:nvPr/>
        </p:nvSpPr>
        <p:spPr>
          <a:xfrm>
            <a:off x="9575597" y="277063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푸드트럭 통합 운영</a:t>
            </a:r>
            <a:endParaRPr lang="en-US" sz="1100" dirty="0"/>
          </a:p>
        </p:txBody>
      </p:sp>
      <p:sp>
        <p:nvSpPr>
          <p:cNvPr id="34" name="Text 31"/>
          <p:cNvSpPr txBox="1"/>
          <p:nvPr/>
        </p:nvSpPr>
        <p:spPr>
          <a:xfrm>
            <a:off x="9575597" y="315468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야간 맞춤 메뉴를 보유한 푸드트럭을 섭외하여 마켓과 통합 운영합니다. 전기·용수 연결까지 현장에서 관리합니다.</a:t>
            </a:r>
            <a:endParaRPr lang="en-US" sz="850" dirty="0"/>
          </a:p>
        </p:txBody>
      </p:sp>
      <p:sp>
        <p:nvSpPr>
          <p:cNvPr id="35" name="Shape 32"/>
          <p:cNvSpPr/>
          <p:nvPr/>
        </p:nvSpPr>
        <p:spPr>
          <a:xfrm>
            <a:off x="4709160" y="4343400"/>
            <a:ext cx="2158898" cy="1828800"/>
          </a:xfrm>
          <a:prstGeom prst="roundRect">
            <a:avLst>
              <a:gd name="adj" fmla="val 5000"/>
            </a:avLst>
          </a:prstGeom>
          <a:solidFill>
            <a:srgbClr val="12305F"/>
          </a:solidFill>
          <a:ln w="12700">
            <a:solidFill>
              <a:srgbClr val="1F5FD0"/>
            </a:solidFill>
            <a:prstDash val="solid"/>
          </a:ln>
        </p:spPr>
      </p:sp>
      <p:sp>
        <p:nvSpPr>
          <p:cNvPr id="36" name="Text 33"/>
          <p:cNvSpPr txBox="1"/>
          <p:nvPr/>
        </p:nvSpPr>
        <p:spPr>
          <a:xfrm>
            <a:off x="4937760" y="452628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04</a:t>
            </a:r>
            <a:endParaRPr lang="en-US" sz="1000" dirty="0"/>
          </a:p>
        </p:txBody>
      </p:sp>
      <p:sp>
        <p:nvSpPr>
          <p:cNvPr id="37" name="Text 34"/>
          <p:cNvSpPr txBox="1"/>
          <p:nvPr/>
        </p:nvSpPr>
        <p:spPr>
          <a:xfrm>
            <a:off x="4892040" y="478231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야간 안전 관리 시스템</a:t>
            </a:r>
            <a:endParaRPr lang="en-US" sz="1100" dirty="0"/>
          </a:p>
        </p:txBody>
      </p:sp>
      <p:sp>
        <p:nvSpPr>
          <p:cNvPr id="38" name="Text 35"/>
          <p:cNvSpPr txBox="1"/>
          <p:nvPr/>
        </p:nvSpPr>
        <p:spPr>
          <a:xfrm>
            <a:off x="4892040" y="516636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야간 행사 특성에 맞춘 안전 매뉴얼과 인력을 배치합니다. 비상 대피로 확보, 응급 상황 대응 절차를 사전에 수립합니다.</a:t>
            </a:r>
            <a:endParaRPr lang="en-US" sz="850" dirty="0"/>
          </a:p>
        </p:txBody>
      </p:sp>
      <p:sp>
        <p:nvSpPr>
          <p:cNvPr id="39" name="Shape 36"/>
          <p:cNvSpPr/>
          <p:nvPr/>
        </p:nvSpPr>
        <p:spPr>
          <a:xfrm>
            <a:off x="7050938" y="4343400"/>
            <a:ext cx="2158898" cy="1828800"/>
          </a:xfrm>
          <a:prstGeom prst="roundRect">
            <a:avLst>
              <a:gd name="adj" fmla="val 5000"/>
            </a:avLst>
          </a:prstGeom>
          <a:solidFill>
            <a:srgbClr val="12305F"/>
          </a:solidFill>
          <a:ln w="12700">
            <a:solidFill>
              <a:srgbClr val="1F5FD0"/>
            </a:solidFill>
            <a:prstDash val="solid"/>
          </a:ln>
        </p:spPr>
      </p:sp>
      <p:sp>
        <p:nvSpPr>
          <p:cNvPr id="40" name="Text 37"/>
          <p:cNvSpPr txBox="1"/>
          <p:nvPr/>
        </p:nvSpPr>
        <p:spPr>
          <a:xfrm>
            <a:off x="7279538" y="452628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05</a:t>
            </a:r>
            <a:endParaRPr lang="en-US" sz="1000" dirty="0"/>
          </a:p>
        </p:txBody>
      </p:sp>
      <p:sp>
        <p:nvSpPr>
          <p:cNvPr id="41" name="Text 38"/>
          <p:cNvSpPr txBox="1"/>
          <p:nvPr/>
        </p:nvSpPr>
        <p:spPr>
          <a:xfrm>
            <a:off x="7233818" y="478231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SNS 바이럴 기획</a:t>
            </a:r>
            <a:endParaRPr lang="en-US" sz="1100" dirty="0"/>
          </a:p>
        </p:txBody>
      </p:sp>
      <p:sp>
        <p:nvSpPr>
          <p:cNvPr id="42" name="Text 39"/>
          <p:cNvSpPr txBox="1"/>
          <p:nvPr/>
        </p:nvSpPr>
        <p:spPr>
          <a:xfrm>
            <a:off x="7233818" y="516636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인스타그램 바이럴을 위한 포토존 설치, 해시태그 이벤트 등 SNS 콘텐츠 기획을 포함합니다.</a:t>
            </a:r>
            <a:endParaRPr lang="en-US" sz="850" dirty="0"/>
          </a:p>
        </p:txBody>
      </p:sp>
      <p:sp>
        <p:nvSpPr>
          <p:cNvPr id="43" name="Shape 40"/>
          <p:cNvSpPr/>
          <p:nvPr/>
        </p:nvSpPr>
        <p:spPr>
          <a:xfrm>
            <a:off x="9392717" y="4343400"/>
            <a:ext cx="2158898" cy="1828800"/>
          </a:xfrm>
          <a:prstGeom prst="roundRect">
            <a:avLst>
              <a:gd name="adj" fmla="val 5000"/>
            </a:avLst>
          </a:prstGeom>
          <a:solidFill>
            <a:srgbClr val="12305F"/>
          </a:solidFill>
          <a:ln w="12700">
            <a:solidFill>
              <a:srgbClr val="1F5FD0"/>
            </a:solidFill>
            <a:prstDash val="solid"/>
          </a:ln>
        </p:spPr>
      </p:sp>
      <p:sp>
        <p:nvSpPr>
          <p:cNvPr id="44" name="Text 41"/>
          <p:cNvSpPr txBox="1"/>
          <p:nvPr/>
        </p:nvSpPr>
        <p:spPr>
          <a:xfrm>
            <a:off x="9621317" y="452628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06</a:t>
            </a:r>
            <a:endParaRPr lang="en-US" sz="1000" dirty="0"/>
          </a:p>
        </p:txBody>
      </p:sp>
      <p:sp>
        <p:nvSpPr>
          <p:cNvPr id="45" name="Text 42"/>
          <p:cNvSpPr txBox="1"/>
          <p:nvPr/>
        </p:nvSpPr>
        <p:spPr>
          <a:xfrm>
            <a:off x="9575597" y="478231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시즌 특화 기획</a:t>
            </a:r>
            <a:endParaRPr lang="en-US" sz="1100" dirty="0"/>
          </a:p>
        </p:txBody>
      </p:sp>
      <p:sp>
        <p:nvSpPr>
          <p:cNvPr id="46" name="Text 43"/>
          <p:cNvSpPr txBox="1"/>
          <p:nvPr/>
        </p:nvSpPr>
        <p:spPr>
          <a:xfrm>
            <a:off x="9575597" y="516636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크리스마스, 여름 밤, 가을 축제 등 시즌에 맞는 테마 야시장을 기획합니다.</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F44"/>
        </a:solidFill>
      </p:bgPr>
    </p:bg>
    <p:spTree>
      <p:nvGrpSpPr>
        <p:cNvPr id="1" name=""/>
        <p:cNvGrpSpPr/>
        <p:nvPr/>
      </p:nvGrpSpPr>
      <p:grpSpPr>
        <a:xfrm>
          <a:off x="0" y="0"/>
          <a:ext cx="0" cy="0"/>
          <a:chOff x="0" y="0"/>
          <a:chExt cx="0" cy="0"/>
        </a:xfrm>
      </p:grpSpPr>
      <p:sp>
        <p:nvSpPr>
          <p:cNvPr id="2" name="Shape 0"/>
          <p:cNvSpPr/>
          <p:nvPr/>
        </p:nvSpPr>
        <p:spPr>
          <a:xfrm>
            <a:off x="9265615" y="-2377440"/>
            <a:ext cx="5120640" cy="5120640"/>
          </a:xfrm>
          <a:prstGeom prst="ellipse">
            <a:avLst/>
          </a:prstGeom>
          <a:solidFill>
            <a:srgbClr val="12305F"/>
          </a:solidFill>
          <a:ln w="12700">
            <a:solidFill>
              <a:srgbClr val="12305F"/>
            </a:solidFill>
            <a:prstDash val="solid"/>
          </a:ln>
        </p:spPr>
      </p:sp>
      <p:sp>
        <p:nvSpPr>
          <p:cNvPr id="3" name="Shape 1"/>
          <p:cNvSpPr/>
          <p:nvPr/>
        </p:nvSpPr>
        <p:spPr>
          <a:xfrm>
            <a:off x="-1645920" y="5029200"/>
            <a:ext cx="3657600" cy="3657600"/>
          </a:xfrm>
          <a:prstGeom prst="ellipse">
            <a:avLst/>
          </a:prstGeom>
          <a:solidFill>
            <a:srgbClr val="12305F"/>
          </a:solidFill>
          <a:ln w="12700">
            <a:solidFill>
              <a:srgbClr val="12305F"/>
            </a:solidFill>
            <a:prstDash val="solid"/>
          </a:ln>
        </p:spPr>
      </p:sp>
      <p:sp>
        <p:nvSpPr>
          <p:cNvPr id="4" name="Text 2"/>
          <p:cNvSpPr txBox="1"/>
          <p:nvPr/>
        </p:nvSpPr>
        <p:spPr>
          <a:xfrm>
            <a:off x="640080" y="384048"/>
            <a:ext cx="1155700" cy="266700"/>
          </a:xfrm>
          <a:prstGeom prst="rect">
            <a:avLst/>
          </a:prstGeom>
          <a:noFill/>
          <a:ln/>
        </p:spPr>
        <p:txBody>
          <a:bodyPr wrap="square" lIns="0" tIns="0" rIns="0" bIns="0" rtlCol="0" anchor="ctr"/>
          <a:lstStyle/>
          <a:p>
            <a:pPr indent="0" marL="0">
              <a:buNone/>
            </a:pPr>
            <a:r>
              <a:rPr lang="en-US" sz="1400" b="1" dirty="0">
                <a:solidFill>
                  <a:srgbClr val="3182F6"/>
                </a:solidFill>
                <a:latin typeface="Arial Black" pitchFamily="34" charset="0"/>
                <a:ea typeface="Arial Black" pitchFamily="34" charset="-122"/>
                <a:cs typeface="Arial Black" pitchFamily="34" charset="-120"/>
              </a:rPr>
              <a:t>Flit</a:t>
            </a:r>
            <a:pPr indent="0" marL="0">
              <a:buNone/>
            </a:pPr>
            <a:r>
              <a:rPr lang="en-US" sz="1400" b="1" dirty="0">
                <a:solidFill>
                  <a:srgbClr val="FFFFFF"/>
                </a:solidFill>
                <a:latin typeface="Arial Black" pitchFamily="34" charset="0"/>
                <a:ea typeface="Arial Black" pitchFamily="34" charset="-122"/>
                <a:cs typeface="Arial Black" pitchFamily="34" charset="-120"/>
              </a:rPr>
              <a:t>Union</a:t>
            </a:r>
            <a:endParaRPr lang="en-US" sz="1400" dirty="0"/>
          </a:p>
        </p:txBody>
      </p:sp>
      <p:sp>
        <p:nvSpPr>
          <p:cNvPr id="5" name="Text 3"/>
          <p:cNvSpPr txBox="1"/>
          <p:nvPr/>
        </p:nvSpPr>
        <p:spPr>
          <a:xfrm>
            <a:off x="640080" y="868680"/>
            <a:ext cx="5486400" cy="274320"/>
          </a:xfrm>
          <a:prstGeom prst="rect">
            <a:avLst/>
          </a:prstGeom>
          <a:noFill/>
          <a:ln/>
        </p:spPr>
        <p:txBody>
          <a:bodyPr wrap="square" lIns="0" tIns="0" rIns="0" bIns="0" rtlCol="0" anchor="t"/>
          <a:lstStyle/>
          <a:p>
            <a:pPr indent="0" marL="0">
              <a:buNone/>
            </a:pPr>
            <a:r>
              <a:rPr lang="en-US" sz="1100" b="1" spc="300" kern="0" dirty="0">
                <a:solidFill>
                  <a:srgbClr val="93C5FD"/>
                </a:solidFill>
                <a:latin typeface="Malgun Gothic" pitchFamily="34" charset="0"/>
                <a:ea typeface="Malgun Gothic" pitchFamily="34" charset="-122"/>
                <a:cs typeface="Malgun Gothic" pitchFamily="34" charset="-120"/>
              </a:rPr>
              <a:t>05  SERVICE DETAIL  ·  푸드트럭 섭외 &amp; 운영</a:t>
            </a:r>
            <a:endParaRPr lang="en-US" sz="1100" dirty="0"/>
          </a:p>
        </p:txBody>
      </p:sp>
      <p:sp>
        <p:nvSpPr>
          <p:cNvPr id="6" name="Text 4"/>
          <p:cNvSpPr txBox="1"/>
          <p:nvPr/>
        </p:nvSpPr>
        <p:spPr>
          <a:xfrm>
            <a:off x="640080" y="1143000"/>
            <a:ext cx="10911535" cy="594360"/>
          </a:xfrm>
          <a:prstGeom prst="rect">
            <a:avLst/>
          </a:prstGeom>
          <a:noFill/>
          <a:ln/>
        </p:spPr>
        <p:txBody>
          <a:bodyPr wrap="square" lIns="0" tIns="0" rIns="0" bIns="0" rtlCol="0" anchor="t"/>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푸드트럭 섭외 &amp; 운영</a:t>
            </a:r>
            <a:endParaRPr lang="en-US" sz="2800" dirty="0"/>
          </a:p>
        </p:txBody>
      </p:sp>
      <p:sp>
        <p:nvSpPr>
          <p:cNvPr id="7" name="Text 5"/>
          <p:cNvSpPr txBox="1"/>
          <p:nvPr/>
        </p:nvSpPr>
        <p:spPr>
          <a:xfrm>
            <a:off x="640080" y="1737360"/>
            <a:ext cx="10911535" cy="411480"/>
          </a:xfrm>
          <a:prstGeom prst="rect">
            <a:avLst/>
          </a:prstGeom>
          <a:noFill/>
          <a:ln/>
        </p:spPr>
        <p:txBody>
          <a:bodyPr wrap="square" lIns="0" tIns="0" rIns="0" bIns="0" rtlCol="0" anchor="t"/>
          <a:lstStyle/>
          <a:p>
            <a:pPr indent="0" marL="0">
              <a:buNone/>
            </a:pPr>
            <a:r>
              <a:rPr lang="en-US" sz="1300" dirty="0">
                <a:solidFill>
                  <a:srgbClr val="D6E4F8"/>
                </a:solidFill>
                <a:latin typeface="Malgun Gothic" pitchFamily="34" charset="0"/>
                <a:ea typeface="Malgun Gothic" pitchFamily="34" charset="-122"/>
                <a:cs typeface="Malgun Gothic" pitchFamily="34" charset="-120"/>
              </a:rPr>
              <a:t>푸드트럭 전문 연결  ·  행사 콘셉트에 맞는 푸드트럭을 직접 섭외하고 현장 배치까지 관리합니다.</a:t>
            </a:r>
            <a:endParaRPr lang="en-US" sz="1300" dirty="0"/>
          </a:p>
        </p:txBody>
      </p:sp>
      <p:sp>
        <p:nvSpPr>
          <p:cNvPr id="8" name="Text 6"/>
          <p:cNvSpPr txBox="1"/>
          <p:nvPr/>
        </p:nvSpPr>
        <p:spPr>
          <a:xfrm>
            <a:off x="640080" y="6400800"/>
            <a:ext cx="3657600" cy="228600"/>
          </a:xfrm>
          <a:prstGeom prst="rect">
            <a:avLst/>
          </a:prstGeom>
          <a:noFill/>
          <a:ln/>
        </p:spPr>
        <p:txBody>
          <a:bodyPr wrap="square" lIns="0" tIns="0" rIns="0" bIns="0" rtlCol="0" anchor="t"/>
          <a:lstStyle/>
          <a:p>
            <a:pPr indent="0" marL="0">
              <a:buNone/>
            </a:pPr>
            <a:r>
              <a:rPr lang="en-US" sz="900" dirty="0">
                <a:solidFill>
                  <a:srgbClr val="94A3B8"/>
                </a:solidFill>
                <a:latin typeface="Malgun Gothic" pitchFamily="34" charset="0"/>
                <a:ea typeface="Malgun Gothic" pitchFamily="34" charset="-122"/>
                <a:cs typeface="Malgun Gothic" pitchFamily="34" charset="-120"/>
              </a:rPr>
              <a:t>플릿 유니온 회사소개서</a:t>
            </a:r>
            <a:endParaRPr lang="en-US" sz="900" dirty="0"/>
          </a:p>
        </p:txBody>
      </p:sp>
      <p:sp>
        <p:nvSpPr>
          <p:cNvPr id="9" name="Text 7"/>
          <p:cNvSpPr txBox="1"/>
          <p:nvPr/>
        </p:nvSpPr>
        <p:spPr>
          <a:xfrm>
            <a:off x="10637215" y="6400800"/>
            <a:ext cx="914400" cy="228600"/>
          </a:xfrm>
          <a:prstGeom prst="rect">
            <a:avLst/>
          </a:prstGeom>
          <a:noFill/>
          <a:ln/>
        </p:spPr>
        <p:txBody>
          <a:bodyPr wrap="square" lIns="0" tIns="0" rIns="0" bIns="0" rtlCol="0" anchor="t"/>
          <a:lstStyle/>
          <a:p>
            <a:pPr algn="r" indent="0" marL="0">
              <a:buNone/>
            </a:pPr>
            <a:r>
              <a:rPr lang="en-US" sz="900" dirty="0">
                <a:solidFill>
                  <a:srgbClr val="94A3B8"/>
                </a:solidFill>
                <a:latin typeface="Malgun Gothic" pitchFamily="34" charset="0"/>
                <a:ea typeface="Malgun Gothic" pitchFamily="34" charset="-122"/>
                <a:cs typeface="Malgun Gothic" pitchFamily="34" charset="-120"/>
              </a:rPr>
              <a:t>13</a:t>
            </a:r>
            <a:endParaRPr lang="en-US" sz="900" dirty="0"/>
          </a:p>
        </p:txBody>
      </p:sp>
      <p:sp>
        <p:nvSpPr>
          <p:cNvPr id="10" name="Shape 8"/>
          <p:cNvSpPr/>
          <p:nvPr/>
        </p:nvSpPr>
        <p:spPr>
          <a:xfrm>
            <a:off x="640080" y="2331720"/>
            <a:ext cx="3749040" cy="3840480"/>
          </a:xfrm>
          <a:prstGeom prst="roundRect">
            <a:avLst>
              <a:gd name="adj" fmla="val 2439"/>
            </a:avLst>
          </a:prstGeom>
          <a:solidFill>
            <a:srgbClr val="FFFFFF"/>
          </a:solidFill>
          <a:ln w="12700">
            <a:solidFill>
              <a:srgbClr val="FFFFFF"/>
            </a:solidFill>
            <a:prstDash val="solid"/>
          </a:ln>
        </p:spPr>
      </p:sp>
      <p:sp>
        <p:nvSpPr>
          <p:cNvPr id="11" name="Shape 9"/>
          <p:cNvSpPr/>
          <p:nvPr/>
        </p:nvSpPr>
        <p:spPr>
          <a:xfrm>
            <a:off x="960120" y="2651760"/>
            <a:ext cx="594360" cy="594360"/>
          </a:xfrm>
          <a:prstGeom prst="ellipse">
            <a:avLst/>
          </a:prstGeom>
          <a:solidFill>
            <a:srgbClr val="3182F6"/>
          </a:solidFill>
          <a:ln w="12700">
            <a:solidFill>
              <a:srgbClr val="3182F6"/>
            </a:solidFill>
            <a:prstDash val="solid"/>
          </a:ln>
        </p:spPr>
      </p:sp>
      <p:pic>
        <p:nvPicPr>
          <p:cNvPr id="12" name="Image 0" descr="preencoded.png">    </p:cNvPr>
          <p:cNvPicPr>
            <a:picLocks noChangeAspect="1"/>
          </p:cNvPicPr>
          <p:nvPr/>
        </p:nvPicPr>
        <p:blipFill>
          <a:blip r:embed="rId1"/>
          <a:stretch>
            <a:fillRect/>
          </a:stretch>
        </p:blipFill>
        <p:spPr>
          <a:xfrm>
            <a:off x="1108710" y="2800350"/>
            <a:ext cx="297180" cy="297180"/>
          </a:xfrm>
          <a:prstGeom prst="rect">
            <a:avLst/>
          </a:prstGeom>
        </p:spPr>
      </p:pic>
      <p:sp>
        <p:nvSpPr>
          <p:cNvPr id="13" name="Text 10"/>
          <p:cNvSpPr txBox="1"/>
          <p:nvPr/>
        </p:nvSpPr>
        <p:spPr>
          <a:xfrm>
            <a:off x="960120" y="3383280"/>
            <a:ext cx="3108960" cy="1554480"/>
          </a:xfrm>
          <a:prstGeom prst="rect">
            <a:avLst/>
          </a:prstGeom>
          <a:noFill/>
          <a:ln/>
        </p:spPr>
        <p:txBody>
          <a:bodyPr wrap="square" lIns="0" tIns="0" rIns="0" bIns="0" rtlCol="0" anchor="t"/>
          <a:lstStyle/>
          <a:p>
            <a:pPr indent="0" marL="0">
              <a:lnSpc>
                <a:spcPct val="125000"/>
              </a:lnSpc>
              <a:buNone/>
            </a:pPr>
            <a:r>
              <a:rPr lang="en-US" sz="1000" dirty="0">
                <a:solidFill>
                  <a:srgbClr val="475569"/>
                </a:solidFill>
                <a:latin typeface="Malgun Gothic" pitchFamily="34" charset="0"/>
                <a:ea typeface="Malgun Gothic" pitchFamily="34" charset="-122"/>
                <a:cs typeface="Malgun Gothic" pitchFamily="34" charset="-120"/>
              </a:rPr>
              <a:t>한식, 디저트, 글로벌 푸드까지 100대 이상의 검증된 푸드트럭 DB를 보유하고 있습니다. 행사 콘셉트와 공간 조건에 맞는 최적의 푸드트럭을 빠르게 매칭하고, 계약·배치·현장 관리까지 전 과정을 대행합니다.</a:t>
            </a:r>
            <a:endParaRPr lang="en-US" sz="1000" dirty="0"/>
          </a:p>
        </p:txBody>
      </p:sp>
      <p:sp>
        <p:nvSpPr>
          <p:cNvPr id="14" name="Shape 11"/>
          <p:cNvSpPr/>
          <p:nvPr/>
        </p:nvSpPr>
        <p:spPr>
          <a:xfrm>
            <a:off x="960120" y="5029200"/>
            <a:ext cx="975360" cy="868680"/>
          </a:xfrm>
          <a:prstGeom prst="roundRect">
            <a:avLst>
              <a:gd name="adj" fmla="val 10526"/>
            </a:avLst>
          </a:prstGeom>
          <a:solidFill>
            <a:srgbClr val="EAF2FF"/>
          </a:solidFill>
          <a:ln w="12700">
            <a:solidFill>
              <a:srgbClr val="EAF2FF"/>
            </a:solidFill>
            <a:prstDash val="solid"/>
          </a:ln>
        </p:spPr>
      </p:sp>
      <p:sp>
        <p:nvSpPr>
          <p:cNvPr id="15" name="Text 12"/>
          <p:cNvSpPr txBox="1"/>
          <p:nvPr/>
        </p:nvSpPr>
        <p:spPr>
          <a:xfrm>
            <a:off x="1005840" y="5138928"/>
            <a:ext cx="883920" cy="411480"/>
          </a:xfrm>
          <a:prstGeom prst="rect">
            <a:avLst/>
          </a:prstGeom>
          <a:noFill/>
          <a:ln/>
        </p:spPr>
        <p:txBody>
          <a:bodyPr wrap="square" lIns="0" tIns="0" rIns="0" bIns="0" rtlCol="0" anchor="t"/>
          <a:lstStyle/>
          <a:p>
            <a:pPr algn="ctr" indent="0" marL="0">
              <a:buNone/>
            </a:pPr>
            <a:r>
              <a:rPr lang="en-US" sz="1500" b="1" dirty="0">
                <a:solidFill>
                  <a:srgbClr val="3182F6"/>
                </a:solidFill>
                <a:latin typeface="Arial Black" pitchFamily="34" charset="0"/>
                <a:ea typeface="Arial Black" pitchFamily="34" charset="-122"/>
                <a:cs typeface="Arial Black" pitchFamily="34" charset="-120"/>
              </a:rPr>
              <a:t>100+</a:t>
            </a:r>
            <a:endParaRPr lang="en-US" sz="1500" dirty="0"/>
          </a:p>
        </p:txBody>
      </p:sp>
      <p:sp>
        <p:nvSpPr>
          <p:cNvPr id="16" name="Text 13"/>
          <p:cNvSpPr txBox="1"/>
          <p:nvPr/>
        </p:nvSpPr>
        <p:spPr>
          <a:xfrm>
            <a:off x="1005840" y="5541264"/>
            <a:ext cx="883920" cy="274320"/>
          </a:xfrm>
          <a:prstGeom prst="rect">
            <a:avLst/>
          </a:prstGeom>
          <a:noFill/>
          <a:ln/>
        </p:spPr>
        <p:txBody>
          <a:bodyPr wrap="square" lIns="0" tIns="0" rIns="0" bIns="0" rtlCol="0" anchor="t"/>
          <a:lstStyle/>
          <a:p>
            <a:pPr algn="ctr" indent="0" marL="0">
              <a:buNone/>
            </a:pPr>
            <a:r>
              <a:rPr lang="en-US" sz="850" dirty="0">
                <a:solidFill>
                  <a:srgbClr val="475569"/>
                </a:solidFill>
                <a:latin typeface="Malgun Gothic" pitchFamily="34" charset="0"/>
                <a:ea typeface="Malgun Gothic" pitchFamily="34" charset="-122"/>
                <a:cs typeface="Malgun Gothic" pitchFamily="34" charset="-120"/>
              </a:rPr>
              <a:t>보유 푸드트럭 DB</a:t>
            </a:r>
            <a:endParaRPr lang="en-US" sz="850" dirty="0"/>
          </a:p>
        </p:txBody>
      </p:sp>
      <p:sp>
        <p:nvSpPr>
          <p:cNvPr id="17" name="Shape 14"/>
          <p:cNvSpPr/>
          <p:nvPr/>
        </p:nvSpPr>
        <p:spPr>
          <a:xfrm>
            <a:off x="2026920" y="5029200"/>
            <a:ext cx="975360" cy="868680"/>
          </a:xfrm>
          <a:prstGeom prst="roundRect">
            <a:avLst>
              <a:gd name="adj" fmla="val 10526"/>
            </a:avLst>
          </a:prstGeom>
          <a:solidFill>
            <a:srgbClr val="EAF2FF"/>
          </a:solidFill>
          <a:ln w="12700">
            <a:solidFill>
              <a:srgbClr val="EAF2FF"/>
            </a:solidFill>
            <a:prstDash val="solid"/>
          </a:ln>
        </p:spPr>
      </p:sp>
      <p:sp>
        <p:nvSpPr>
          <p:cNvPr id="18" name="Text 15"/>
          <p:cNvSpPr txBox="1"/>
          <p:nvPr/>
        </p:nvSpPr>
        <p:spPr>
          <a:xfrm>
            <a:off x="2072640" y="5138928"/>
            <a:ext cx="883920" cy="411480"/>
          </a:xfrm>
          <a:prstGeom prst="rect">
            <a:avLst/>
          </a:prstGeom>
          <a:noFill/>
          <a:ln/>
        </p:spPr>
        <p:txBody>
          <a:bodyPr wrap="square" lIns="0" tIns="0" rIns="0" bIns="0" rtlCol="0" anchor="t"/>
          <a:lstStyle/>
          <a:p>
            <a:pPr algn="ctr" indent="0" marL="0">
              <a:buNone/>
            </a:pPr>
            <a:r>
              <a:rPr lang="en-US" sz="1500" b="1" dirty="0">
                <a:solidFill>
                  <a:srgbClr val="3182F6"/>
                </a:solidFill>
                <a:latin typeface="Arial Black" pitchFamily="34" charset="0"/>
                <a:ea typeface="Arial Black" pitchFamily="34" charset="-122"/>
                <a:cs typeface="Arial Black" pitchFamily="34" charset="-120"/>
              </a:rPr>
              <a:t>30+</a:t>
            </a:r>
            <a:endParaRPr lang="en-US" sz="1500" dirty="0"/>
          </a:p>
        </p:txBody>
      </p:sp>
      <p:sp>
        <p:nvSpPr>
          <p:cNvPr id="19" name="Text 16"/>
          <p:cNvSpPr txBox="1"/>
          <p:nvPr/>
        </p:nvSpPr>
        <p:spPr>
          <a:xfrm>
            <a:off x="2072640" y="5541264"/>
            <a:ext cx="883920" cy="274320"/>
          </a:xfrm>
          <a:prstGeom prst="rect">
            <a:avLst/>
          </a:prstGeom>
          <a:noFill/>
          <a:ln/>
        </p:spPr>
        <p:txBody>
          <a:bodyPr wrap="square" lIns="0" tIns="0" rIns="0" bIns="0" rtlCol="0" anchor="t"/>
          <a:lstStyle/>
          <a:p>
            <a:pPr algn="ctr" indent="0" marL="0">
              <a:buNone/>
            </a:pPr>
            <a:r>
              <a:rPr lang="en-US" sz="850" dirty="0">
                <a:solidFill>
                  <a:srgbClr val="475569"/>
                </a:solidFill>
                <a:latin typeface="Malgun Gothic" pitchFamily="34" charset="0"/>
                <a:ea typeface="Malgun Gothic" pitchFamily="34" charset="-122"/>
                <a:cs typeface="Malgun Gothic" pitchFamily="34" charset="-120"/>
              </a:rPr>
              <a:t>행사 납품 실적</a:t>
            </a:r>
            <a:endParaRPr lang="en-US" sz="850" dirty="0"/>
          </a:p>
        </p:txBody>
      </p:sp>
      <p:sp>
        <p:nvSpPr>
          <p:cNvPr id="20" name="Shape 17"/>
          <p:cNvSpPr/>
          <p:nvPr/>
        </p:nvSpPr>
        <p:spPr>
          <a:xfrm>
            <a:off x="3093720" y="5029200"/>
            <a:ext cx="975360" cy="868680"/>
          </a:xfrm>
          <a:prstGeom prst="roundRect">
            <a:avLst>
              <a:gd name="adj" fmla="val 10526"/>
            </a:avLst>
          </a:prstGeom>
          <a:solidFill>
            <a:srgbClr val="EAF2FF"/>
          </a:solidFill>
          <a:ln w="12700">
            <a:solidFill>
              <a:srgbClr val="EAF2FF"/>
            </a:solidFill>
            <a:prstDash val="solid"/>
          </a:ln>
        </p:spPr>
      </p:sp>
      <p:sp>
        <p:nvSpPr>
          <p:cNvPr id="21" name="Text 18"/>
          <p:cNvSpPr txBox="1"/>
          <p:nvPr/>
        </p:nvSpPr>
        <p:spPr>
          <a:xfrm>
            <a:off x="3139440" y="5138928"/>
            <a:ext cx="883920" cy="411480"/>
          </a:xfrm>
          <a:prstGeom prst="rect">
            <a:avLst/>
          </a:prstGeom>
          <a:noFill/>
          <a:ln/>
        </p:spPr>
        <p:txBody>
          <a:bodyPr wrap="square" lIns="0" tIns="0" rIns="0" bIns="0" rtlCol="0" anchor="t"/>
          <a:lstStyle/>
          <a:p>
            <a:pPr algn="ctr" indent="0" marL="0">
              <a:buNone/>
            </a:pPr>
            <a:r>
              <a:rPr lang="en-US" sz="1500" b="1" dirty="0">
                <a:solidFill>
                  <a:srgbClr val="3182F6"/>
                </a:solidFill>
                <a:latin typeface="Arial Black" pitchFamily="34" charset="0"/>
                <a:ea typeface="Arial Black" pitchFamily="34" charset="-122"/>
                <a:cs typeface="Arial Black" pitchFamily="34" charset="-120"/>
              </a:rPr>
              <a:t>0건</a:t>
            </a:r>
            <a:endParaRPr lang="en-US" sz="1500" dirty="0"/>
          </a:p>
        </p:txBody>
      </p:sp>
      <p:sp>
        <p:nvSpPr>
          <p:cNvPr id="22" name="Text 19"/>
          <p:cNvSpPr txBox="1"/>
          <p:nvPr/>
        </p:nvSpPr>
        <p:spPr>
          <a:xfrm>
            <a:off x="3139440" y="5541264"/>
            <a:ext cx="883920" cy="274320"/>
          </a:xfrm>
          <a:prstGeom prst="rect">
            <a:avLst/>
          </a:prstGeom>
          <a:noFill/>
          <a:ln/>
        </p:spPr>
        <p:txBody>
          <a:bodyPr wrap="square" lIns="0" tIns="0" rIns="0" bIns="0" rtlCol="0" anchor="t"/>
          <a:lstStyle/>
          <a:p>
            <a:pPr algn="ctr" indent="0" marL="0">
              <a:buNone/>
            </a:pPr>
            <a:r>
              <a:rPr lang="en-US" sz="850" dirty="0">
                <a:solidFill>
                  <a:srgbClr val="475569"/>
                </a:solidFill>
                <a:latin typeface="Malgun Gothic" pitchFamily="34" charset="0"/>
                <a:ea typeface="Malgun Gothic" pitchFamily="34" charset="-122"/>
                <a:cs typeface="Malgun Gothic" pitchFamily="34" charset="-120"/>
              </a:rPr>
              <a:t>당일 불참 미대체</a:t>
            </a:r>
            <a:endParaRPr lang="en-US" sz="850" dirty="0"/>
          </a:p>
        </p:txBody>
      </p:sp>
      <p:sp>
        <p:nvSpPr>
          <p:cNvPr id="23" name="Shape 20"/>
          <p:cNvSpPr/>
          <p:nvPr/>
        </p:nvSpPr>
        <p:spPr>
          <a:xfrm>
            <a:off x="4709160" y="2331720"/>
            <a:ext cx="2158898" cy="1828800"/>
          </a:xfrm>
          <a:prstGeom prst="roundRect">
            <a:avLst>
              <a:gd name="adj" fmla="val 5000"/>
            </a:avLst>
          </a:prstGeom>
          <a:solidFill>
            <a:srgbClr val="12305F"/>
          </a:solidFill>
          <a:ln w="12700">
            <a:solidFill>
              <a:srgbClr val="1F5FD0"/>
            </a:solidFill>
            <a:prstDash val="solid"/>
          </a:ln>
        </p:spPr>
      </p:sp>
      <p:sp>
        <p:nvSpPr>
          <p:cNvPr id="24" name="Text 21"/>
          <p:cNvSpPr txBox="1"/>
          <p:nvPr/>
        </p:nvSpPr>
        <p:spPr>
          <a:xfrm>
            <a:off x="4937760" y="251460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01</a:t>
            </a:r>
            <a:endParaRPr lang="en-US" sz="1000" dirty="0"/>
          </a:p>
        </p:txBody>
      </p:sp>
      <p:sp>
        <p:nvSpPr>
          <p:cNvPr id="25" name="Text 22"/>
          <p:cNvSpPr txBox="1"/>
          <p:nvPr/>
        </p:nvSpPr>
        <p:spPr>
          <a:xfrm>
            <a:off x="4892040" y="277063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100대 이상 푸드트럭 DB</a:t>
            </a:r>
            <a:endParaRPr lang="en-US" sz="1100" dirty="0"/>
          </a:p>
        </p:txBody>
      </p:sp>
      <p:sp>
        <p:nvSpPr>
          <p:cNvPr id="26" name="Text 23"/>
          <p:cNvSpPr txBox="1"/>
          <p:nvPr/>
        </p:nvSpPr>
        <p:spPr>
          <a:xfrm>
            <a:off x="4892040" y="315468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한식, 양식, 일식, 디저트, 음료 등 다양한 카테고리의 검증된 푸드트럭 DB를 보유합니다. 중복 없는 메뉴 구성으로 방문자 만족도를 높입니다.</a:t>
            </a:r>
            <a:endParaRPr lang="en-US" sz="850" dirty="0"/>
          </a:p>
        </p:txBody>
      </p:sp>
      <p:sp>
        <p:nvSpPr>
          <p:cNvPr id="27" name="Shape 24"/>
          <p:cNvSpPr/>
          <p:nvPr/>
        </p:nvSpPr>
        <p:spPr>
          <a:xfrm>
            <a:off x="7050938" y="2331720"/>
            <a:ext cx="2158898" cy="1828800"/>
          </a:xfrm>
          <a:prstGeom prst="roundRect">
            <a:avLst>
              <a:gd name="adj" fmla="val 5000"/>
            </a:avLst>
          </a:prstGeom>
          <a:solidFill>
            <a:srgbClr val="12305F"/>
          </a:solidFill>
          <a:ln w="12700">
            <a:solidFill>
              <a:srgbClr val="1F5FD0"/>
            </a:solidFill>
            <a:prstDash val="solid"/>
          </a:ln>
        </p:spPr>
      </p:sp>
      <p:sp>
        <p:nvSpPr>
          <p:cNvPr id="28" name="Text 25"/>
          <p:cNvSpPr txBox="1"/>
          <p:nvPr/>
        </p:nvSpPr>
        <p:spPr>
          <a:xfrm>
            <a:off x="7279538" y="251460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02</a:t>
            </a:r>
            <a:endParaRPr lang="en-US" sz="1000" dirty="0"/>
          </a:p>
        </p:txBody>
      </p:sp>
      <p:sp>
        <p:nvSpPr>
          <p:cNvPr id="29" name="Text 26"/>
          <p:cNvSpPr txBox="1"/>
          <p:nvPr/>
        </p:nvSpPr>
        <p:spPr>
          <a:xfrm>
            <a:off x="7233818" y="277063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행사 맞춤 매칭</a:t>
            </a:r>
            <a:endParaRPr lang="en-US" sz="1100" dirty="0"/>
          </a:p>
        </p:txBody>
      </p:sp>
      <p:sp>
        <p:nvSpPr>
          <p:cNvPr id="30" name="Text 27"/>
          <p:cNvSpPr txBox="1"/>
          <p:nvPr/>
        </p:nvSpPr>
        <p:spPr>
          <a:xfrm>
            <a:off x="7233818" y="315468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행사 콘셉트(가족 친화, 청년 대상, 프리미엄 등)와 공간 규모에 맞게 최적의 푸드트럭 조합을 제안합니다.</a:t>
            </a:r>
            <a:endParaRPr lang="en-US" sz="850" dirty="0"/>
          </a:p>
        </p:txBody>
      </p:sp>
      <p:sp>
        <p:nvSpPr>
          <p:cNvPr id="31" name="Shape 28"/>
          <p:cNvSpPr/>
          <p:nvPr/>
        </p:nvSpPr>
        <p:spPr>
          <a:xfrm>
            <a:off x="9392717" y="2331720"/>
            <a:ext cx="2158898" cy="1828800"/>
          </a:xfrm>
          <a:prstGeom prst="roundRect">
            <a:avLst>
              <a:gd name="adj" fmla="val 5000"/>
            </a:avLst>
          </a:prstGeom>
          <a:solidFill>
            <a:srgbClr val="12305F"/>
          </a:solidFill>
          <a:ln w="12700">
            <a:solidFill>
              <a:srgbClr val="1F5FD0"/>
            </a:solidFill>
            <a:prstDash val="solid"/>
          </a:ln>
        </p:spPr>
      </p:sp>
      <p:sp>
        <p:nvSpPr>
          <p:cNvPr id="32" name="Text 29"/>
          <p:cNvSpPr txBox="1"/>
          <p:nvPr/>
        </p:nvSpPr>
        <p:spPr>
          <a:xfrm>
            <a:off x="9621317" y="251460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03</a:t>
            </a:r>
            <a:endParaRPr lang="en-US" sz="1000" dirty="0"/>
          </a:p>
        </p:txBody>
      </p:sp>
      <p:sp>
        <p:nvSpPr>
          <p:cNvPr id="33" name="Text 30"/>
          <p:cNvSpPr txBox="1"/>
          <p:nvPr/>
        </p:nvSpPr>
        <p:spPr>
          <a:xfrm>
            <a:off x="9575597" y="277063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전기·용수 조율</a:t>
            </a:r>
            <a:endParaRPr lang="en-US" sz="1100" dirty="0"/>
          </a:p>
        </p:txBody>
      </p:sp>
      <p:sp>
        <p:nvSpPr>
          <p:cNvPr id="34" name="Text 31"/>
          <p:cNvSpPr txBox="1"/>
          <p:nvPr/>
        </p:nvSpPr>
        <p:spPr>
          <a:xfrm>
            <a:off x="9575597" y="315468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공간의 전기 용량과 용수 공급 여건을 사전에 확인하고 푸드트럭별 필요 설비를 조율합니다.</a:t>
            </a:r>
            <a:endParaRPr lang="en-US" sz="850" dirty="0"/>
          </a:p>
        </p:txBody>
      </p:sp>
      <p:sp>
        <p:nvSpPr>
          <p:cNvPr id="35" name="Shape 32"/>
          <p:cNvSpPr/>
          <p:nvPr/>
        </p:nvSpPr>
        <p:spPr>
          <a:xfrm>
            <a:off x="4709160" y="4343400"/>
            <a:ext cx="2158898" cy="1828800"/>
          </a:xfrm>
          <a:prstGeom prst="roundRect">
            <a:avLst>
              <a:gd name="adj" fmla="val 5000"/>
            </a:avLst>
          </a:prstGeom>
          <a:solidFill>
            <a:srgbClr val="12305F"/>
          </a:solidFill>
          <a:ln w="12700">
            <a:solidFill>
              <a:srgbClr val="1F5FD0"/>
            </a:solidFill>
            <a:prstDash val="solid"/>
          </a:ln>
        </p:spPr>
      </p:sp>
      <p:sp>
        <p:nvSpPr>
          <p:cNvPr id="36" name="Text 33"/>
          <p:cNvSpPr txBox="1"/>
          <p:nvPr/>
        </p:nvSpPr>
        <p:spPr>
          <a:xfrm>
            <a:off x="4937760" y="452628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04</a:t>
            </a:r>
            <a:endParaRPr lang="en-US" sz="1000" dirty="0"/>
          </a:p>
        </p:txBody>
      </p:sp>
      <p:sp>
        <p:nvSpPr>
          <p:cNvPr id="37" name="Text 34"/>
          <p:cNvSpPr txBox="1"/>
          <p:nvPr/>
        </p:nvSpPr>
        <p:spPr>
          <a:xfrm>
            <a:off x="4892040" y="478231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현장 배치 &amp; 동선 관리</a:t>
            </a:r>
            <a:endParaRPr lang="en-US" sz="1100" dirty="0"/>
          </a:p>
        </p:txBody>
      </p:sp>
      <p:sp>
        <p:nvSpPr>
          <p:cNvPr id="38" name="Text 35"/>
          <p:cNvSpPr txBox="1"/>
          <p:nvPr/>
        </p:nvSpPr>
        <p:spPr>
          <a:xfrm>
            <a:off x="4892040" y="516636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방문자 줄서기, 혼잡 방지, 셀러 구역과의 충돌 없는 동선을 설계하여 현장을 관리합니다.</a:t>
            </a:r>
            <a:endParaRPr lang="en-US" sz="850" dirty="0"/>
          </a:p>
        </p:txBody>
      </p:sp>
      <p:sp>
        <p:nvSpPr>
          <p:cNvPr id="39" name="Shape 36"/>
          <p:cNvSpPr/>
          <p:nvPr/>
        </p:nvSpPr>
        <p:spPr>
          <a:xfrm>
            <a:off x="7050938" y="4343400"/>
            <a:ext cx="2158898" cy="1828800"/>
          </a:xfrm>
          <a:prstGeom prst="roundRect">
            <a:avLst>
              <a:gd name="adj" fmla="val 5000"/>
            </a:avLst>
          </a:prstGeom>
          <a:solidFill>
            <a:srgbClr val="12305F"/>
          </a:solidFill>
          <a:ln w="12700">
            <a:solidFill>
              <a:srgbClr val="1F5FD0"/>
            </a:solidFill>
            <a:prstDash val="solid"/>
          </a:ln>
        </p:spPr>
      </p:sp>
      <p:sp>
        <p:nvSpPr>
          <p:cNvPr id="40" name="Text 37"/>
          <p:cNvSpPr txBox="1"/>
          <p:nvPr/>
        </p:nvSpPr>
        <p:spPr>
          <a:xfrm>
            <a:off x="7279538" y="452628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05</a:t>
            </a:r>
            <a:endParaRPr lang="en-US" sz="1000" dirty="0"/>
          </a:p>
        </p:txBody>
      </p:sp>
      <p:sp>
        <p:nvSpPr>
          <p:cNvPr id="41" name="Text 38"/>
          <p:cNvSpPr txBox="1"/>
          <p:nvPr/>
        </p:nvSpPr>
        <p:spPr>
          <a:xfrm>
            <a:off x="7233818" y="478231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위생·안전 기준 확인</a:t>
            </a:r>
            <a:endParaRPr lang="en-US" sz="1100" dirty="0"/>
          </a:p>
        </p:txBody>
      </p:sp>
      <p:sp>
        <p:nvSpPr>
          <p:cNvPr id="42" name="Text 39"/>
          <p:cNvSpPr txBox="1"/>
          <p:nvPr/>
        </p:nvSpPr>
        <p:spPr>
          <a:xfrm>
            <a:off x="7233818" y="516636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모든 푸드트럭의 영업허가증, 위생 점검 이력을 사전에 확인합니다. 행사 중 식품 안전 사고를 방지합니다.</a:t>
            </a:r>
            <a:endParaRPr lang="en-US" sz="850" dirty="0"/>
          </a:p>
        </p:txBody>
      </p:sp>
      <p:sp>
        <p:nvSpPr>
          <p:cNvPr id="43" name="Shape 40"/>
          <p:cNvSpPr/>
          <p:nvPr/>
        </p:nvSpPr>
        <p:spPr>
          <a:xfrm>
            <a:off x="9392717" y="4343400"/>
            <a:ext cx="2158898" cy="1828800"/>
          </a:xfrm>
          <a:prstGeom prst="roundRect">
            <a:avLst>
              <a:gd name="adj" fmla="val 5000"/>
            </a:avLst>
          </a:prstGeom>
          <a:solidFill>
            <a:srgbClr val="12305F"/>
          </a:solidFill>
          <a:ln w="12700">
            <a:solidFill>
              <a:srgbClr val="1F5FD0"/>
            </a:solidFill>
            <a:prstDash val="solid"/>
          </a:ln>
        </p:spPr>
      </p:sp>
      <p:sp>
        <p:nvSpPr>
          <p:cNvPr id="44" name="Text 41"/>
          <p:cNvSpPr txBox="1"/>
          <p:nvPr/>
        </p:nvSpPr>
        <p:spPr>
          <a:xfrm>
            <a:off x="9621317" y="452628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06</a:t>
            </a:r>
            <a:endParaRPr lang="en-US" sz="1000" dirty="0"/>
          </a:p>
        </p:txBody>
      </p:sp>
      <p:sp>
        <p:nvSpPr>
          <p:cNvPr id="45" name="Text 42"/>
          <p:cNvSpPr txBox="1"/>
          <p:nvPr/>
        </p:nvSpPr>
        <p:spPr>
          <a:xfrm>
            <a:off x="9575597" y="478231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단독 섭외도 가능</a:t>
            </a:r>
            <a:endParaRPr lang="en-US" sz="1100" dirty="0"/>
          </a:p>
        </p:txBody>
      </p:sp>
      <p:sp>
        <p:nvSpPr>
          <p:cNvPr id="46" name="Text 43"/>
          <p:cNvSpPr txBox="1"/>
          <p:nvPr/>
        </p:nvSpPr>
        <p:spPr>
          <a:xfrm>
            <a:off x="9575597" y="516636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행사 운영 대행 없이 푸드트럭 섭외만 단독으로 의뢰하실 수 있습니다. 기업 행사, 지역 축제, 개인 행사 모두 가능합니다.</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44"/>
        </a:solidFill>
      </p:bgPr>
    </p:bg>
    <p:spTree>
      <p:nvGrpSpPr>
        <p:cNvPr id="1" name=""/>
        <p:cNvGrpSpPr/>
        <p:nvPr/>
      </p:nvGrpSpPr>
      <p:grpSpPr>
        <a:xfrm>
          <a:off x="0" y="0"/>
          <a:ext cx="0" cy="0"/>
          <a:chOff x="0" y="0"/>
          <a:chExt cx="0" cy="0"/>
        </a:xfrm>
      </p:grpSpPr>
      <p:sp>
        <p:nvSpPr>
          <p:cNvPr id="2" name="Shape 0"/>
          <p:cNvSpPr/>
          <p:nvPr/>
        </p:nvSpPr>
        <p:spPr>
          <a:xfrm>
            <a:off x="9265615" y="-2377440"/>
            <a:ext cx="5120640" cy="5120640"/>
          </a:xfrm>
          <a:prstGeom prst="ellipse">
            <a:avLst/>
          </a:prstGeom>
          <a:solidFill>
            <a:srgbClr val="12305F"/>
          </a:solidFill>
          <a:ln w="12700">
            <a:solidFill>
              <a:srgbClr val="12305F"/>
            </a:solidFill>
            <a:prstDash val="solid"/>
          </a:ln>
        </p:spPr>
      </p:sp>
      <p:sp>
        <p:nvSpPr>
          <p:cNvPr id="3" name="Shape 1"/>
          <p:cNvSpPr/>
          <p:nvPr/>
        </p:nvSpPr>
        <p:spPr>
          <a:xfrm>
            <a:off x="-1645920" y="5029200"/>
            <a:ext cx="3657600" cy="3657600"/>
          </a:xfrm>
          <a:prstGeom prst="ellipse">
            <a:avLst/>
          </a:prstGeom>
          <a:solidFill>
            <a:srgbClr val="12305F"/>
          </a:solidFill>
          <a:ln w="12700">
            <a:solidFill>
              <a:srgbClr val="12305F"/>
            </a:solidFill>
            <a:prstDash val="solid"/>
          </a:ln>
        </p:spPr>
      </p:sp>
      <p:sp>
        <p:nvSpPr>
          <p:cNvPr id="4" name="Text 2"/>
          <p:cNvSpPr txBox="1"/>
          <p:nvPr/>
        </p:nvSpPr>
        <p:spPr>
          <a:xfrm>
            <a:off x="640080" y="384048"/>
            <a:ext cx="1155700" cy="266700"/>
          </a:xfrm>
          <a:prstGeom prst="rect">
            <a:avLst/>
          </a:prstGeom>
          <a:noFill/>
          <a:ln/>
        </p:spPr>
        <p:txBody>
          <a:bodyPr wrap="square" lIns="0" tIns="0" rIns="0" bIns="0" rtlCol="0" anchor="ctr"/>
          <a:lstStyle/>
          <a:p>
            <a:pPr indent="0" marL="0">
              <a:buNone/>
            </a:pPr>
            <a:r>
              <a:rPr lang="en-US" sz="1400" b="1" dirty="0">
                <a:solidFill>
                  <a:srgbClr val="3182F6"/>
                </a:solidFill>
                <a:latin typeface="Arial Black" pitchFamily="34" charset="0"/>
                <a:ea typeface="Arial Black" pitchFamily="34" charset="-122"/>
                <a:cs typeface="Arial Black" pitchFamily="34" charset="-120"/>
              </a:rPr>
              <a:t>Flit</a:t>
            </a:r>
            <a:pPr indent="0" marL="0">
              <a:buNone/>
            </a:pPr>
            <a:r>
              <a:rPr lang="en-US" sz="1400" b="1" dirty="0">
                <a:solidFill>
                  <a:srgbClr val="FFFFFF"/>
                </a:solidFill>
                <a:latin typeface="Arial Black" pitchFamily="34" charset="0"/>
                <a:ea typeface="Arial Black" pitchFamily="34" charset="-122"/>
                <a:cs typeface="Arial Black" pitchFamily="34" charset="-120"/>
              </a:rPr>
              <a:t>Union</a:t>
            </a:r>
            <a:endParaRPr lang="en-US" sz="1400" dirty="0"/>
          </a:p>
        </p:txBody>
      </p:sp>
      <p:sp>
        <p:nvSpPr>
          <p:cNvPr id="5" name="Text 3"/>
          <p:cNvSpPr txBox="1"/>
          <p:nvPr/>
        </p:nvSpPr>
        <p:spPr>
          <a:xfrm>
            <a:off x="640080" y="868680"/>
            <a:ext cx="5486400" cy="274320"/>
          </a:xfrm>
          <a:prstGeom prst="rect">
            <a:avLst/>
          </a:prstGeom>
          <a:noFill/>
          <a:ln/>
        </p:spPr>
        <p:txBody>
          <a:bodyPr wrap="square" lIns="0" tIns="0" rIns="0" bIns="0" rtlCol="0" anchor="t"/>
          <a:lstStyle/>
          <a:p>
            <a:pPr indent="0" marL="0">
              <a:buNone/>
            </a:pPr>
            <a:r>
              <a:rPr lang="en-US" sz="1100" b="1" spc="300" kern="0" dirty="0">
                <a:solidFill>
                  <a:srgbClr val="93C5FD"/>
                </a:solidFill>
                <a:latin typeface="Malgun Gothic" pitchFamily="34" charset="0"/>
                <a:ea typeface="Malgun Gothic" pitchFamily="34" charset="-122"/>
                <a:cs typeface="Malgun Gothic" pitchFamily="34" charset="-120"/>
              </a:rPr>
              <a:t>05  SERVICE DETAIL  ·  행사 장비 렌탈·설치</a:t>
            </a:r>
            <a:endParaRPr lang="en-US" sz="1100" dirty="0"/>
          </a:p>
        </p:txBody>
      </p:sp>
      <p:sp>
        <p:nvSpPr>
          <p:cNvPr id="6" name="Text 4"/>
          <p:cNvSpPr txBox="1"/>
          <p:nvPr/>
        </p:nvSpPr>
        <p:spPr>
          <a:xfrm>
            <a:off x="640080" y="1143000"/>
            <a:ext cx="10911535" cy="594360"/>
          </a:xfrm>
          <a:prstGeom prst="rect">
            <a:avLst/>
          </a:prstGeom>
          <a:noFill/>
          <a:ln/>
        </p:spPr>
        <p:txBody>
          <a:bodyPr wrap="square" lIns="0" tIns="0" rIns="0" bIns="0" rtlCol="0" anchor="t"/>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행사 장비 렌탈·설치</a:t>
            </a:r>
            <a:endParaRPr lang="en-US" sz="2800" dirty="0"/>
          </a:p>
        </p:txBody>
      </p:sp>
      <p:sp>
        <p:nvSpPr>
          <p:cNvPr id="7" name="Text 5"/>
          <p:cNvSpPr txBox="1"/>
          <p:nvPr/>
        </p:nvSpPr>
        <p:spPr>
          <a:xfrm>
            <a:off x="640080" y="1737360"/>
            <a:ext cx="10911535" cy="411480"/>
          </a:xfrm>
          <a:prstGeom prst="rect">
            <a:avLst/>
          </a:prstGeom>
          <a:noFill/>
          <a:ln/>
        </p:spPr>
        <p:txBody>
          <a:bodyPr wrap="square" lIns="0" tIns="0" rIns="0" bIns="0" rtlCol="0" anchor="t"/>
          <a:lstStyle/>
          <a:p>
            <a:pPr indent="0" marL="0">
              <a:buNone/>
            </a:pPr>
            <a:r>
              <a:rPr lang="en-US" sz="1300" dirty="0">
                <a:solidFill>
                  <a:srgbClr val="D6E4F8"/>
                </a:solidFill>
                <a:latin typeface="Malgun Gothic" pitchFamily="34" charset="0"/>
                <a:ea typeface="Malgun Gothic" pitchFamily="34" charset="-122"/>
                <a:cs typeface="Malgun Gothic" pitchFamily="34" charset="-120"/>
              </a:rPr>
              <a:t>원스톱 장비 지원  ·  부스 텐트·테이블·의자부터 조명, 배너, 간판까지 행사에 필요한 모든 장비를 렌탈로 제공합니다.</a:t>
            </a:r>
            <a:endParaRPr lang="en-US" sz="1300" dirty="0"/>
          </a:p>
        </p:txBody>
      </p:sp>
      <p:sp>
        <p:nvSpPr>
          <p:cNvPr id="8" name="Text 6"/>
          <p:cNvSpPr txBox="1"/>
          <p:nvPr/>
        </p:nvSpPr>
        <p:spPr>
          <a:xfrm>
            <a:off x="640080" y="6400800"/>
            <a:ext cx="3657600" cy="228600"/>
          </a:xfrm>
          <a:prstGeom prst="rect">
            <a:avLst/>
          </a:prstGeom>
          <a:noFill/>
          <a:ln/>
        </p:spPr>
        <p:txBody>
          <a:bodyPr wrap="square" lIns="0" tIns="0" rIns="0" bIns="0" rtlCol="0" anchor="t"/>
          <a:lstStyle/>
          <a:p>
            <a:pPr indent="0" marL="0">
              <a:buNone/>
            </a:pPr>
            <a:r>
              <a:rPr lang="en-US" sz="900" dirty="0">
                <a:solidFill>
                  <a:srgbClr val="94A3B8"/>
                </a:solidFill>
                <a:latin typeface="Malgun Gothic" pitchFamily="34" charset="0"/>
                <a:ea typeface="Malgun Gothic" pitchFamily="34" charset="-122"/>
                <a:cs typeface="Malgun Gothic" pitchFamily="34" charset="-120"/>
              </a:rPr>
              <a:t>플릿 유니온 회사소개서</a:t>
            </a:r>
            <a:endParaRPr lang="en-US" sz="900" dirty="0"/>
          </a:p>
        </p:txBody>
      </p:sp>
      <p:sp>
        <p:nvSpPr>
          <p:cNvPr id="9" name="Text 7"/>
          <p:cNvSpPr txBox="1"/>
          <p:nvPr/>
        </p:nvSpPr>
        <p:spPr>
          <a:xfrm>
            <a:off x="10637215" y="6400800"/>
            <a:ext cx="914400" cy="228600"/>
          </a:xfrm>
          <a:prstGeom prst="rect">
            <a:avLst/>
          </a:prstGeom>
          <a:noFill/>
          <a:ln/>
        </p:spPr>
        <p:txBody>
          <a:bodyPr wrap="square" lIns="0" tIns="0" rIns="0" bIns="0" rtlCol="0" anchor="t"/>
          <a:lstStyle/>
          <a:p>
            <a:pPr algn="r" indent="0" marL="0">
              <a:buNone/>
            </a:pPr>
            <a:r>
              <a:rPr lang="en-US" sz="900" dirty="0">
                <a:solidFill>
                  <a:srgbClr val="94A3B8"/>
                </a:solidFill>
                <a:latin typeface="Malgun Gothic" pitchFamily="34" charset="0"/>
                <a:ea typeface="Malgun Gothic" pitchFamily="34" charset="-122"/>
                <a:cs typeface="Malgun Gothic" pitchFamily="34" charset="-120"/>
              </a:rPr>
              <a:t>14</a:t>
            </a:r>
            <a:endParaRPr lang="en-US" sz="900" dirty="0"/>
          </a:p>
        </p:txBody>
      </p:sp>
      <p:sp>
        <p:nvSpPr>
          <p:cNvPr id="10" name="Shape 8"/>
          <p:cNvSpPr/>
          <p:nvPr/>
        </p:nvSpPr>
        <p:spPr>
          <a:xfrm>
            <a:off x="640080" y="2331720"/>
            <a:ext cx="3749040" cy="3840480"/>
          </a:xfrm>
          <a:prstGeom prst="roundRect">
            <a:avLst>
              <a:gd name="adj" fmla="val 2439"/>
            </a:avLst>
          </a:prstGeom>
          <a:solidFill>
            <a:srgbClr val="FFFFFF"/>
          </a:solidFill>
          <a:ln w="12700">
            <a:solidFill>
              <a:srgbClr val="FFFFFF"/>
            </a:solidFill>
            <a:prstDash val="solid"/>
          </a:ln>
        </p:spPr>
      </p:sp>
      <p:sp>
        <p:nvSpPr>
          <p:cNvPr id="11" name="Shape 9"/>
          <p:cNvSpPr/>
          <p:nvPr/>
        </p:nvSpPr>
        <p:spPr>
          <a:xfrm>
            <a:off x="960120" y="2651760"/>
            <a:ext cx="594360" cy="594360"/>
          </a:xfrm>
          <a:prstGeom prst="ellipse">
            <a:avLst/>
          </a:prstGeom>
          <a:solidFill>
            <a:srgbClr val="3182F6"/>
          </a:solidFill>
          <a:ln w="12700">
            <a:solidFill>
              <a:srgbClr val="3182F6"/>
            </a:solidFill>
            <a:prstDash val="solid"/>
          </a:ln>
        </p:spPr>
      </p:sp>
      <p:pic>
        <p:nvPicPr>
          <p:cNvPr id="12" name="Image 0" descr="preencoded.png">    </p:cNvPr>
          <p:cNvPicPr>
            <a:picLocks noChangeAspect="1"/>
          </p:cNvPicPr>
          <p:nvPr/>
        </p:nvPicPr>
        <p:blipFill>
          <a:blip r:embed="rId1"/>
          <a:stretch>
            <a:fillRect/>
          </a:stretch>
        </p:blipFill>
        <p:spPr>
          <a:xfrm>
            <a:off x="1108710" y="2800350"/>
            <a:ext cx="297180" cy="297180"/>
          </a:xfrm>
          <a:prstGeom prst="rect">
            <a:avLst/>
          </a:prstGeom>
        </p:spPr>
      </p:pic>
      <p:sp>
        <p:nvSpPr>
          <p:cNvPr id="13" name="Text 10"/>
          <p:cNvSpPr txBox="1"/>
          <p:nvPr/>
        </p:nvSpPr>
        <p:spPr>
          <a:xfrm>
            <a:off x="960120" y="3383280"/>
            <a:ext cx="3108960" cy="1554480"/>
          </a:xfrm>
          <a:prstGeom prst="rect">
            <a:avLst/>
          </a:prstGeom>
          <a:noFill/>
          <a:ln/>
        </p:spPr>
        <p:txBody>
          <a:bodyPr wrap="square" lIns="0" tIns="0" rIns="0" bIns="0" rtlCol="0" anchor="t"/>
          <a:lstStyle/>
          <a:p>
            <a:pPr indent="0" marL="0">
              <a:lnSpc>
                <a:spcPct val="125000"/>
              </a:lnSpc>
              <a:buNone/>
            </a:pPr>
            <a:r>
              <a:rPr lang="en-US" sz="1000" dirty="0">
                <a:solidFill>
                  <a:srgbClr val="475569"/>
                </a:solidFill>
                <a:latin typeface="Malgun Gothic" pitchFamily="34" charset="0"/>
                <a:ea typeface="Malgun Gothic" pitchFamily="34" charset="-122"/>
                <a:cs typeface="Malgun Gothic" pitchFamily="34" charset="-120"/>
              </a:rPr>
              <a:t>행사 장비를 별도로 구매할 필요 없습니다. 플릿 유니온의 렌탈 서비스로 텐트, 테이블, 조명, 배너까지 한 번에 해결하실 수 있습니다. 운영 대행 패키지와 함께 이용하시면 렌탈 비용 할인 혜택도 제공됩니다.</a:t>
            </a:r>
            <a:endParaRPr lang="en-US" sz="1000" dirty="0"/>
          </a:p>
        </p:txBody>
      </p:sp>
      <p:sp>
        <p:nvSpPr>
          <p:cNvPr id="14" name="Shape 11"/>
          <p:cNvSpPr/>
          <p:nvPr/>
        </p:nvSpPr>
        <p:spPr>
          <a:xfrm>
            <a:off x="960120" y="5029200"/>
            <a:ext cx="975360" cy="868680"/>
          </a:xfrm>
          <a:prstGeom prst="roundRect">
            <a:avLst>
              <a:gd name="adj" fmla="val 10526"/>
            </a:avLst>
          </a:prstGeom>
          <a:solidFill>
            <a:srgbClr val="EAF2FF"/>
          </a:solidFill>
          <a:ln w="12700">
            <a:solidFill>
              <a:srgbClr val="EAF2FF"/>
            </a:solidFill>
            <a:prstDash val="solid"/>
          </a:ln>
        </p:spPr>
      </p:sp>
      <p:sp>
        <p:nvSpPr>
          <p:cNvPr id="15" name="Text 12"/>
          <p:cNvSpPr txBox="1"/>
          <p:nvPr/>
        </p:nvSpPr>
        <p:spPr>
          <a:xfrm>
            <a:off x="1005840" y="5138928"/>
            <a:ext cx="883920" cy="411480"/>
          </a:xfrm>
          <a:prstGeom prst="rect">
            <a:avLst/>
          </a:prstGeom>
          <a:noFill/>
          <a:ln/>
        </p:spPr>
        <p:txBody>
          <a:bodyPr wrap="square" lIns="0" tIns="0" rIns="0" bIns="0" rtlCol="0" anchor="t"/>
          <a:lstStyle/>
          <a:p>
            <a:pPr algn="ctr" indent="0" marL="0">
              <a:buNone/>
            </a:pPr>
            <a:r>
              <a:rPr lang="en-US" sz="1500" b="1" dirty="0">
                <a:solidFill>
                  <a:srgbClr val="3182F6"/>
                </a:solidFill>
                <a:latin typeface="Arial Black" pitchFamily="34" charset="0"/>
                <a:ea typeface="Arial Black" pitchFamily="34" charset="-122"/>
                <a:cs typeface="Arial Black" pitchFamily="34" charset="-120"/>
              </a:rPr>
              <a:t>500+</a:t>
            </a:r>
            <a:endParaRPr lang="en-US" sz="1500" dirty="0"/>
          </a:p>
        </p:txBody>
      </p:sp>
      <p:sp>
        <p:nvSpPr>
          <p:cNvPr id="16" name="Text 13"/>
          <p:cNvSpPr txBox="1"/>
          <p:nvPr/>
        </p:nvSpPr>
        <p:spPr>
          <a:xfrm>
            <a:off x="1005840" y="5541264"/>
            <a:ext cx="883920" cy="274320"/>
          </a:xfrm>
          <a:prstGeom prst="rect">
            <a:avLst/>
          </a:prstGeom>
          <a:noFill/>
          <a:ln/>
        </p:spPr>
        <p:txBody>
          <a:bodyPr wrap="square" lIns="0" tIns="0" rIns="0" bIns="0" rtlCol="0" anchor="t"/>
          <a:lstStyle/>
          <a:p>
            <a:pPr algn="ctr" indent="0" marL="0">
              <a:buNone/>
            </a:pPr>
            <a:r>
              <a:rPr lang="en-US" sz="850" dirty="0">
                <a:solidFill>
                  <a:srgbClr val="475569"/>
                </a:solidFill>
                <a:latin typeface="Malgun Gothic" pitchFamily="34" charset="0"/>
                <a:ea typeface="Malgun Gothic" pitchFamily="34" charset="-122"/>
                <a:cs typeface="Malgun Gothic" pitchFamily="34" charset="-120"/>
              </a:rPr>
              <a:t>보유 장비 수량</a:t>
            </a:r>
            <a:endParaRPr lang="en-US" sz="850" dirty="0"/>
          </a:p>
        </p:txBody>
      </p:sp>
      <p:sp>
        <p:nvSpPr>
          <p:cNvPr id="17" name="Shape 14"/>
          <p:cNvSpPr/>
          <p:nvPr/>
        </p:nvSpPr>
        <p:spPr>
          <a:xfrm>
            <a:off x="2026920" y="5029200"/>
            <a:ext cx="975360" cy="868680"/>
          </a:xfrm>
          <a:prstGeom prst="roundRect">
            <a:avLst>
              <a:gd name="adj" fmla="val 10526"/>
            </a:avLst>
          </a:prstGeom>
          <a:solidFill>
            <a:srgbClr val="EAF2FF"/>
          </a:solidFill>
          <a:ln w="12700">
            <a:solidFill>
              <a:srgbClr val="EAF2FF"/>
            </a:solidFill>
            <a:prstDash val="solid"/>
          </a:ln>
        </p:spPr>
      </p:sp>
      <p:sp>
        <p:nvSpPr>
          <p:cNvPr id="18" name="Text 15"/>
          <p:cNvSpPr txBox="1"/>
          <p:nvPr/>
        </p:nvSpPr>
        <p:spPr>
          <a:xfrm>
            <a:off x="2072640" y="5138928"/>
            <a:ext cx="883920" cy="411480"/>
          </a:xfrm>
          <a:prstGeom prst="rect">
            <a:avLst/>
          </a:prstGeom>
          <a:noFill/>
          <a:ln/>
        </p:spPr>
        <p:txBody>
          <a:bodyPr wrap="square" lIns="0" tIns="0" rIns="0" bIns="0" rtlCol="0" anchor="t"/>
          <a:lstStyle/>
          <a:p>
            <a:pPr algn="ctr" indent="0" marL="0">
              <a:buNone/>
            </a:pPr>
            <a:r>
              <a:rPr lang="en-US" sz="1500" b="1" dirty="0">
                <a:solidFill>
                  <a:srgbClr val="3182F6"/>
                </a:solidFill>
                <a:latin typeface="Arial Black" pitchFamily="34" charset="0"/>
                <a:ea typeface="Arial Black" pitchFamily="34" charset="-122"/>
                <a:cs typeface="Arial Black" pitchFamily="34" charset="-120"/>
              </a:rPr>
              <a:t>당일</a:t>
            </a:r>
            <a:endParaRPr lang="en-US" sz="1500" dirty="0"/>
          </a:p>
        </p:txBody>
      </p:sp>
      <p:sp>
        <p:nvSpPr>
          <p:cNvPr id="19" name="Text 16"/>
          <p:cNvSpPr txBox="1"/>
          <p:nvPr/>
        </p:nvSpPr>
        <p:spPr>
          <a:xfrm>
            <a:off x="2072640" y="5541264"/>
            <a:ext cx="883920" cy="274320"/>
          </a:xfrm>
          <a:prstGeom prst="rect">
            <a:avLst/>
          </a:prstGeom>
          <a:noFill/>
          <a:ln/>
        </p:spPr>
        <p:txBody>
          <a:bodyPr wrap="square" lIns="0" tIns="0" rIns="0" bIns="0" rtlCol="0" anchor="t"/>
          <a:lstStyle/>
          <a:p>
            <a:pPr algn="ctr" indent="0" marL="0">
              <a:buNone/>
            </a:pPr>
            <a:r>
              <a:rPr lang="en-US" sz="850" dirty="0">
                <a:solidFill>
                  <a:srgbClr val="475569"/>
                </a:solidFill>
                <a:latin typeface="Malgun Gothic" pitchFamily="34" charset="0"/>
                <a:ea typeface="Malgun Gothic" pitchFamily="34" charset="-122"/>
                <a:cs typeface="Malgun Gothic" pitchFamily="34" charset="-120"/>
              </a:rPr>
              <a:t>긴급 렌탈 가능</a:t>
            </a:r>
            <a:endParaRPr lang="en-US" sz="850" dirty="0"/>
          </a:p>
        </p:txBody>
      </p:sp>
      <p:sp>
        <p:nvSpPr>
          <p:cNvPr id="20" name="Shape 17"/>
          <p:cNvSpPr/>
          <p:nvPr/>
        </p:nvSpPr>
        <p:spPr>
          <a:xfrm>
            <a:off x="3093720" y="5029200"/>
            <a:ext cx="975360" cy="868680"/>
          </a:xfrm>
          <a:prstGeom prst="roundRect">
            <a:avLst>
              <a:gd name="adj" fmla="val 10526"/>
            </a:avLst>
          </a:prstGeom>
          <a:solidFill>
            <a:srgbClr val="EAF2FF"/>
          </a:solidFill>
          <a:ln w="12700">
            <a:solidFill>
              <a:srgbClr val="EAF2FF"/>
            </a:solidFill>
            <a:prstDash val="solid"/>
          </a:ln>
        </p:spPr>
      </p:sp>
      <p:sp>
        <p:nvSpPr>
          <p:cNvPr id="21" name="Text 18"/>
          <p:cNvSpPr txBox="1"/>
          <p:nvPr/>
        </p:nvSpPr>
        <p:spPr>
          <a:xfrm>
            <a:off x="3139440" y="5138928"/>
            <a:ext cx="883920" cy="411480"/>
          </a:xfrm>
          <a:prstGeom prst="rect">
            <a:avLst/>
          </a:prstGeom>
          <a:noFill/>
          <a:ln/>
        </p:spPr>
        <p:txBody>
          <a:bodyPr wrap="square" lIns="0" tIns="0" rIns="0" bIns="0" rtlCol="0" anchor="t"/>
          <a:lstStyle/>
          <a:p>
            <a:pPr algn="ctr" indent="0" marL="0">
              <a:buNone/>
            </a:pPr>
            <a:r>
              <a:rPr lang="en-US" sz="1500" b="1" dirty="0">
                <a:solidFill>
                  <a:srgbClr val="3182F6"/>
                </a:solidFill>
                <a:latin typeface="Arial Black" pitchFamily="34" charset="0"/>
                <a:ea typeface="Arial Black" pitchFamily="34" charset="-122"/>
                <a:cs typeface="Arial Black" pitchFamily="34" charset="-120"/>
              </a:rPr>
              <a:t>100%</a:t>
            </a:r>
            <a:endParaRPr lang="en-US" sz="1500" dirty="0"/>
          </a:p>
        </p:txBody>
      </p:sp>
      <p:sp>
        <p:nvSpPr>
          <p:cNvPr id="22" name="Text 19"/>
          <p:cNvSpPr txBox="1"/>
          <p:nvPr/>
        </p:nvSpPr>
        <p:spPr>
          <a:xfrm>
            <a:off x="3139440" y="5541264"/>
            <a:ext cx="883920" cy="274320"/>
          </a:xfrm>
          <a:prstGeom prst="rect">
            <a:avLst/>
          </a:prstGeom>
          <a:noFill/>
          <a:ln/>
        </p:spPr>
        <p:txBody>
          <a:bodyPr wrap="square" lIns="0" tIns="0" rIns="0" bIns="0" rtlCol="0" anchor="t"/>
          <a:lstStyle/>
          <a:p>
            <a:pPr algn="ctr" indent="0" marL="0">
              <a:buNone/>
            </a:pPr>
            <a:r>
              <a:rPr lang="en-US" sz="850" dirty="0">
                <a:solidFill>
                  <a:srgbClr val="475569"/>
                </a:solidFill>
                <a:latin typeface="Malgun Gothic" pitchFamily="34" charset="0"/>
                <a:ea typeface="Malgun Gothic" pitchFamily="34" charset="-122"/>
                <a:cs typeface="Malgun Gothic" pitchFamily="34" charset="-120"/>
              </a:rPr>
              <a:t>설치 인력 포함</a:t>
            </a:r>
            <a:endParaRPr lang="en-US" sz="850" dirty="0"/>
          </a:p>
        </p:txBody>
      </p:sp>
      <p:sp>
        <p:nvSpPr>
          <p:cNvPr id="23" name="Shape 20"/>
          <p:cNvSpPr/>
          <p:nvPr/>
        </p:nvSpPr>
        <p:spPr>
          <a:xfrm>
            <a:off x="4709160" y="2331720"/>
            <a:ext cx="2158898" cy="1828800"/>
          </a:xfrm>
          <a:prstGeom prst="roundRect">
            <a:avLst>
              <a:gd name="adj" fmla="val 5000"/>
            </a:avLst>
          </a:prstGeom>
          <a:solidFill>
            <a:srgbClr val="12305F"/>
          </a:solidFill>
          <a:ln w="12700">
            <a:solidFill>
              <a:srgbClr val="1F5FD0"/>
            </a:solidFill>
            <a:prstDash val="solid"/>
          </a:ln>
        </p:spPr>
      </p:sp>
      <p:sp>
        <p:nvSpPr>
          <p:cNvPr id="24" name="Text 21"/>
          <p:cNvSpPr txBox="1"/>
          <p:nvPr/>
        </p:nvSpPr>
        <p:spPr>
          <a:xfrm>
            <a:off x="4937760" y="251460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01</a:t>
            </a:r>
            <a:endParaRPr lang="en-US" sz="1000" dirty="0"/>
          </a:p>
        </p:txBody>
      </p:sp>
      <p:sp>
        <p:nvSpPr>
          <p:cNvPr id="25" name="Text 22"/>
          <p:cNvSpPr txBox="1"/>
          <p:nvPr/>
        </p:nvSpPr>
        <p:spPr>
          <a:xfrm>
            <a:off x="4892040" y="277063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부스 텐트 &amp; 구조물</a:t>
            </a:r>
            <a:endParaRPr lang="en-US" sz="1100" dirty="0"/>
          </a:p>
        </p:txBody>
      </p:sp>
      <p:sp>
        <p:nvSpPr>
          <p:cNvPr id="26" name="Text 23"/>
          <p:cNvSpPr txBox="1"/>
          <p:nvPr/>
        </p:nvSpPr>
        <p:spPr>
          <a:xfrm>
            <a:off x="4892040" y="315468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3×3m 파고라 텐트부터 대형 천막까지 다양한 규모의 부스 구조물을 렌탈합니다. 설치·철거 인력도 포함됩니다.</a:t>
            </a:r>
            <a:endParaRPr lang="en-US" sz="850" dirty="0"/>
          </a:p>
        </p:txBody>
      </p:sp>
      <p:sp>
        <p:nvSpPr>
          <p:cNvPr id="27" name="Shape 24"/>
          <p:cNvSpPr/>
          <p:nvPr/>
        </p:nvSpPr>
        <p:spPr>
          <a:xfrm>
            <a:off x="7050938" y="2331720"/>
            <a:ext cx="2158898" cy="1828800"/>
          </a:xfrm>
          <a:prstGeom prst="roundRect">
            <a:avLst>
              <a:gd name="adj" fmla="val 5000"/>
            </a:avLst>
          </a:prstGeom>
          <a:solidFill>
            <a:srgbClr val="12305F"/>
          </a:solidFill>
          <a:ln w="12700">
            <a:solidFill>
              <a:srgbClr val="1F5FD0"/>
            </a:solidFill>
            <a:prstDash val="solid"/>
          </a:ln>
        </p:spPr>
      </p:sp>
      <p:sp>
        <p:nvSpPr>
          <p:cNvPr id="28" name="Text 25"/>
          <p:cNvSpPr txBox="1"/>
          <p:nvPr/>
        </p:nvSpPr>
        <p:spPr>
          <a:xfrm>
            <a:off x="7279538" y="251460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02</a:t>
            </a:r>
            <a:endParaRPr lang="en-US" sz="1000" dirty="0"/>
          </a:p>
        </p:txBody>
      </p:sp>
      <p:sp>
        <p:nvSpPr>
          <p:cNvPr id="29" name="Text 26"/>
          <p:cNvSpPr txBox="1"/>
          <p:nvPr/>
        </p:nvSpPr>
        <p:spPr>
          <a:xfrm>
            <a:off x="7233818" y="277063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테이블 &amp; 의자</a:t>
            </a:r>
            <a:endParaRPr lang="en-US" sz="1100" dirty="0"/>
          </a:p>
        </p:txBody>
      </p:sp>
      <p:sp>
        <p:nvSpPr>
          <p:cNvPr id="30" name="Text 27"/>
          <p:cNvSpPr txBox="1"/>
          <p:nvPr/>
        </p:nvSpPr>
        <p:spPr>
          <a:xfrm>
            <a:off x="7233818" y="315468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접이식 테이블, 좌식 테이블, 바 테이블 등 행사 성격에 맞는 가구를 제공합니다. 셀러용·방문자용 모두 준비 가능합니다.</a:t>
            </a:r>
            <a:endParaRPr lang="en-US" sz="850" dirty="0"/>
          </a:p>
        </p:txBody>
      </p:sp>
      <p:sp>
        <p:nvSpPr>
          <p:cNvPr id="31" name="Shape 28"/>
          <p:cNvSpPr/>
          <p:nvPr/>
        </p:nvSpPr>
        <p:spPr>
          <a:xfrm>
            <a:off x="9392717" y="2331720"/>
            <a:ext cx="2158898" cy="1828800"/>
          </a:xfrm>
          <a:prstGeom prst="roundRect">
            <a:avLst>
              <a:gd name="adj" fmla="val 5000"/>
            </a:avLst>
          </a:prstGeom>
          <a:solidFill>
            <a:srgbClr val="12305F"/>
          </a:solidFill>
          <a:ln w="12700">
            <a:solidFill>
              <a:srgbClr val="1F5FD0"/>
            </a:solidFill>
            <a:prstDash val="solid"/>
          </a:ln>
        </p:spPr>
      </p:sp>
      <p:sp>
        <p:nvSpPr>
          <p:cNvPr id="32" name="Text 29"/>
          <p:cNvSpPr txBox="1"/>
          <p:nvPr/>
        </p:nvSpPr>
        <p:spPr>
          <a:xfrm>
            <a:off x="9621317" y="251460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03</a:t>
            </a:r>
            <a:endParaRPr lang="en-US" sz="1000" dirty="0"/>
          </a:p>
        </p:txBody>
      </p:sp>
      <p:sp>
        <p:nvSpPr>
          <p:cNvPr id="33" name="Text 30"/>
          <p:cNvSpPr txBox="1"/>
          <p:nvPr/>
        </p:nvSpPr>
        <p:spPr>
          <a:xfrm>
            <a:off x="9575597" y="277063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조명 장비</a:t>
            </a:r>
            <a:endParaRPr lang="en-US" sz="1100" dirty="0"/>
          </a:p>
        </p:txBody>
      </p:sp>
      <p:sp>
        <p:nvSpPr>
          <p:cNvPr id="34" name="Text 31"/>
          <p:cNvSpPr txBox="1"/>
          <p:nvPr/>
        </p:nvSpPr>
        <p:spPr>
          <a:xfrm>
            <a:off x="9575597" y="315468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LED 줄조명, 무드등, 스팟 조명, 투광등까지 야외·실내 행사 모두 대응 가능한 조명을 렌탈합니다.</a:t>
            </a:r>
            <a:endParaRPr lang="en-US" sz="850" dirty="0"/>
          </a:p>
        </p:txBody>
      </p:sp>
      <p:sp>
        <p:nvSpPr>
          <p:cNvPr id="35" name="Shape 32"/>
          <p:cNvSpPr/>
          <p:nvPr/>
        </p:nvSpPr>
        <p:spPr>
          <a:xfrm>
            <a:off x="4709160" y="4343400"/>
            <a:ext cx="2158898" cy="1828800"/>
          </a:xfrm>
          <a:prstGeom prst="roundRect">
            <a:avLst>
              <a:gd name="adj" fmla="val 5000"/>
            </a:avLst>
          </a:prstGeom>
          <a:solidFill>
            <a:srgbClr val="12305F"/>
          </a:solidFill>
          <a:ln w="12700">
            <a:solidFill>
              <a:srgbClr val="1F5FD0"/>
            </a:solidFill>
            <a:prstDash val="solid"/>
          </a:ln>
        </p:spPr>
      </p:sp>
      <p:sp>
        <p:nvSpPr>
          <p:cNvPr id="36" name="Text 33"/>
          <p:cNvSpPr txBox="1"/>
          <p:nvPr/>
        </p:nvSpPr>
        <p:spPr>
          <a:xfrm>
            <a:off x="4937760" y="452628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04</a:t>
            </a:r>
            <a:endParaRPr lang="en-US" sz="1000" dirty="0"/>
          </a:p>
        </p:txBody>
      </p:sp>
      <p:sp>
        <p:nvSpPr>
          <p:cNvPr id="37" name="Text 34"/>
          <p:cNvSpPr txBox="1"/>
          <p:nvPr/>
        </p:nvSpPr>
        <p:spPr>
          <a:xfrm>
            <a:off x="4892040" y="478231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배너 &amp; 간판 제작</a:t>
            </a:r>
            <a:endParaRPr lang="en-US" sz="1100" dirty="0"/>
          </a:p>
        </p:txBody>
      </p:sp>
      <p:sp>
        <p:nvSpPr>
          <p:cNvPr id="38" name="Text 35"/>
          <p:cNvSpPr txBox="1"/>
          <p:nvPr/>
        </p:nvSpPr>
        <p:spPr>
          <a:xfrm>
            <a:off x="4892040" y="516636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행사 현수막, X배너, 입간판, 포토존 배경판을 디자인부터 제작·설치까지 일괄 제공합니다.</a:t>
            </a:r>
            <a:endParaRPr lang="en-US" sz="850" dirty="0"/>
          </a:p>
        </p:txBody>
      </p:sp>
      <p:sp>
        <p:nvSpPr>
          <p:cNvPr id="39" name="Shape 36"/>
          <p:cNvSpPr/>
          <p:nvPr/>
        </p:nvSpPr>
        <p:spPr>
          <a:xfrm>
            <a:off x="7050938" y="4343400"/>
            <a:ext cx="2158898" cy="1828800"/>
          </a:xfrm>
          <a:prstGeom prst="roundRect">
            <a:avLst>
              <a:gd name="adj" fmla="val 5000"/>
            </a:avLst>
          </a:prstGeom>
          <a:solidFill>
            <a:srgbClr val="12305F"/>
          </a:solidFill>
          <a:ln w="12700">
            <a:solidFill>
              <a:srgbClr val="1F5FD0"/>
            </a:solidFill>
            <a:prstDash val="solid"/>
          </a:ln>
        </p:spPr>
      </p:sp>
      <p:sp>
        <p:nvSpPr>
          <p:cNvPr id="40" name="Text 37"/>
          <p:cNvSpPr txBox="1"/>
          <p:nvPr/>
        </p:nvSpPr>
        <p:spPr>
          <a:xfrm>
            <a:off x="7279538" y="452628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05</a:t>
            </a:r>
            <a:endParaRPr lang="en-US" sz="1000" dirty="0"/>
          </a:p>
        </p:txBody>
      </p:sp>
      <p:sp>
        <p:nvSpPr>
          <p:cNvPr id="41" name="Text 38"/>
          <p:cNvSpPr txBox="1"/>
          <p:nvPr/>
        </p:nvSpPr>
        <p:spPr>
          <a:xfrm>
            <a:off x="7233818" y="478231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전기 설비 &amp; 멀티탭</a:t>
            </a:r>
            <a:endParaRPr lang="en-US" sz="1100" dirty="0"/>
          </a:p>
        </p:txBody>
      </p:sp>
      <p:sp>
        <p:nvSpPr>
          <p:cNvPr id="42" name="Text 39"/>
          <p:cNvSpPr txBox="1"/>
          <p:nvPr/>
        </p:nvSpPr>
        <p:spPr>
          <a:xfrm>
            <a:off x="7233818" y="516636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행사 현장 전기 분배기, 멀티탭, 연장 코드를 안전 규격에 맞게 제공하고 설치합니다.</a:t>
            </a:r>
            <a:endParaRPr lang="en-US" sz="850" dirty="0"/>
          </a:p>
        </p:txBody>
      </p:sp>
      <p:sp>
        <p:nvSpPr>
          <p:cNvPr id="43" name="Shape 40"/>
          <p:cNvSpPr/>
          <p:nvPr/>
        </p:nvSpPr>
        <p:spPr>
          <a:xfrm>
            <a:off x="9392717" y="4343400"/>
            <a:ext cx="2158898" cy="1828800"/>
          </a:xfrm>
          <a:prstGeom prst="roundRect">
            <a:avLst>
              <a:gd name="adj" fmla="val 5000"/>
            </a:avLst>
          </a:prstGeom>
          <a:solidFill>
            <a:srgbClr val="12305F"/>
          </a:solidFill>
          <a:ln w="12700">
            <a:solidFill>
              <a:srgbClr val="1F5FD0"/>
            </a:solidFill>
            <a:prstDash val="solid"/>
          </a:ln>
        </p:spPr>
      </p:sp>
      <p:sp>
        <p:nvSpPr>
          <p:cNvPr id="44" name="Text 41"/>
          <p:cNvSpPr txBox="1"/>
          <p:nvPr/>
        </p:nvSpPr>
        <p:spPr>
          <a:xfrm>
            <a:off x="9621317" y="4526280"/>
            <a:ext cx="548640" cy="274320"/>
          </a:xfrm>
          <a:prstGeom prst="rect">
            <a:avLst/>
          </a:prstGeom>
          <a:noFill/>
          <a:ln/>
        </p:spPr>
        <p:txBody>
          <a:bodyPr wrap="square" lIns="0" tIns="0" rIns="0" bIns="0" rtlCol="0" anchor="t"/>
          <a:lstStyle/>
          <a:p>
            <a:pPr indent="0" marL="0">
              <a:buNone/>
            </a:pPr>
            <a:r>
              <a:rPr lang="en-US" sz="1000" b="1" dirty="0">
                <a:solidFill>
                  <a:srgbClr val="93C5FD"/>
                </a:solidFill>
                <a:latin typeface="Arial Black" pitchFamily="34" charset="0"/>
                <a:ea typeface="Arial Black" pitchFamily="34" charset="-122"/>
                <a:cs typeface="Arial Black" pitchFamily="34" charset="-120"/>
              </a:rPr>
              <a:t>06</a:t>
            </a:r>
            <a:endParaRPr lang="en-US" sz="1000" dirty="0"/>
          </a:p>
        </p:txBody>
      </p:sp>
      <p:sp>
        <p:nvSpPr>
          <p:cNvPr id="45" name="Text 42"/>
          <p:cNvSpPr txBox="1"/>
          <p:nvPr/>
        </p:nvSpPr>
        <p:spPr>
          <a:xfrm>
            <a:off x="9575597" y="4782312"/>
            <a:ext cx="1793138" cy="329184"/>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렌탈 전용 패키지</a:t>
            </a:r>
            <a:endParaRPr lang="en-US" sz="1100" dirty="0"/>
          </a:p>
        </p:txBody>
      </p:sp>
      <p:sp>
        <p:nvSpPr>
          <p:cNvPr id="46" name="Text 43"/>
          <p:cNvSpPr txBox="1"/>
          <p:nvPr/>
        </p:nvSpPr>
        <p:spPr>
          <a:xfrm>
            <a:off x="9575597" y="5166360"/>
            <a:ext cx="1793138" cy="914400"/>
          </a:xfrm>
          <a:prstGeom prst="rect">
            <a:avLst/>
          </a:prstGeom>
          <a:noFill/>
          <a:ln/>
        </p:spPr>
        <p:txBody>
          <a:bodyPr wrap="square" lIns="0" tIns="0" rIns="0" bIns="0" rtlCol="0" anchor="t"/>
          <a:lstStyle/>
          <a:p>
            <a:pPr indent="0" marL="0">
              <a:lnSpc>
                <a:spcPct val="120000"/>
              </a:lnSpc>
              <a:buNone/>
            </a:pPr>
            <a:r>
              <a:rPr lang="en-US" sz="850" dirty="0">
                <a:solidFill>
                  <a:srgbClr val="D6E4F8"/>
                </a:solidFill>
                <a:latin typeface="Malgun Gothic" pitchFamily="34" charset="0"/>
                <a:ea typeface="Malgun Gothic" pitchFamily="34" charset="-122"/>
                <a:cs typeface="Malgun Gothic" pitchFamily="34" charset="-120"/>
              </a:rPr>
              <a:t>행사 규모에 맞는 렌탈 패키지를 구성해 드립니다. 운영 대행과 함께 신청 시 패키지 할인이 적용됩니다.</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F44"/>
        </a:solidFill>
      </p:bgPr>
    </p:bg>
    <p:spTree>
      <p:nvGrpSpPr>
        <p:cNvPr id="1" name=""/>
        <p:cNvGrpSpPr/>
        <p:nvPr/>
      </p:nvGrpSpPr>
      <p:grpSpPr>
        <a:xfrm>
          <a:off x="0" y="0"/>
          <a:ext cx="0" cy="0"/>
          <a:chOff x="0" y="0"/>
          <a:chExt cx="0" cy="0"/>
        </a:xfrm>
      </p:grpSpPr>
      <p:sp>
        <p:nvSpPr>
          <p:cNvPr id="2" name="Shape 0"/>
          <p:cNvSpPr/>
          <p:nvPr/>
        </p:nvSpPr>
        <p:spPr>
          <a:xfrm>
            <a:off x="9265615" y="-2377440"/>
            <a:ext cx="5120640" cy="5120640"/>
          </a:xfrm>
          <a:prstGeom prst="ellipse">
            <a:avLst/>
          </a:prstGeom>
          <a:solidFill>
            <a:srgbClr val="12305F"/>
          </a:solidFill>
          <a:ln w="12700">
            <a:solidFill>
              <a:srgbClr val="12305F"/>
            </a:solidFill>
            <a:prstDash val="solid"/>
          </a:ln>
        </p:spPr>
      </p:sp>
      <p:sp>
        <p:nvSpPr>
          <p:cNvPr id="3" name="Shape 1"/>
          <p:cNvSpPr/>
          <p:nvPr/>
        </p:nvSpPr>
        <p:spPr>
          <a:xfrm>
            <a:off x="-1645920" y="5029200"/>
            <a:ext cx="3657600" cy="3657600"/>
          </a:xfrm>
          <a:prstGeom prst="ellipse">
            <a:avLst/>
          </a:prstGeom>
          <a:solidFill>
            <a:srgbClr val="12305F"/>
          </a:solidFill>
          <a:ln w="12700">
            <a:solidFill>
              <a:srgbClr val="12305F"/>
            </a:solidFill>
            <a:prstDash val="solid"/>
          </a:ln>
        </p:spPr>
      </p:sp>
      <p:sp>
        <p:nvSpPr>
          <p:cNvPr id="4" name="Text 2"/>
          <p:cNvSpPr txBox="1"/>
          <p:nvPr/>
        </p:nvSpPr>
        <p:spPr>
          <a:xfrm>
            <a:off x="640080" y="384048"/>
            <a:ext cx="1155700" cy="266700"/>
          </a:xfrm>
          <a:prstGeom prst="rect">
            <a:avLst/>
          </a:prstGeom>
          <a:noFill/>
          <a:ln/>
        </p:spPr>
        <p:txBody>
          <a:bodyPr wrap="square" lIns="0" tIns="0" rIns="0" bIns="0" rtlCol="0" anchor="ctr"/>
          <a:lstStyle/>
          <a:p>
            <a:pPr indent="0" marL="0">
              <a:buNone/>
            </a:pPr>
            <a:r>
              <a:rPr lang="en-US" sz="1400" b="1" dirty="0">
                <a:solidFill>
                  <a:srgbClr val="3182F6"/>
                </a:solidFill>
                <a:latin typeface="Arial Black" pitchFamily="34" charset="0"/>
                <a:ea typeface="Arial Black" pitchFamily="34" charset="-122"/>
                <a:cs typeface="Arial Black" pitchFamily="34" charset="-120"/>
              </a:rPr>
              <a:t>Flit</a:t>
            </a:r>
            <a:pPr indent="0" marL="0">
              <a:buNone/>
            </a:pPr>
            <a:r>
              <a:rPr lang="en-US" sz="1400" b="1" dirty="0">
                <a:solidFill>
                  <a:srgbClr val="FFFFFF"/>
                </a:solidFill>
                <a:latin typeface="Arial Black" pitchFamily="34" charset="0"/>
                <a:ea typeface="Arial Black" pitchFamily="34" charset="-122"/>
                <a:cs typeface="Arial Black" pitchFamily="34" charset="-120"/>
              </a:rPr>
              <a:t>Union</a:t>
            </a:r>
            <a:endParaRPr lang="en-US" sz="1400" dirty="0"/>
          </a:p>
        </p:txBody>
      </p:sp>
      <p:sp>
        <p:nvSpPr>
          <p:cNvPr id="5" name="Text 3"/>
          <p:cNvSpPr txBox="1"/>
          <p:nvPr/>
        </p:nvSpPr>
        <p:spPr>
          <a:xfrm>
            <a:off x="640080" y="868680"/>
            <a:ext cx="5486400" cy="274320"/>
          </a:xfrm>
          <a:prstGeom prst="rect">
            <a:avLst/>
          </a:prstGeom>
          <a:noFill/>
          <a:ln/>
        </p:spPr>
        <p:txBody>
          <a:bodyPr wrap="square" lIns="0" tIns="0" rIns="0" bIns="0" rtlCol="0" anchor="t"/>
          <a:lstStyle/>
          <a:p>
            <a:pPr indent="0" marL="0">
              <a:buNone/>
            </a:pPr>
            <a:r>
              <a:rPr lang="en-US" sz="1100" b="1" spc="300" kern="0" dirty="0">
                <a:solidFill>
                  <a:srgbClr val="93C5FD"/>
                </a:solidFill>
                <a:latin typeface="Malgun Gothic" pitchFamily="34" charset="0"/>
                <a:ea typeface="Malgun Gothic" pitchFamily="34" charset="-122"/>
                <a:cs typeface="Malgun Gothic" pitchFamily="34" charset="-120"/>
              </a:rPr>
              <a:t>06  WHY FLIT UNION</a:t>
            </a:r>
            <a:endParaRPr lang="en-US" sz="1100" dirty="0"/>
          </a:p>
        </p:txBody>
      </p:sp>
      <p:sp>
        <p:nvSpPr>
          <p:cNvPr id="6" name="Text 4"/>
          <p:cNvSpPr txBox="1"/>
          <p:nvPr/>
        </p:nvSpPr>
        <p:spPr>
          <a:xfrm>
            <a:off x="640080" y="1143000"/>
            <a:ext cx="10911535" cy="594360"/>
          </a:xfrm>
          <a:prstGeom prst="rect">
            <a:avLst/>
          </a:prstGeom>
          <a:noFill/>
          <a:ln/>
        </p:spPr>
        <p:txBody>
          <a:bodyPr wrap="square" lIns="0" tIns="0" rIns="0" bIns="0" rtlCol="0" anchor="t"/>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플릿의 차별점</a:t>
            </a:r>
            <a:endParaRPr lang="en-US" sz="2800" dirty="0"/>
          </a:p>
        </p:txBody>
      </p:sp>
      <p:sp>
        <p:nvSpPr>
          <p:cNvPr id="7" name="Text 5"/>
          <p:cNvSpPr txBox="1"/>
          <p:nvPr/>
        </p:nvSpPr>
        <p:spPr>
          <a:xfrm>
            <a:off x="640080" y="1737360"/>
            <a:ext cx="10911535" cy="411480"/>
          </a:xfrm>
          <a:prstGeom prst="rect">
            <a:avLst/>
          </a:prstGeom>
          <a:noFill/>
          <a:ln/>
        </p:spPr>
        <p:txBody>
          <a:bodyPr wrap="square" lIns="0" tIns="0" rIns="0" bIns="0" rtlCol="0" anchor="t"/>
          <a:lstStyle/>
          <a:p>
            <a:pPr indent="0" marL="0">
              <a:buNone/>
            </a:pPr>
            <a:r>
              <a:rPr lang="en-US" sz="1300" dirty="0">
                <a:solidFill>
                  <a:srgbClr val="D6E4F8"/>
                </a:solidFill>
                <a:latin typeface="Malgun Gothic" pitchFamily="34" charset="0"/>
                <a:ea typeface="Malgun Gothic" pitchFamily="34" charset="-122"/>
                <a:cs typeface="Malgun Gothic" pitchFamily="34" charset="-120"/>
              </a:rPr>
              <a:t>직접 운영하는 셀러 플랫폼 '플릿(Flit)'의 데이터가 행사의 품질을 보증합니다.</a:t>
            </a:r>
            <a:endParaRPr lang="en-US" sz="1300" dirty="0"/>
          </a:p>
        </p:txBody>
      </p:sp>
      <p:sp>
        <p:nvSpPr>
          <p:cNvPr id="8" name="Text 6"/>
          <p:cNvSpPr txBox="1"/>
          <p:nvPr/>
        </p:nvSpPr>
        <p:spPr>
          <a:xfrm>
            <a:off x="640080" y="6400800"/>
            <a:ext cx="3657600" cy="228600"/>
          </a:xfrm>
          <a:prstGeom prst="rect">
            <a:avLst/>
          </a:prstGeom>
          <a:noFill/>
          <a:ln/>
        </p:spPr>
        <p:txBody>
          <a:bodyPr wrap="square" lIns="0" tIns="0" rIns="0" bIns="0" rtlCol="0" anchor="t"/>
          <a:lstStyle/>
          <a:p>
            <a:pPr indent="0" marL="0">
              <a:buNone/>
            </a:pPr>
            <a:r>
              <a:rPr lang="en-US" sz="900" dirty="0">
                <a:solidFill>
                  <a:srgbClr val="94A3B8"/>
                </a:solidFill>
                <a:latin typeface="Malgun Gothic" pitchFamily="34" charset="0"/>
                <a:ea typeface="Malgun Gothic" pitchFamily="34" charset="-122"/>
                <a:cs typeface="Malgun Gothic" pitchFamily="34" charset="-120"/>
              </a:rPr>
              <a:t>플릿 유니온 회사소개서</a:t>
            </a:r>
            <a:endParaRPr lang="en-US" sz="900" dirty="0"/>
          </a:p>
        </p:txBody>
      </p:sp>
      <p:sp>
        <p:nvSpPr>
          <p:cNvPr id="9" name="Text 7"/>
          <p:cNvSpPr txBox="1"/>
          <p:nvPr/>
        </p:nvSpPr>
        <p:spPr>
          <a:xfrm>
            <a:off x="10637215" y="6400800"/>
            <a:ext cx="914400" cy="228600"/>
          </a:xfrm>
          <a:prstGeom prst="rect">
            <a:avLst/>
          </a:prstGeom>
          <a:noFill/>
          <a:ln/>
        </p:spPr>
        <p:txBody>
          <a:bodyPr wrap="square" lIns="0" tIns="0" rIns="0" bIns="0" rtlCol="0" anchor="t"/>
          <a:lstStyle/>
          <a:p>
            <a:pPr algn="r" indent="0" marL="0">
              <a:buNone/>
            </a:pPr>
            <a:r>
              <a:rPr lang="en-US" sz="900" dirty="0">
                <a:solidFill>
                  <a:srgbClr val="94A3B8"/>
                </a:solidFill>
                <a:latin typeface="Malgun Gothic" pitchFamily="34" charset="0"/>
                <a:ea typeface="Malgun Gothic" pitchFamily="34" charset="-122"/>
                <a:cs typeface="Malgun Gothic" pitchFamily="34" charset="-120"/>
              </a:rPr>
              <a:t>15</a:t>
            </a:r>
            <a:endParaRPr lang="en-US" sz="900" dirty="0"/>
          </a:p>
        </p:txBody>
      </p:sp>
      <p:sp>
        <p:nvSpPr>
          <p:cNvPr id="10" name="Shape 8"/>
          <p:cNvSpPr/>
          <p:nvPr/>
        </p:nvSpPr>
        <p:spPr>
          <a:xfrm>
            <a:off x="640080" y="2331720"/>
            <a:ext cx="3931920" cy="3840480"/>
          </a:xfrm>
          <a:prstGeom prst="roundRect">
            <a:avLst>
              <a:gd name="adj" fmla="val 2381"/>
            </a:avLst>
          </a:prstGeom>
          <a:solidFill>
            <a:srgbClr val="3182F6"/>
          </a:solidFill>
          <a:ln w="12700">
            <a:solidFill>
              <a:srgbClr val="3182F6"/>
            </a:solidFill>
            <a:prstDash val="solid"/>
          </a:ln>
        </p:spPr>
      </p:sp>
      <p:sp>
        <p:nvSpPr>
          <p:cNvPr id="11" name="Shape 9"/>
          <p:cNvSpPr/>
          <p:nvPr/>
        </p:nvSpPr>
        <p:spPr>
          <a:xfrm>
            <a:off x="960120" y="2651760"/>
            <a:ext cx="594360" cy="594360"/>
          </a:xfrm>
          <a:prstGeom prst="ellipse">
            <a:avLst/>
          </a:prstGeom>
          <a:solidFill>
            <a:srgbClr val="FFFFFF"/>
          </a:solidFill>
          <a:ln w="12700">
            <a:solidFill>
              <a:srgbClr val="FFFFFF"/>
            </a:solidFill>
            <a:prstDash val="solid"/>
          </a:ln>
        </p:spPr>
      </p:sp>
      <p:pic>
        <p:nvPicPr>
          <p:cNvPr id="12" name="Image 0" descr="preencoded.png">    </p:cNvPr>
          <p:cNvPicPr>
            <a:picLocks noChangeAspect="1"/>
          </p:cNvPicPr>
          <p:nvPr/>
        </p:nvPicPr>
        <p:blipFill>
          <a:blip r:embed="rId1"/>
          <a:stretch>
            <a:fillRect/>
          </a:stretch>
        </p:blipFill>
        <p:spPr>
          <a:xfrm>
            <a:off x="1108710" y="2800350"/>
            <a:ext cx="297180" cy="297180"/>
          </a:xfrm>
          <a:prstGeom prst="rect">
            <a:avLst/>
          </a:prstGeom>
        </p:spPr>
      </p:pic>
      <p:sp>
        <p:nvSpPr>
          <p:cNvPr id="13" name="Text 10"/>
          <p:cNvSpPr txBox="1"/>
          <p:nvPr/>
        </p:nvSpPr>
        <p:spPr>
          <a:xfrm>
            <a:off x="960120" y="3383280"/>
            <a:ext cx="3291840" cy="320040"/>
          </a:xfrm>
          <a:prstGeom prst="rect">
            <a:avLst/>
          </a:prstGeom>
          <a:noFill/>
          <a:ln/>
        </p:spPr>
        <p:txBody>
          <a:bodyPr wrap="square" lIns="0" tIns="0" rIns="0" bIns="0" rtlCol="0" anchor="t"/>
          <a:lstStyle/>
          <a:p>
            <a:pPr indent="0" marL="0">
              <a:buNone/>
            </a:pPr>
            <a:r>
              <a:rPr lang="en-US" sz="1600" b="1" dirty="0">
                <a:solidFill>
                  <a:srgbClr val="FFFFFF"/>
                </a:solidFill>
                <a:latin typeface="Malgun Gothic" pitchFamily="34" charset="0"/>
                <a:ea typeface="Malgun Gothic" pitchFamily="34" charset="-122"/>
                <a:cs typeface="Malgun Gothic" pitchFamily="34" charset="-120"/>
              </a:rPr>
              <a:t>플릿(Flit) 셀러 플랫폼</a:t>
            </a:r>
            <a:endParaRPr lang="en-US" sz="1600" dirty="0"/>
          </a:p>
        </p:txBody>
      </p:sp>
      <p:sp>
        <p:nvSpPr>
          <p:cNvPr id="14" name="Text 11"/>
          <p:cNvSpPr txBox="1"/>
          <p:nvPr/>
        </p:nvSpPr>
        <p:spPr>
          <a:xfrm>
            <a:off x="960120" y="3703320"/>
            <a:ext cx="3291840" cy="274320"/>
          </a:xfrm>
          <a:prstGeom prst="rect">
            <a:avLst/>
          </a:prstGeom>
          <a:noFill/>
          <a:ln/>
        </p:spPr>
        <p:txBody>
          <a:bodyPr wrap="square" lIns="0" tIns="0" rIns="0" bIns="0" rtlCol="0" anchor="t"/>
          <a:lstStyle/>
          <a:p>
            <a:pPr indent="0" marL="0">
              <a:buNone/>
            </a:pPr>
            <a:r>
              <a:rPr lang="en-US" sz="1050" dirty="0">
                <a:solidFill>
                  <a:srgbClr val="D6E4F8"/>
                </a:solidFill>
                <a:latin typeface="Malgun Gothic" pitchFamily="34" charset="0"/>
                <a:ea typeface="Malgun Gothic" pitchFamily="34" charset="-122"/>
                <a:cs typeface="Malgun Gothic" pitchFamily="34" charset="-120"/>
              </a:rPr>
              <a:t>app.flitunion.com</a:t>
            </a:r>
            <a:endParaRPr lang="en-US" sz="1050" dirty="0"/>
          </a:p>
        </p:txBody>
      </p:sp>
      <p:sp>
        <p:nvSpPr>
          <p:cNvPr id="15" name="Text 12"/>
          <p:cNvSpPr txBox="1"/>
          <p:nvPr/>
        </p:nvSpPr>
        <p:spPr>
          <a:xfrm>
            <a:off x="960120" y="4160520"/>
            <a:ext cx="3383280" cy="1920240"/>
          </a:xfrm>
          <a:prstGeom prst="rect">
            <a:avLst/>
          </a:prstGeom>
          <a:noFill/>
          <a:ln/>
        </p:spPr>
        <p:txBody>
          <a:bodyPr wrap="square" lIns="0" tIns="0" rIns="0" bIns="0" rtlCol="0" anchor="t"/>
          <a:lstStyle/>
          <a:p>
            <a:pPr marL="342900" indent="-342900">
              <a:lnSpc>
                <a:spcPct val="120000"/>
              </a:lnSpc>
              <a:spcAft>
                <a:spcPts val="600"/>
              </a:spcAft>
              <a:buSzPct val="100000"/>
              <a:buChar char="■"/>
            </a:pPr>
            <a:r>
              <a:rPr lang="en-US" sz="1050" dirty="0">
                <a:solidFill>
                  <a:srgbClr val="FFFFFF"/>
                </a:solidFill>
                <a:latin typeface="Malgun Gothic" pitchFamily="34" charset="0"/>
                <a:ea typeface="Malgun Gothic" pitchFamily="34" charset="-122"/>
                <a:cs typeface="Malgun Gothic" pitchFamily="34" charset="-120"/>
              </a:rPr>
              <a:t>플리마켓·푸드트럭 셀러가 행사 정보를 찾고 참가 기록을 남기는 플랫폼</a:t>
            </a:r>
            <a:endParaRPr lang="en-US" sz="1050" dirty="0"/>
          </a:p>
          <a:p>
            <a:pPr marL="342900" indent="-342900">
              <a:lnSpc>
                <a:spcPct val="120000"/>
              </a:lnSpc>
              <a:spcAft>
                <a:spcPts val="600"/>
              </a:spcAft>
              <a:buSzPct val="100000"/>
              <a:buChar char="■"/>
            </a:pPr>
            <a:r>
              <a:rPr lang="en-US" sz="1050" dirty="0">
                <a:solidFill>
                  <a:srgbClr val="FFFFFF"/>
                </a:solidFill>
                <a:latin typeface="Malgun Gothic" pitchFamily="34" charset="0"/>
                <a:ea typeface="Malgun Gothic" pitchFamily="34" charset="-122"/>
                <a:cs typeface="Malgun Gothic" pitchFamily="34" charset="-120"/>
              </a:rPr>
              <a:t>셀러의 리뷰 점수, 참가 이력, 매출 기록이 축적됩니다</a:t>
            </a:r>
            <a:endParaRPr lang="en-US" sz="1050" dirty="0"/>
          </a:p>
          <a:p>
            <a:pPr marL="342900" indent="-342900">
              <a:lnSpc>
                <a:spcPct val="120000"/>
              </a:lnSpc>
              <a:spcAft>
                <a:spcPts val="600"/>
              </a:spcAft>
              <a:buSzPct val="100000"/>
              <a:buChar char="■"/>
            </a:pPr>
            <a:r>
              <a:rPr lang="en-US" sz="1050" dirty="0">
                <a:solidFill>
                  <a:srgbClr val="FFFFFF"/>
                </a:solidFill>
                <a:latin typeface="Malgun Gothic" pitchFamily="34" charset="0"/>
                <a:ea typeface="Malgun Gothic" pitchFamily="34" charset="-122"/>
                <a:cs typeface="Malgun Gothic" pitchFamily="34" charset="-120"/>
              </a:rPr>
              <a:t>축적된 데이터를 근거로 행사 콘셉트에 맞는 셀러를 선발합니다</a:t>
            </a:r>
            <a:endParaRPr lang="en-US" sz="1050" dirty="0"/>
          </a:p>
          <a:p>
            <a:pPr marL="342900" indent="-342900">
              <a:lnSpc>
                <a:spcPct val="120000"/>
              </a:lnSpc>
              <a:spcAft>
                <a:spcPts val="600"/>
              </a:spcAft>
              <a:buSzPct val="100000"/>
              <a:buChar char="■"/>
            </a:pPr>
            <a:r>
              <a:rPr lang="en-US" sz="1050" dirty="0">
                <a:solidFill>
                  <a:srgbClr val="FFFFFF"/>
                </a:solidFill>
                <a:latin typeface="Malgun Gothic" pitchFamily="34" charset="0"/>
                <a:ea typeface="Malgun Gothic" pitchFamily="34" charset="-122"/>
                <a:cs typeface="Malgun Gothic" pitchFamily="34" charset="-120"/>
              </a:rPr>
              <a:t>모집 공고가 플랫폼에 게시되어 별도 홍보 비용 없이 셀러가 모집됩니다</a:t>
            </a:r>
            <a:endParaRPr lang="en-US" sz="10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892040" y="2331720"/>
          <a:ext cx="6659575" cy="914400"/>
        </p:xfrm>
        <a:graphic>
          <a:graphicData uri="http://schemas.openxmlformats.org/drawingml/2006/table">
            <a:tbl>
              <a:tblPr/>
              <a:tblGrid>
                <a:gridCol w="1188720"/>
                <a:gridCol w="2735428"/>
                <a:gridCol w="2735428"/>
              </a:tblGrid>
              <a:tr h="411480">
                <a:tc>
                  <a:txBody>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구분</a:t>
                      </a:r>
                      <a:endParaRPr lang="en-US" sz="1100" dirty="0">
                        <a:latin typeface="Malgun Gothic" charset="0"/>
                        <a:ea typeface="Malgun Gothic" charset="0"/>
                        <a:cs typeface="Malgun Gothic" charset="0"/>
                      </a:endParaRPr>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5FD0"/>
                    </a:solidFill>
                  </a:tcPr>
                </a:tc>
                <a:tc>
                  <a:txBody>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일반 모집 방식</a:t>
                      </a:r>
                      <a:endParaRPr lang="en-US" sz="1100" dirty="0">
                        <a:latin typeface="Malgun Gothic" charset="0"/>
                        <a:ea typeface="Malgun Gothic" charset="0"/>
                        <a:cs typeface="Malgun Gothic" charset="0"/>
                      </a:endParaRPr>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5FD0"/>
                    </a:solidFill>
                  </a:tcPr>
                </a:tc>
                <a:tc>
                  <a:txBody>
                    <a:bodyP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플릿 유니온</a:t>
                      </a:r>
                      <a:endParaRPr lang="en-US" sz="1100" dirty="0">
                        <a:latin typeface="Malgun Gothic" charset="0"/>
                        <a:ea typeface="Malgun Gothic" charset="0"/>
                        <a:cs typeface="Malgun Gothic" charset="0"/>
                      </a:endParaRPr>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5FD0"/>
                    </a:solidFill>
                  </a:tcPr>
                </a:tc>
              </a:tr>
              <a:tr h="685800">
                <a:tc>
                  <a:txBody>
                    <a:bodyPr/>
                    <a:lstStyle/>
                    <a:p>
                      <a:pPr indent="0" marL="0">
                        <a:buNone/>
                      </a:pPr>
                      <a:r>
                        <a:rPr lang="en-US" sz="1050" b="1" dirty="0">
                          <a:solidFill>
                            <a:srgbClr val="0F172A"/>
                          </a:solidFill>
                          <a:latin typeface="Malgun Gothic" pitchFamily="34" charset="0"/>
                          <a:ea typeface="Malgun Gothic" pitchFamily="34" charset="-122"/>
                          <a:cs typeface="Malgun Gothic" pitchFamily="34" charset="-120"/>
                        </a:rPr>
                        <a:t>셀러 검증</a:t>
                      </a:r>
                      <a:endParaRPr lang="en-US" sz="1050" dirty="0">
                        <a:latin typeface="Malgun Gothic" charset="0"/>
                        <a:ea typeface="Malgun Gothic" charset="0"/>
                        <a:cs typeface="Malgun Gothic" charset="0"/>
                      </a:endParaRPr>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AF2FF"/>
                    </a:solidFill>
                  </a:tcPr>
                </a:tc>
                <a:tc>
                  <a:txBody>
                    <a:bodyPr/>
                    <a:lstStyle/>
                    <a:p>
                      <a:pPr indent="0" marL="0">
                        <a:buNone/>
                      </a:pPr>
                      <a:r>
                        <a:rPr lang="en-US" sz="1000" dirty="0">
                          <a:solidFill>
                            <a:srgbClr val="475569"/>
                          </a:solidFill>
                          <a:latin typeface="Malgun Gothic" pitchFamily="34" charset="0"/>
                          <a:ea typeface="Malgun Gothic" pitchFamily="34" charset="-122"/>
                          <a:cs typeface="Malgun Gothic" pitchFamily="34" charset="-120"/>
                        </a:rPr>
                        <a:t>SNS 지원자의 실제 품질·성실도를 사전에 확인하기 어렵습니다.</a:t>
                      </a:r>
                      <a:endParaRPr lang="en-US" sz="1000" dirty="0">
                        <a:latin typeface="Malgun Gothic" charset="0"/>
                        <a:ea typeface="Malgun Gothic" charset="0"/>
                        <a:cs typeface="Malgun Gothic" charset="0"/>
                      </a:endParaRPr>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b="1" dirty="0">
                          <a:solidFill>
                            <a:srgbClr val="0F172A"/>
                          </a:solidFill>
                          <a:latin typeface="Malgun Gothic" pitchFamily="34" charset="0"/>
                          <a:ea typeface="Malgun Gothic" pitchFamily="34" charset="-122"/>
                          <a:cs typeface="Malgun Gothic" pitchFamily="34" charset="-120"/>
                        </a:rPr>
                        <a:t>리뷰 점수와 참가 이력이 있는 셀러를 데이터 기반으로 선발합니다.</a:t>
                      </a:r>
                      <a:endParaRPr lang="en-US" sz="1000" dirty="0">
                        <a:latin typeface="Malgun Gothic" charset="0"/>
                        <a:ea typeface="Malgun Gothic" charset="0"/>
                        <a:cs typeface="Malgun Gothic" charset="0"/>
                      </a:endParaRPr>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5800">
                <a:tc>
                  <a:txBody>
                    <a:bodyPr/>
                    <a:lstStyle/>
                    <a:p>
                      <a:pPr indent="0" marL="0">
                        <a:buNone/>
                      </a:pPr>
                      <a:r>
                        <a:rPr lang="en-US" sz="1050" b="1" dirty="0">
                          <a:solidFill>
                            <a:srgbClr val="0F172A"/>
                          </a:solidFill>
                          <a:latin typeface="Malgun Gothic" pitchFamily="34" charset="0"/>
                          <a:ea typeface="Malgun Gothic" pitchFamily="34" charset="-122"/>
                          <a:cs typeface="Malgun Gothic" pitchFamily="34" charset="-120"/>
                        </a:rPr>
                        <a:t>불참 대응</a:t>
                      </a:r>
                      <a:endParaRPr lang="en-US" sz="1050" dirty="0">
                        <a:latin typeface="Malgun Gothic" charset="0"/>
                        <a:ea typeface="Malgun Gothic" charset="0"/>
                        <a:cs typeface="Malgun Gothic" charset="0"/>
                      </a:endParaRPr>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AF2FF"/>
                    </a:solidFill>
                  </a:tcPr>
                </a:tc>
                <a:tc>
                  <a:txBody>
                    <a:bodyPr/>
                    <a:lstStyle/>
                    <a:p>
                      <a:pPr indent="0" marL="0">
                        <a:buNone/>
                      </a:pPr>
                      <a:r>
                        <a:rPr lang="en-US" sz="1000" dirty="0">
                          <a:solidFill>
                            <a:srgbClr val="475569"/>
                          </a:solidFill>
                          <a:latin typeface="Malgun Gothic" pitchFamily="34" charset="0"/>
                          <a:ea typeface="Malgun Gothic" pitchFamily="34" charset="-122"/>
                          <a:cs typeface="Malgun Gothic" pitchFamily="34" charset="-120"/>
                        </a:rPr>
                        <a:t>당일 불참 시 대체 셀러·푸드트럭 확보가 어렵습니다.</a:t>
                      </a:r>
                      <a:endParaRPr lang="en-US" sz="1000" dirty="0">
                        <a:latin typeface="Malgun Gothic" charset="0"/>
                        <a:ea typeface="Malgun Gothic" charset="0"/>
                        <a:cs typeface="Malgun Gothic" charset="0"/>
                      </a:endParaRPr>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b="1" dirty="0">
                          <a:solidFill>
                            <a:srgbClr val="0F172A"/>
                          </a:solidFill>
                          <a:latin typeface="Malgun Gothic" pitchFamily="34" charset="0"/>
                          <a:ea typeface="Malgun Gothic" pitchFamily="34" charset="-122"/>
                          <a:cs typeface="Malgun Gothic" pitchFamily="34" charset="-120"/>
                        </a:rPr>
                        <a:t>행사별 예비 푸드트럭 1~2대를 대기시켜 즉시 대체 운영합니다.</a:t>
                      </a:r>
                      <a:endParaRPr lang="en-US" sz="1000" dirty="0">
                        <a:latin typeface="Malgun Gothic" charset="0"/>
                        <a:ea typeface="Malgun Gothic" charset="0"/>
                        <a:cs typeface="Malgun Gothic" charset="0"/>
                      </a:endParaRPr>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5800">
                <a:tc>
                  <a:txBody>
                    <a:bodyPr/>
                    <a:lstStyle/>
                    <a:p>
                      <a:pPr indent="0" marL="0">
                        <a:buNone/>
                      </a:pPr>
                      <a:r>
                        <a:rPr lang="en-US" sz="1050" b="1" dirty="0">
                          <a:solidFill>
                            <a:srgbClr val="0F172A"/>
                          </a:solidFill>
                          <a:latin typeface="Malgun Gothic" pitchFamily="34" charset="0"/>
                          <a:ea typeface="Malgun Gothic" pitchFamily="34" charset="-122"/>
                          <a:cs typeface="Malgun Gothic" pitchFamily="34" charset="-120"/>
                        </a:rPr>
                        <a:t>현장 운영</a:t>
                      </a:r>
                      <a:endParaRPr lang="en-US" sz="1050" dirty="0">
                        <a:latin typeface="Malgun Gothic" charset="0"/>
                        <a:ea typeface="Malgun Gothic" charset="0"/>
                        <a:cs typeface="Malgun Gothic" charset="0"/>
                      </a:endParaRPr>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AF2FF"/>
                    </a:solidFill>
                  </a:tcPr>
                </a:tc>
                <a:tc>
                  <a:txBody>
                    <a:bodyPr/>
                    <a:lstStyle/>
                    <a:p>
                      <a:pPr indent="0" marL="0">
                        <a:buNone/>
                      </a:pPr>
                      <a:r>
                        <a:rPr lang="en-US" sz="1000" dirty="0">
                          <a:solidFill>
                            <a:srgbClr val="475569"/>
                          </a:solidFill>
                          <a:latin typeface="Malgun Gothic" pitchFamily="34" charset="0"/>
                          <a:ea typeface="Malgun Gothic" pitchFamily="34" charset="-122"/>
                          <a:cs typeface="Malgun Gothic" pitchFamily="34" charset="-120"/>
                        </a:rPr>
                        <a:t>주최 측 인력이 셀러 관리와 방문객 안내를 병행해야 합니다.</a:t>
                      </a:r>
                      <a:endParaRPr lang="en-US" sz="1000" dirty="0">
                        <a:latin typeface="Malgun Gothic" charset="0"/>
                        <a:ea typeface="Malgun Gothic" charset="0"/>
                        <a:cs typeface="Malgun Gothic" charset="0"/>
                      </a:endParaRPr>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b="1" dirty="0">
                          <a:solidFill>
                            <a:srgbClr val="0F172A"/>
                          </a:solidFill>
                          <a:latin typeface="Malgun Gothic" pitchFamily="34" charset="0"/>
                          <a:ea typeface="Malgun Gothic" pitchFamily="34" charset="-122"/>
                          <a:cs typeface="Malgun Gothic" pitchFamily="34" charset="-120"/>
                        </a:rPr>
                        <a:t>전담 현장 매니저가 상주하여 입·퇴장, 안내, 돌발 상황을 책임집니다.</a:t>
                      </a:r>
                      <a:endParaRPr lang="en-US" sz="1000" dirty="0">
                        <a:latin typeface="Malgun Gothic" charset="0"/>
                        <a:ea typeface="Malgun Gothic" charset="0"/>
                        <a:cs typeface="Malgun Gothic" charset="0"/>
                      </a:endParaRPr>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5800">
                <a:tc>
                  <a:txBody>
                    <a:bodyPr/>
                    <a:lstStyle/>
                    <a:p>
                      <a:pPr indent="0" marL="0">
                        <a:buNone/>
                      </a:pPr>
                      <a:r>
                        <a:rPr lang="en-US" sz="1050" b="1" dirty="0">
                          <a:solidFill>
                            <a:srgbClr val="0F172A"/>
                          </a:solidFill>
                          <a:latin typeface="Malgun Gothic" pitchFamily="34" charset="0"/>
                          <a:ea typeface="Malgun Gothic" pitchFamily="34" charset="-122"/>
                          <a:cs typeface="Malgun Gothic" pitchFamily="34" charset="-120"/>
                        </a:rPr>
                        <a:t>정산 · 보고</a:t>
                      </a:r>
                      <a:endParaRPr lang="en-US" sz="1050" dirty="0">
                        <a:latin typeface="Malgun Gothic" charset="0"/>
                        <a:ea typeface="Malgun Gothic" charset="0"/>
                        <a:cs typeface="Malgun Gothic" charset="0"/>
                      </a:endParaRPr>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AF2FF"/>
                    </a:solidFill>
                  </a:tcPr>
                </a:tc>
                <a:tc>
                  <a:txBody>
                    <a:bodyPr/>
                    <a:lstStyle/>
                    <a:p>
                      <a:pPr indent="0" marL="0">
                        <a:buNone/>
                      </a:pPr>
                      <a:r>
                        <a:rPr lang="en-US" sz="1000" dirty="0">
                          <a:solidFill>
                            <a:srgbClr val="475569"/>
                          </a:solidFill>
                          <a:latin typeface="Malgun Gothic" pitchFamily="34" charset="0"/>
                          <a:ea typeface="Malgun Gothic" pitchFamily="34" charset="-122"/>
                          <a:cs typeface="Malgun Gothic" pitchFamily="34" charset="-120"/>
                        </a:rPr>
                        <a:t>참가비와 매출 집계가 수기로 이루어져 결과 파악이 늦어집니다.</a:t>
                      </a:r>
                      <a:endParaRPr lang="en-US" sz="1000" dirty="0">
                        <a:latin typeface="Malgun Gothic" charset="0"/>
                        <a:ea typeface="Malgun Gothic" charset="0"/>
                        <a:cs typeface="Malgun Gothic" charset="0"/>
                      </a:endParaRPr>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b="1" dirty="0">
                          <a:solidFill>
                            <a:srgbClr val="0F172A"/>
                          </a:solidFill>
                          <a:latin typeface="Malgun Gothic" pitchFamily="34" charset="0"/>
                          <a:ea typeface="Malgun Gothic" pitchFamily="34" charset="-122"/>
                          <a:cs typeface="Malgun Gothic" pitchFamily="34" charset="-120"/>
                        </a:rPr>
                        <a:t>행사 종료 후 48시간 이내에 정산서와 결과 보고서를 제공합니다.</a:t>
                      </a:r>
                      <a:endParaRPr lang="en-US" sz="1000" dirty="0">
                        <a:latin typeface="Malgun Gothic" charset="0"/>
                        <a:ea typeface="Malgun Gothic" charset="0"/>
                        <a:cs typeface="Malgun Gothic" charset="0"/>
                      </a:endParaRPr>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5800">
                <a:tc>
                  <a:txBody>
                    <a:bodyPr/>
                    <a:lstStyle/>
                    <a:p>
                      <a:pPr indent="0" marL="0">
                        <a:buNone/>
                      </a:pPr>
                      <a:r>
                        <a:rPr lang="en-US" sz="1050" b="1" dirty="0">
                          <a:solidFill>
                            <a:srgbClr val="0F172A"/>
                          </a:solidFill>
                          <a:latin typeface="Malgun Gothic" pitchFamily="34" charset="0"/>
                          <a:ea typeface="Malgun Gothic" pitchFamily="34" charset="-122"/>
                          <a:cs typeface="Malgun Gothic" pitchFamily="34" charset="-120"/>
                        </a:rPr>
                        <a:t>홍보</a:t>
                      </a:r>
                      <a:endParaRPr lang="en-US" sz="1050" dirty="0">
                        <a:latin typeface="Malgun Gothic" charset="0"/>
                        <a:ea typeface="Malgun Gothic" charset="0"/>
                        <a:cs typeface="Malgun Gothic" charset="0"/>
                      </a:endParaRPr>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AF2FF"/>
                    </a:solidFill>
                  </a:tcPr>
                </a:tc>
                <a:tc>
                  <a:txBody>
                    <a:bodyPr/>
                    <a:lstStyle/>
                    <a:p>
                      <a:pPr indent="0" marL="0">
                        <a:buNone/>
                      </a:pPr>
                      <a:r>
                        <a:rPr lang="en-US" sz="1000" dirty="0">
                          <a:solidFill>
                            <a:srgbClr val="475569"/>
                          </a:solidFill>
                          <a:latin typeface="Malgun Gothic" pitchFamily="34" charset="0"/>
                          <a:ea typeface="Malgun Gothic" pitchFamily="34" charset="-122"/>
                          <a:cs typeface="Malgun Gothic" pitchFamily="34" charset="-120"/>
                        </a:rPr>
                        <a:t>셀러 모집·방문객 유입 홍보에 별도 비용이 발생합니다.</a:t>
                      </a:r>
                      <a:endParaRPr lang="en-US" sz="1000" dirty="0">
                        <a:latin typeface="Malgun Gothic" charset="0"/>
                        <a:ea typeface="Malgun Gothic" charset="0"/>
                        <a:cs typeface="Malgun Gothic" charset="0"/>
                      </a:endParaRPr>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b="1" dirty="0">
                          <a:solidFill>
                            <a:srgbClr val="0F172A"/>
                          </a:solidFill>
                          <a:latin typeface="Malgun Gothic" pitchFamily="34" charset="0"/>
                          <a:ea typeface="Malgun Gothic" pitchFamily="34" charset="-122"/>
                          <a:cs typeface="Malgun Gothic" pitchFamily="34" charset="-120"/>
                        </a:rPr>
                        <a:t>플릿 플랫폼과 SNS 채널을 통한 모집·유입 홍보를 기본 제공합니다.</a:t>
                      </a:r>
                      <a:endParaRPr lang="en-US" sz="1000" dirty="0">
                        <a:latin typeface="Malgun Gothic" charset="0"/>
                        <a:ea typeface="Malgun Gothic" charset="0"/>
                        <a:cs typeface="Malgun Gothic" charset="0"/>
                      </a:endParaRPr>
                    </a:p>
                  </a:txBody>
                  <a:tcPr marL="101600" marR="1016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F44"/>
        </a:solidFill>
      </p:bgPr>
    </p:bg>
    <p:spTree>
      <p:nvGrpSpPr>
        <p:cNvPr id="1" name=""/>
        <p:cNvGrpSpPr/>
        <p:nvPr/>
      </p:nvGrpSpPr>
      <p:grpSpPr>
        <a:xfrm>
          <a:off x="0" y="0"/>
          <a:ext cx="0" cy="0"/>
          <a:chOff x="0" y="0"/>
          <a:chExt cx="0" cy="0"/>
        </a:xfrm>
      </p:grpSpPr>
      <p:sp>
        <p:nvSpPr>
          <p:cNvPr id="2" name="Shape 0"/>
          <p:cNvSpPr/>
          <p:nvPr/>
        </p:nvSpPr>
        <p:spPr>
          <a:xfrm>
            <a:off x="9265615" y="-2377440"/>
            <a:ext cx="5120640" cy="5120640"/>
          </a:xfrm>
          <a:prstGeom prst="ellipse">
            <a:avLst/>
          </a:prstGeom>
          <a:solidFill>
            <a:srgbClr val="12305F"/>
          </a:solidFill>
          <a:ln w="12700">
            <a:solidFill>
              <a:srgbClr val="12305F"/>
            </a:solidFill>
            <a:prstDash val="solid"/>
          </a:ln>
        </p:spPr>
      </p:sp>
      <p:sp>
        <p:nvSpPr>
          <p:cNvPr id="3" name="Shape 1"/>
          <p:cNvSpPr/>
          <p:nvPr/>
        </p:nvSpPr>
        <p:spPr>
          <a:xfrm>
            <a:off x="-1645920" y="5029200"/>
            <a:ext cx="3657600" cy="3657600"/>
          </a:xfrm>
          <a:prstGeom prst="ellipse">
            <a:avLst/>
          </a:prstGeom>
          <a:solidFill>
            <a:srgbClr val="12305F"/>
          </a:solidFill>
          <a:ln w="12700">
            <a:solidFill>
              <a:srgbClr val="12305F"/>
            </a:solidFill>
            <a:prstDash val="solid"/>
          </a:ln>
        </p:spPr>
      </p:sp>
      <p:sp>
        <p:nvSpPr>
          <p:cNvPr id="4" name="Text 2"/>
          <p:cNvSpPr txBox="1"/>
          <p:nvPr/>
        </p:nvSpPr>
        <p:spPr>
          <a:xfrm>
            <a:off x="640080" y="384048"/>
            <a:ext cx="1155700" cy="266700"/>
          </a:xfrm>
          <a:prstGeom prst="rect">
            <a:avLst/>
          </a:prstGeom>
          <a:noFill/>
          <a:ln/>
        </p:spPr>
        <p:txBody>
          <a:bodyPr wrap="square" lIns="0" tIns="0" rIns="0" bIns="0" rtlCol="0" anchor="ctr"/>
          <a:lstStyle/>
          <a:p>
            <a:pPr indent="0" marL="0">
              <a:buNone/>
            </a:pPr>
            <a:r>
              <a:rPr lang="en-US" sz="1400" b="1" dirty="0">
                <a:solidFill>
                  <a:srgbClr val="3182F6"/>
                </a:solidFill>
                <a:latin typeface="Arial Black" pitchFamily="34" charset="0"/>
                <a:ea typeface="Arial Black" pitchFamily="34" charset="-122"/>
                <a:cs typeface="Arial Black" pitchFamily="34" charset="-120"/>
              </a:rPr>
              <a:t>Flit</a:t>
            </a:r>
            <a:pPr indent="0" marL="0">
              <a:buNone/>
            </a:pPr>
            <a:r>
              <a:rPr lang="en-US" sz="1400" b="1" dirty="0">
                <a:solidFill>
                  <a:srgbClr val="FFFFFF"/>
                </a:solidFill>
                <a:latin typeface="Arial Black" pitchFamily="34" charset="0"/>
                <a:ea typeface="Arial Black" pitchFamily="34" charset="-122"/>
                <a:cs typeface="Arial Black" pitchFamily="34" charset="-120"/>
              </a:rPr>
              <a:t>Union</a:t>
            </a:r>
            <a:endParaRPr lang="en-US" sz="1400" dirty="0"/>
          </a:p>
        </p:txBody>
      </p:sp>
      <p:sp>
        <p:nvSpPr>
          <p:cNvPr id="5" name="Text 3"/>
          <p:cNvSpPr txBox="1"/>
          <p:nvPr/>
        </p:nvSpPr>
        <p:spPr>
          <a:xfrm>
            <a:off x="640080" y="868680"/>
            <a:ext cx="5486400" cy="274320"/>
          </a:xfrm>
          <a:prstGeom prst="rect">
            <a:avLst/>
          </a:prstGeom>
          <a:noFill/>
          <a:ln/>
        </p:spPr>
        <p:txBody>
          <a:bodyPr wrap="square" lIns="0" tIns="0" rIns="0" bIns="0" rtlCol="0" anchor="t"/>
          <a:lstStyle/>
          <a:p>
            <a:pPr indent="0" marL="0">
              <a:buNone/>
            </a:pPr>
            <a:r>
              <a:rPr lang="en-US" sz="1100" b="1" spc="300" kern="0" dirty="0">
                <a:solidFill>
                  <a:srgbClr val="93C5FD"/>
                </a:solidFill>
                <a:latin typeface="Malgun Gothic" pitchFamily="34" charset="0"/>
                <a:ea typeface="Malgun Gothic" pitchFamily="34" charset="-122"/>
                <a:cs typeface="Malgun Gothic" pitchFamily="34" charset="-120"/>
              </a:rPr>
              <a:t>07  PROCESS</a:t>
            </a:r>
            <a:endParaRPr lang="en-US" sz="1100" dirty="0"/>
          </a:p>
        </p:txBody>
      </p:sp>
      <p:sp>
        <p:nvSpPr>
          <p:cNvPr id="6" name="Text 4"/>
          <p:cNvSpPr txBox="1"/>
          <p:nvPr/>
        </p:nvSpPr>
        <p:spPr>
          <a:xfrm>
            <a:off x="640080" y="1143000"/>
            <a:ext cx="10911535" cy="594360"/>
          </a:xfrm>
          <a:prstGeom prst="rect">
            <a:avLst/>
          </a:prstGeom>
          <a:noFill/>
          <a:ln/>
        </p:spPr>
        <p:txBody>
          <a:bodyPr wrap="square" lIns="0" tIns="0" rIns="0" bIns="0" rtlCol="0" anchor="t"/>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운영 프로세스</a:t>
            </a:r>
            <a:endParaRPr lang="en-US" sz="2800" dirty="0"/>
          </a:p>
        </p:txBody>
      </p:sp>
      <p:sp>
        <p:nvSpPr>
          <p:cNvPr id="7" name="Text 5"/>
          <p:cNvSpPr txBox="1"/>
          <p:nvPr/>
        </p:nvSpPr>
        <p:spPr>
          <a:xfrm>
            <a:off x="640080" y="1737360"/>
            <a:ext cx="10911535" cy="411480"/>
          </a:xfrm>
          <a:prstGeom prst="rect">
            <a:avLst/>
          </a:prstGeom>
          <a:noFill/>
          <a:ln/>
        </p:spPr>
        <p:txBody>
          <a:bodyPr wrap="square" lIns="0" tIns="0" rIns="0" bIns="0" rtlCol="0" anchor="t"/>
          <a:lstStyle/>
          <a:p>
            <a:pPr indent="0" marL="0">
              <a:buNone/>
            </a:pPr>
            <a:r>
              <a:rPr lang="en-US" sz="1300" dirty="0">
                <a:solidFill>
                  <a:srgbClr val="D6E4F8"/>
                </a:solidFill>
                <a:latin typeface="Malgun Gothic" pitchFamily="34" charset="0"/>
                <a:ea typeface="Malgun Gothic" pitchFamily="34" charset="-122"/>
                <a:cs typeface="Malgun Gothic" pitchFamily="34" charset="-120"/>
              </a:rPr>
              <a:t>상담부터 결과 보고까지 다섯 단계로 진행됩니다.</a:t>
            </a:r>
            <a:endParaRPr lang="en-US" sz="1300" dirty="0"/>
          </a:p>
        </p:txBody>
      </p:sp>
      <p:sp>
        <p:nvSpPr>
          <p:cNvPr id="8" name="Text 6"/>
          <p:cNvSpPr txBox="1"/>
          <p:nvPr/>
        </p:nvSpPr>
        <p:spPr>
          <a:xfrm>
            <a:off x="640080" y="6400800"/>
            <a:ext cx="3657600" cy="228600"/>
          </a:xfrm>
          <a:prstGeom prst="rect">
            <a:avLst/>
          </a:prstGeom>
          <a:noFill/>
          <a:ln/>
        </p:spPr>
        <p:txBody>
          <a:bodyPr wrap="square" lIns="0" tIns="0" rIns="0" bIns="0" rtlCol="0" anchor="t"/>
          <a:lstStyle/>
          <a:p>
            <a:pPr indent="0" marL="0">
              <a:buNone/>
            </a:pPr>
            <a:r>
              <a:rPr lang="en-US" sz="900" dirty="0">
                <a:solidFill>
                  <a:srgbClr val="94A3B8"/>
                </a:solidFill>
                <a:latin typeface="Malgun Gothic" pitchFamily="34" charset="0"/>
                <a:ea typeface="Malgun Gothic" pitchFamily="34" charset="-122"/>
                <a:cs typeface="Malgun Gothic" pitchFamily="34" charset="-120"/>
              </a:rPr>
              <a:t>플릿 유니온 회사소개서</a:t>
            </a:r>
            <a:endParaRPr lang="en-US" sz="900" dirty="0"/>
          </a:p>
        </p:txBody>
      </p:sp>
      <p:sp>
        <p:nvSpPr>
          <p:cNvPr id="9" name="Text 7"/>
          <p:cNvSpPr txBox="1"/>
          <p:nvPr/>
        </p:nvSpPr>
        <p:spPr>
          <a:xfrm>
            <a:off x="10637215" y="6400800"/>
            <a:ext cx="914400" cy="228600"/>
          </a:xfrm>
          <a:prstGeom prst="rect">
            <a:avLst/>
          </a:prstGeom>
          <a:noFill/>
          <a:ln/>
        </p:spPr>
        <p:txBody>
          <a:bodyPr wrap="square" lIns="0" tIns="0" rIns="0" bIns="0" rtlCol="0" anchor="t"/>
          <a:lstStyle/>
          <a:p>
            <a:pPr algn="r" indent="0" marL="0">
              <a:buNone/>
            </a:pPr>
            <a:r>
              <a:rPr lang="en-US" sz="900" dirty="0">
                <a:solidFill>
                  <a:srgbClr val="94A3B8"/>
                </a:solidFill>
                <a:latin typeface="Malgun Gothic" pitchFamily="34" charset="0"/>
                <a:ea typeface="Malgun Gothic" pitchFamily="34" charset="-122"/>
                <a:cs typeface="Malgun Gothic" pitchFamily="34" charset="-120"/>
              </a:rPr>
              <a:t>16</a:t>
            </a:r>
            <a:endParaRPr lang="en-US" sz="900" dirty="0"/>
          </a:p>
        </p:txBody>
      </p:sp>
      <p:sp>
        <p:nvSpPr>
          <p:cNvPr id="10" name="Shape 8"/>
          <p:cNvSpPr/>
          <p:nvPr/>
        </p:nvSpPr>
        <p:spPr>
          <a:xfrm>
            <a:off x="1639794" y="2926080"/>
            <a:ext cx="8912108" cy="0"/>
          </a:xfrm>
          <a:prstGeom prst="line">
            <a:avLst/>
          </a:prstGeom>
          <a:noFill/>
          <a:ln w="19050">
            <a:solidFill>
              <a:srgbClr val="1F5FD0"/>
            </a:solidFill>
            <a:prstDash val="dash"/>
          </a:ln>
        </p:spPr>
      </p:sp>
      <p:sp>
        <p:nvSpPr>
          <p:cNvPr id="11" name="Shape 9"/>
          <p:cNvSpPr/>
          <p:nvPr/>
        </p:nvSpPr>
        <p:spPr>
          <a:xfrm>
            <a:off x="1228314" y="2514600"/>
            <a:ext cx="822960" cy="822960"/>
          </a:xfrm>
          <a:prstGeom prst="ellipse">
            <a:avLst/>
          </a:prstGeom>
          <a:solidFill>
            <a:srgbClr val="3182F6"/>
          </a:solidFill>
          <a:ln w="12700">
            <a:solidFill>
              <a:srgbClr val="3182F6"/>
            </a:solidFill>
            <a:prstDash val="solid"/>
          </a:ln>
        </p:spPr>
      </p:sp>
      <p:pic>
        <p:nvPicPr>
          <p:cNvPr id="12" name="Image 0" descr="preencoded.png">    </p:cNvPr>
          <p:cNvPicPr>
            <a:picLocks noChangeAspect="1"/>
          </p:cNvPicPr>
          <p:nvPr/>
        </p:nvPicPr>
        <p:blipFill>
          <a:blip r:embed="rId1"/>
          <a:stretch>
            <a:fillRect/>
          </a:stretch>
        </p:blipFill>
        <p:spPr>
          <a:xfrm>
            <a:off x="1434054" y="2720340"/>
            <a:ext cx="411480" cy="411480"/>
          </a:xfrm>
          <a:prstGeom prst="rect">
            <a:avLst/>
          </a:prstGeom>
        </p:spPr>
      </p:pic>
      <p:sp>
        <p:nvSpPr>
          <p:cNvPr id="13" name="Text 10"/>
          <p:cNvSpPr txBox="1"/>
          <p:nvPr/>
        </p:nvSpPr>
        <p:spPr>
          <a:xfrm>
            <a:off x="640080" y="3520440"/>
            <a:ext cx="1999427" cy="228600"/>
          </a:xfrm>
          <a:prstGeom prst="rect">
            <a:avLst/>
          </a:prstGeom>
          <a:noFill/>
          <a:ln/>
        </p:spPr>
        <p:txBody>
          <a:bodyPr wrap="square" lIns="0" tIns="0" rIns="0" bIns="0" rtlCol="0" anchor="t"/>
          <a:lstStyle/>
          <a:p>
            <a:pPr algn="ctr" indent="0" marL="0">
              <a:buNone/>
            </a:pPr>
            <a:r>
              <a:rPr lang="en-US" sz="950" b="1" spc="200" kern="0" dirty="0">
                <a:solidFill>
                  <a:srgbClr val="93C5FD"/>
                </a:solidFill>
                <a:latin typeface="Malgun Gothic" pitchFamily="34" charset="0"/>
                <a:ea typeface="Malgun Gothic" pitchFamily="34" charset="-122"/>
                <a:cs typeface="Malgun Gothic" pitchFamily="34" charset="-120"/>
              </a:rPr>
              <a:t>STEP 1</a:t>
            </a:r>
            <a:endParaRPr lang="en-US" sz="950" dirty="0"/>
          </a:p>
        </p:txBody>
      </p:sp>
      <p:sp>
        <p:nvSpPr>
          <p:cNvPr id="14" name="Text 11"/>
          <p:cNvSpPr txBox="1"/>
          <p:nvPr/>
        </p:nvSpPr>
        <p:spPr>
          <a:xfrm>
            <a:off x="640080" y="3776472"/>
            <a:ext cx="1999427" cy="365760"/>
          </a:xfrm>
          <a:prstGeom prst="rect">
            <a:avLst/>
          </a:prstGeom>
          <a:noFill/>
          <a:ln/>
        </p:spPr>
        <p:txBody>
          <a:bodyPr wrap="square" lIns="0" tIns="0" rIns="0" bIns="0" rtlCol="0" anchor="t"/>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무료 상담 및 현장 분석</a:t>
            </a:r>
            <a:endParaRPr lang="en-US" sz="1300" dirty="0"/>
          </a:p>
        </p:txBody>
      </p:sp>
      <p:sp>
        <p:nvSpPr>
          <p:cNvPr id="15" name="Text 12"/>
          <p:cNvSpPr txBox="1"/>
          <p:nvPr/>
        </p:nvSpPr>
        <p:spPr>
          <a:xfrm>
            <a:off x="731520" y="4206240"/>
            <a:ext cx="1816547" cy="1005840"/>
          </a:xfrm>
          <a:prstGeom prst="rect">
            <a:avLst/>
          </a:prstGeom>
          <a:noFill/>
          <a:ln/>
        </p:spPr>
        <p:txBody>
          <a:bodyPr wrap="square" lIns="0" tIns="0" rIns="0" bIns="0" rtlCol="0" anchor="t"/>
          <a:lstStyle/>
          <a:p>
            <a:pPr algn="ctr" indent="0" marL="0">
              <a:lnSpc>
                <a:spcPct val="125000"/>
              </a:lnSpc>
              <a:buNone/>
            </a:pPr>
            <a:r>
              <a:rPr lang="en-US" sz="1000" dirty="0">
                <a:solidFill>
                  <a:srgbClr val="D6E4F8"/>
                </a:solidFill>
                <a:latin typeface="Malgun Gothic" pitchFamily="34" charset="0"/>
                <a:ea typeface="Malgun Gothic" pitchFamily="34" charset="-122"/>
                <a:cs typeface="Malgun Gothic" pitchFamily="34" charset="-120"/>
              </a:rPr>
              <a:t>행사 성격, 공간 위치와 면적, 유동 인구, 주변 상권을 분석하고 최적의 행사 콘셉트를 제안합니다.</a:t>
            </a:r>
            <a:endParaRPr lang="en-US" sz="1000" dirty="0"/>
          </a:p>
        </p:txBody>
      </p:sp>
      <p:sp>
        <p:nvSpPr>
          <p:cNvPr id="16" name="Shape 13"/>
          <p:cNvSpPr/>
          <p:nvPr/>
        </p:nvSpPr>
        <p:spPr>
          <a:xfrm>
            <a:off x="3456341" y="2514600"/>
            <a:ext cx="822960" cy="822960"/>
          </a:xfrm>
          <a:prstGeom prst="ellipse">
            <a:avLst/>
          </a:prstGeom>
          <a:solidFill>
            <a:srgbClr val="3182F6"/>
          </a:solidFill>
          <a:ln w="12700">
            <a:solidFill>
              <a:srgbClr val="3182F6"/>
            </a:solidFill>
            <a:prstDash val="solid"/>
          </a:ln>
        </p:spPr>
      </p:sp>
      <p:pic>
        <p:nvPicPr>
          <p:cNvPr id="17" name="Image 1" descr="preencoded.png">    </p:cNvPr>
          <p:cNvPicPr>
            <a:picLocks noChangeAspect="1"/>
          </p:cNvPicPr>
          <p:nvPr/>
        </p:nvPicPr>
        <p:blipFill>
          <a:blip r:embed="rId2"/>
          <a:stretch>
            <a:fillRect/>
          </a:stretch>
        </p:blipFill>
        <p:spPr>
          <a:xfrm>
            <a:off x="3662081" y="2720340"/>
            <a:ext cx="411480" cy="411480"/>
          </a:xfrm>
          <a:prstGeom prst="rect">
            <a:avLst/>
          </a:prstGeom>
        </p:spPr>
      </p:pic>
      <p:sp>
        <p:nvSpPr>
          <p:cNvPr id="18" name="Text 14"/>
          <p:cNvSpPr txBox="1"/>
          <p:nvPr/>
        </p:nvSpPr>
        <p:spPr>
          <a:xfrm>
            <a:off x="2868107" y="3520440"/>
            <a:ext cx="1999427" cy="228600"/>
          </a:xfrm>
          <a:prstGeom prst="rect">
            <a:avLst/>
          </a:prstGeom>
          <a:noFill/>
          <a:ln/>
        </p:spPr>
        <p:txBody>
          <a:bodyPr wrap="square" lIns="0" tIns="0" rIns="0" bIns="0" rtlCol="0" anchor="t"/>
          <a:lstStyle/>
          <a:p>
            <a:pPr algn="ctr" indent="0" marL="0">
              <a:buNone/>
            </a:pPr>
            <a:r>
              <a:rPr lang="en-US" sz="950" b="1" spc="200" kern="0" dirty="0">
                <a:solidFill>
                  <a:srgbClr val="93C5FD"/>
                </a:solidFill>
                <a:latin typeface="Malgun Gothic" pitchFamily="34" charset="0"/>
                <a:ea typeface="Malgun Gothic" pitchFamily="34" charset="-122"/>
                <a:cs typeface="Malgun Gothic" pitchFamily="34" charset="-120"/>
              </a:rPr>
              <a:t>STEP 2</a:t>
            </a:r>
            <a:endParaRPr lang="en-US" sz="950" dirty="0"/>
          </a:p>
        </p:txBody>
      </p:sp>
      <p:sp>
        <p:nvSpPr>
          <p:cNvPr id="19" name="Text 15"/>
          <p:cNvSpPr txBox="1"/>
          <p:nvPr/>
        </p:nvSpPr>
        <p:spPr>
          <a:xfrm>
            <a:off x="2868107" y="3776472"/>
            <a:ext cx="1999427" cy="365760"/>
          </a:xfrm>
          <a:prstGeom prst="rect">
            <a:avLst/>
          </a:prstGeom>
          <a:noFill/>
          <a:ln/>
        </p:spPr>
        <p:txBody>
          <a:bodyPr wrap="square" lIns="0" tIns="0" rIns="0" bIns="0" rtlCol="0" anchor="t"/>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기획안 확정</a:t>
            </a:r>
            <a:endParaRPr lang="en-US" sz="1300" dirty="0"/>
          </a:p>
        </p:txBody>
      </p:sp>
      <p:sp>
        <p:nvSpPr>
          <p:cNvPr id="20" name="Text 16"/>
          <p:cNvSpPr txBox="1"/>
          <p:nvPr/>
        </p:nvSpPr>
        <p:spPr>
          <a:xfrm>
            <a:off x="2959547" y="4206240"/>
            <a:ext cx="1816547" cy="1005840"/>
          </a:xfrm>
          <a:prstGeom prst="rect">
            <a:avLst/>
          </a:prstGeom>
          <a:noFill/>
          <a:ln/>
        </p:spPr>
        <p:txBody>
          <a:bodyPr wrap="square" lIns="0" tIns="0" rIns="0" bIns="0" rtlCol="0" anchor="t"/>
          <a:lstStyle/>
          <a:p>
            <a:pPr algn="ctr" indent="0" marL="0">
              <a:lnSpc>
                <a:spcPct val="125000"/>
              </a:lnSpc>
              <a:buNone/>
            </a:pPr>
            <a:r>
              <a:rPr lang="en-US" sz="1000" dirty="0">
                <a:solidFill>
                  <a:srgbClr val="D6E4F8"/>
                </a:solidFill>
                <a:latin typeface="Malgun Gothic" pitchFamily="34" charset="0"/>
                <a:ea typeface="Malgun Gothic" pitchFamily="34" charset="-122"/>
                <a:cs typeface="Malgun Gothic" pitchFamily="34" charset="-120"/>
              </a:rPr>
              <a:t>날짜, 규모, 셀러 카테고리 구성, 예산과 수익 구조를 포함한 기획안을 확정합니다.</a:t>
            </a:r>
            <a:endParaRPr lang="en-US" sz="1000" dirty="0"/>
          </a:p>
        </p:txBody>
      </p:sp>
      <p:sp>
        <p:nvSpPr>
          <p:cNvPr id="21" name="Shape 17"/>
          <p:cNvSpPr/>
          <p:nvPr/>
        </p:nvSpPr>
        <p:spPr>
          <a:xfrm>
            <a:off x="5684368" y="2514600"/>
            <a:ext cx="822960" cy="822960"/>
          </a:xfrm>
          <a:prstGeom prst="ellipse">
            <a:avLst/>
          </a:prstGeom>
          <a:solidFill>
            <a:srgbClr val="3182F6"/>
          </a:solidFill>
          <a:ln w="12700">
            <a:solidFill>
              <a:srgbClr val="3182F6"/>
            </a:solidFill>
            <a:prstDash val="solid"/>
          </a:ln>
        </p:spPr>
      </p:sp>
      <p:pic>
        <p:nvPicPr>
          <p:cNvPr id="22" name="Image 2" descr="preencoded.png">    </p:cNvPr>
          <p:cNvPicPr>
            <a:picLocks noChangeAspect="1"/>
          </p:cNvPicPr>
          <p:nvPr/>
        </p:nvPicPr>
        <p:blipFill>
          <a:blip r:embed="rId3"/>
          <a:stretch>
            <a:fillRect/>
          </a:stretch>
        </p:blipFill>
        <p:spPr>
          <a:xfrm>
            <a:off x="5890108" y="2720340"/>
            <a:ext cx="411480" cy="411480"/>
          </a:xfrm>
          <a:prstGeom prst="rect">
            <a:avLst/>
          </a:prstGeom>
        </p:spPr>
      </p:pic>
      <p:sp>
        <p:nvSpPr>
          <p:cNvPr id="23" name="Text 18"/>
          <p:cNvSpPr txBox="1"/>
          <p:nvPr/>
        </p:nvSpPr>
        <p:spPr>
          <a:xfrm>
            <a:off x="5096134" y="3520440"/>
            <a:ext cx="1999427" cy="228600"/>
          </a:xfrm>
          <a:prstGeom prst="rect">
            <a:avLst/>
          </a:prstGeom>
          <a:noFill/>
          <a:ln/>
        </p:spPr>
        <p:txBody>
          <a:bodyPr wrap="square" lIns="0" tIns="0" rIns="0" bIns="0" rtlCol="0" anchor="t"/>
          <a:lstStyle/>
          <a:p>
            <a:pPr algn="ctr" indent="0" marL="0">
              <a:buNone/>
            </a:pPr>
            <a:r>
              <a:rPr lang="en-US" sz="950" b="1" spc="200" kern="0" dirty="0">
                <a:solidFill>
                  <a:srgbClr val="93C5FD"/>
                </a:solidFill>
                <a:latin typeface="Malgun Gothic" pitchFamily="34" charset="0"/>
                <a:ea typeface="Malgun Gothic" pitchFamily="34" charset="-122"/>
                <a:cs typeface="Malgun Gothic" pitchFamily="34" charset="-120"/>
              </a:rPr>
              <a:t>STEP 3</a:t>
            </a:r>
            <a:endParaRPr lang="en-US" sz="950" dirty="0"/>
          </a:p>
        </p:txBody>
      </p:sp>
      <p:sp>
        <p:nvSpPr>
          <p:cNvPr id="24" name="Text 19"/>
          <p:cNvSpPr txBox="1"/>
          <p:nvPr/>
        </p:nvSpPr>
        <p:spPr>
          <a:xfrm>
            <a:off x="5096134" y="3776472"/>
            <a:ext cx="1999427" cy="365760"/>
          </a:xfrm>
          <a:prstGeom prst="rect">
            <a:avLst/>
          </a:prstGeom>
          <a:noFill/>
          <a:ln/>
        </p:spPr>
        <p:txBody>
          <a:bodyPr wrap="square" lIns="0" tIns="0" rIns="0" bIns="0" rtlCol="0" anchor="t"/>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셀러 모집 및 심사</a:t>
            </a:r>
            <a:endParaRPr lang="en-US" sz="1300" dirty="0"/>
          </a:p>
        </p:txBody>
      </p:sp>
      <p:sp>
        <p:nvSpPr>
          <p:cNvPr id="25" name="Text 20"/>
          <p:cNvSpPr txBox="1"/>
          <p:nvPr/>
        </p:nvSpPr>
        <p:spPr>
          <a:xfrm>
            <a:off x="5187574" y="4206240"/>
            <a:ext cx="1816547" cy="1005840"/>
          </a:xfrm>
          <a:prstGeom prst="rect">
            <a:avLst/>
          </a:prstGeom>
          <a:noFill/>
          <a:ln/>
        </p:spPr>
        <p:txBody>
          <a:bodyPr wrap="square" lIns="0" tIns="0" rIns="0" bIns="0" rtlCol="0" anchor="t"/>
          <a:lstStyle/>
          <a:p>
            <a:pPr algn="ctr" indent="0" marL="0">
              <a:lnSpc>
                <a:spcPct val="125000"/>
              </a:lnSpc>
              <a:buNone/>
            </a:pPr>
            <a:r>
              <a:rPr lang="en-US" sz="1000" dirty="0">
                <a:solidFill>
                  <a:srgbClr val="D6E4F8"/>
                </a:solidFill>
                <a:latin typeface="Malgun Gothic" pitchFamily="34" charset="0"/>
                <a:ea typeface="Malgun Gothic" pitchFamily="34" charset="-122"/>
                <a:cs typeface="Malgun Gothic" pitchFamily="34" charset="-120"/>
              </a:rPr>
              <a:t>플릿 플랫폼과 자체 채널로 셀러·푸드트럭을 모집하고, 리뷰 점수를 기준으로 심사·선발합니다.</a:t>
            </a:r>
            <a:endParaRPr lang="en-US" sz="1000" dirty="0"/>
          </a:p>
        </p:txBody>
      </p:sp>
      <p:sp>
        <p:nvSpPr>
          <p:cNvPr id="26" name="Shape 21"/>
          <p:cNvSpPr/>
          <p:nvPr/>
        </p:nvSpPr>
        <p:spPr>
          <a:xfrm>
            <a:off x="7912395" y="2514600"/>
            <a:ext cx="822960" cy="822960"/>
          </a:xfrm>
          <a:prstGeom prst="ellipse">
            <a:avLst/>
          </a:prstGeom>
          <a:solidFill>
            <a:srgbClr val="3182F6"/>
          </a:solidFill>
          <a:ln w="12700">
            <a:solidFill>
              <a:srgbClr val="3182F6"/>
            </a:solidFill>
            <a:prstDash val="solid"/>
          </a:ln>
        </p:spPr>
      </p:sp>
      <p:pic>
        <p:nvPicPr>
          <p:cNvPr id="27" name="Image 3" descr="preencoded.png">    </p:cNvPr>
          <p:cNvPicPr>
            <a:picLocks noChangeAspect="1"/>
          </p:cNvPicPr>
          <p:nvPr/>
        </p:nvPicPr>
        <p:blipFill>
          <a:blip r:embed="rId4"/>
          <a:stretch>
            <a:fillRect/>
          </a:stretch>
        </p:blipFill>
        <p:spPr>
          <a:xfrm>
            <a:off x="8118135" y="2720340"/>
            <a:ext cx="411480" cy="411480"/>
          </a:xfrm>
          <a:prstGeom prst="rect">
            <a:avLst/>
          </a:prstGeom>
        </p:spPr>
      </p:pic>
      <p:sp>
        <p:nvSpPr>
          <p:cNvPr id="28" name="Text 22"/>
          <p:cNvSpPr txBox="1"/>
          <p:nvPr/>
        </p:nvSpPr>
        <p:spPr>
          <a:xfrm>
            <a:off x="7324161" y="3520440"/>
            <a:ext cx="1999427" cy="228600"/>
          </a:xfrm>
          <a:prstGeom prst="rect">
            <a:avLst/>
          </a:prstGeom>
          <a:noFill/>
          <a:ln/>
        </p:spPr>
        <p:txBody>
          <a:bodyPr wrap="square" lIns="0" tIns="0" rIns="0" bIns="0" rtlCol="0" anchor="t"/>
          <a:lstStyle/>
          <a:p>
            <a:pPr algn="ctr" indent="0" marL="0">
              <a:buNone/>
            </a:pPr>
            <a:r>
              <a:rPr lang="en-US" sz="950" b="1" spc="200" kern="0" dirty="0">
                <a:solidFill>
                  <a:srgbClr val="93C5FD"/>
                </a:solidFill>
                <a:latin typeface="Malgun Gothic" pitchFamily="34" charset="0"/>
                <a:ea typeface="Malgun Gothic" pitchFamily="34" charset="-122"/>
                <a:cs typeface="Malgun Gothic" pitchFamily="34" charset="-120"/>
              </a:rPr>
              <a:t>STEP 4</a:t>
            </a:r>
            <a:endParaRPr lang="en-US" sz="950" dirty="0"/>
          </a:p>
        </p:txBody>
      </p:sp>
      <p:sp>
        <p:nvSpPr>
          <p:cNvPr id="29" name="Text 23"/>
          <p:cNvSpPr txBox="1"/>
          <p:nvPr/>
        </p:nvSpPr>
        <p:spPr>
          <a:xfrm>
            <a:off x="7324161" y="3776472"/>
            <a:ext cx="1999427" cy="365760"/>
          </a:xfrm>
          <a:prstGeom prst="rect">
            <a:avLst/>
          </a:prstGeom>
          <a:noFill/>
          <a:ln/>
        </p:spPr>
        <p:txBody>
          <a:bodyPr wrap="square" lIns="0" tIns="0" rIns="0" bIns="0" rtlCol="0" anchor="t"/>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현장 설치 및 운영</a:t>
            </a:r>
            <a:endParaRPr lang="en-US" sz="1300" dirty="0"/>
          </a:p>
        </p:txBody>
      </p:sp>
      <p:sp>
        <p:nvSpPr>
          <p:cNvPr id="30" name="Text 24"/>
          <p:cNvSpPr txBox="1"/>
          <p:nvPr/>
        </p:nvSpPr>
        <p:spPr>
          <a:xfrm>
            <a:off x="7415601" y="4206240"/>
            <a:ext cx="1816547" cy="1005840"/>
          </a:xfrm>
          <a:prstGeom prst="rect">
            <a:avLst/>
          </a:prstGeom>
          <a:noFill/>
          <a:ln/>
        </p:spPr>
        <p:txBody>
          <a:bodyPr wrap="square" lIns="0" tIns="0" rIns="0" bIns="0" rtlCol="0" anchor="t"/>
          <a:lstStyle/>
          <a:p>
            <a:pPr algn="ctr" indent="0" marL="0">
              <a:lnSpc>
                <a:spcPct val="125000"/>
              </a:lnSpc>
              <a:buNone/>
            </a:pPr>
            <a:r>
              <a:rPr lang="en-US" sz="1000" dirty="0">
                <a:solidFill>
                  <a:srgbClr val="D6E4F8"/>
                </a:solidFill>
                <a:latin typeface="Malgun Gothic" pitchFamily="34" charset="0"/>
                <a:ea typeface="Malgun Gothic" pitchFamily="34" charset="-122"/>
                <a:cs typeface="Malgun Gothic" pitchFamily="34" charset="-120"/>
              </a:rPr>
              <a:t>부스 설치, 셀러 배치, 방문자 안내, 안전 관리를 전담 매니저가 책임집니다.</a:t>
            </a:r>
            <a:endParaRPr lang="en-US" sz="1000" dirty="0"/>
          </a:p>
        </p:txBody>
      </p:sp>
      <p:sp>
        <p:nvSpPr>
          <p:cNvPr id="31" name="Shape 25"/>
          <p:cNvSpPr/>
          <p:nvPr/>
        </p:nvSpPr>
        <p:spPr>
          <a:xfrm>
            <a:off x="10140422" y="2514600"/>
            <a:ext cx="822960" cy="822960"/>
          </a:xfrm>
          <a:prstGeom prst="ellipse">
            <a:avLst/>
          </a:prstGeom>
          <a:solidFill>
            <a:srgbClr val="3182F6"/>
          </a:solidFill>
          <a:ln w="12700">
            <a:solidFill>
              <a:srgbClr val="3182F6"/>
            </a:solidFill>
            <a:prstDash val="solid"/>
          </a:ln>
        </p:spPr>
      </p:sp>
      <p:pic>
        <p:nvPicPr>
          <p:cNvPr id="32" name="Image 4" descr="preencoded.png">    </p:cNvPr>
          <p:cNvPicPr>
            <a:picLocks noChangeAspect="1"/>
          </p:cNvPicPr>
          <p:nvPr/>
        </p:nvPicPr>
        <p:blipFill>
          <a:blip r:embed="rId5"/>
          <a:stretch>
            <a:fillRect/>
          </a:stretch>
        </p:blipFill>
        <p:spPr>
          <a:xfrm>
            <a:off x="10346162" y="2720340"/>
            <a:ext cx="411480" cy="411480"/>
          </a:xfrm>
          <a:prstGeom prst="rect">
            <a:avLst/>
          </a:prstGeom>
        </p:spPr>
      </p:pic>
      <p:sp>
        <p:nvSpPr>
          <p:cNvPr id="33" name="Text 26"/>
          <p:cNvSpPr txBox="1"/>
          <p:nvPr/>
        </p:nvSpPr>
        <p:spPr>
          <a:xfrm>
            <a:off x="9552188" y="3520440"/>
            <a:ext cx="1999427" cy="228600"/>
          </a:xfrm>
          <a:prstGeom prst="rect">
            <a:avLst/>
          </a:prstGeom>
          <a:noFill/>
          <a:ln/>
        </p:spPr>
        <p:txBody>
          <a:bodyPr wrap="square" lIns="0" tIns="0" rIns="0" bIns="0" rtlCol="0" anchor="t"/>
          <a:lstStyle/>
          <a:p>
            <a:pPr algn="ctr" indent="0" marL="0">
              <a:buNone/>
            </a:pPr>
            <a:r>
              <a:rPr lang="en-US" sz="950" b="1" spc="200" kern="0" dirty="0">
                <a:solidFill>
                  <a:srgbClr val="93C5FD"/>
                </a:solidFill>
                <a:latin typeface="Malgun Gothic" pitchFamily="34" charset="0"/>
                <a:ea typeface="Malgun Gothic" pitchFamily="34" charset="-122"/>
                <a:cs typeface="Malgun Gothic" pitchFamily="34" charset="-120"/>
              </a:rPr>
              <a:t>STEP 5</a:t>
            </a:r>
            <a:endParaRPr lang="en-US" sz="950" dirty="0"/>
          </a:p>
        </p:txBody>
      </p:sp>
      <p:sp>
        <p:nvSpPr>
          <p:cNvPr id="34" name="Text 27"/>
          <p:cNvSpPr txBox="1"/>
          <p:nvPr/>
        </p:nvSpPr>
        <p:spPr>
          <a:xfrm>
            <a:off x="9552188" y="3776472"/>
            <a:ext cx="1999427" cy="365760"/>
          </a:xfrm>
          <a:prstGeom prst="rect">
            <a:avLst/>
          </a:prstGeom>
          <a:noFill/>
          <a:ln/>
        </p:spPr>
        <p:txBody>
          <a:bodyPr wrap="square" lIns="0" tIns="0" rIns="0" bIns="0" rtlCol="0" anchor="t"/>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정산 및 결과 보고</a:t>
            </a:r>
            <a:endParaRPr lang="en-US" sz="1300" dirty="0"/>
          </a:p>
        </p:txBody>
      </p:sp>
      <p:sp>
        <p:nvSpPr>
          <p:cNvPr id="35" name="Text 28"/>
          <p:cNvSpPr txBox="1"/>
          <p:nvPr/>
        </p:nvSpPr>
        <p:spPr>
          <a:xfrm>
            <a:off x="9643628" y="4206240"/>
            <a:ext cx="1816547" cy="1005840"/>
          </a:xfrm>
          <a:prstGeom prst="rect">
            <a:avLst/>
          </a:prstGeom>
          <a:noFill/>
          <a:ln/>
        </p:spPr>
        <p:txBody>
          <a:bodyPr wrap="square" lIns="0" tIns="0" rIns="0" bIns="0" rtlCol="0" anchor="t"/>
          <a:lstStyle/>
          <a:p>
            <a:pPr algn="ctr" indent="0" marL="0">
              <a:lnSpc>
                <a:spcPct val="125000"/>
              </a:lnSpc>
              <a:buNone/>
            </a:pPr>
            <a:r>
              <a:rPr lang="en-US" sz="1000" dirty="0">
                <a:solidFill>
                  <a:srgbClr val="D6E4F8"/>
                </a:solidFill>
                <a:latin typeface="Malgun Gothic" pitchFamily="34" charset="0"/>
                <a:ea typeface="Malgun Gothic" pitchFamily="34" charset="-122"/>
                <a:cs typeface="Malgun Gothic" pitchFamily="34" charset="-120"/>
              </a:rPr>
              <a:t>행사 종료 후 48시간 이내에 정산서와 결과 보고서를 제공합니다.</a:t>
            </a:r>
            <a:endParaRPr lang="en-US" sz="1000" dirty="0"/>
          </a:p>
        </p:txBody>
      </p:sp>
      <p:sp>
        <p:nvSpPr>
          <p:cNvPr id="36" name="Shape 29"/>
          <p:cNvSpPr/>
          <p:nvPr/>
        </p:nvSpPr>
        <p:spPr>
          <a:xfrm>
            <a:off x="640080" y="5440680"/>
            <a:ext cx="3454298" cy="777240"/>
          </a:xfrm>
          <a:prstGeom prst="roundRect">
            <a:avLst>
              <a:gd name="adj" fmla="val 11765"/>
            </a:avLst>
          </a:prstGeom>
          <a:solidFill>
            <a:srgbClr val="FFFFFF"/>
          </a:solidFill>
          <a:ln w="12700">
            <a:solidFill>
              <a:srgbClr val="FFFFFF"/>
            </a:solidFill>
            <a:prstDash val="solid"/>
          </a:ln>
        </p:spPr>
      </p:sp>
      <p:sp>
        <p:nvSpPr>
          <p:cNvPr id="37" name="Shape 30"/>
          <p:cNvSpPr/>
          <p:nvPr/>
        </p:nvSpPr>
        <p:spPr>
          <a:xfrm>
            <a:off x="822960" y="5623560"/>
            <a:ext cx="411480" cy="411480"/>
          </a:xfrm>
          <a:prstGeom prst="ellipse">
            <a:avLst/>
          </a:prstGeom>
          <a:solidFill>
            <a:srgbClr val="3182F6"/>
          </a:solidFill>
          <a:ln w="12700">
            <a:solidFill>
              <a:srgbClr val="3182F6"/>
            </a:solidFill>
            <a:prstDash val="solid"/>
          </a:ln>
        </p:spPr>
      </p:sp>
      <p:pic>
        <p:nvPicPr>
          <p:cNvPr id="38" name="Image 5" descr="preencoded.png">    </p:cNvPr>
          <p:cNvPicPr>
            <a:picLocks noChangeAspect="1"/>
          </p:cNvPicPr>
          <p:nvPr/>
        </p:nvPicPr>
        <p:blipFill>
          <a:blip r:embed="rId6"/>
          <a:stretch>
            <a:fillRect/>
          </a:stretch>
        </p:blipFill>
        <p:spPr>
          <a:xfrm>
            <a:off x="925830" y="5726430"/>
            <a:ext cx="205740" cy="205740"/>
          </a:xfrm>
          <a:prstGeom prst="rect">
            <a:avLst/>
          </a:prstGeom>
        </p:spPr>
      </p:pic>
      <p:sp>
        <p:nvSpPr>
          <p:cNvPr id="39" name="Text 31"/>
          <p:cNvSpPr txBox="1"/>
          <p:nvPr/>
        </p:nvSpPr>
        <p:spPr>
          <a:xfrm>
            <a:off x="1371600" y="5440680"/>
            <a:ext cx="2585618" cy="777240"/>
          </a:xfrm>
          <a:prstGeom prst="rect">
            <a:avLst/>
          </a:prstGeom>
          <a:noFill/>
          <a:ln/>
        </p:spPr>
        <p:txBody>
          <a:bodyPr wrap="square" lIns="0" tIns="0" rIns="0" bIns="0" rtlCol="0" anchor="ctr"/>
          <a:lstStyle/>
          <a:p>
            <a:pPr indent="0" marL="0">
              <a:lnSpc>
                <a:spcPct val="120000"/>
              </a:lnSpc>
              <a:buNone/>
            </a:pPr>
            <a:r>
              <a:rPr lang="en-US" sz="1050" dirty="0">
                <a:solidFill>
                  <a:srgbClr val="0F172A"/>
                </a:solidFill>
                <a:latin typeface="Malgun Gothic" pitchFamily="34" charset="0"/>
                <a:ea typeface="Malgun Gothic" pitchFamily="34" charset="-122"/>
                <a:cs typeface="Malgun Gothic" pitchFamily="34" charset="-120"/>
              </a:rPr>
              <a:t>행사일 기준 최소 3주 전 의뢰를 권장합니다.</a:t>
            </a:r>
            <a:endParaRPr lang="en-US" sz="1050" dirty="0"/>
          </a:p>
        </p:txBody>
      </p:sp>
      <p:sp>
        <p:nvSpPr>
          <p:cNvPr id="40" name="Shape 32"/>
          <p:cNvSpPr/>
          <p:nvPr/>
        </p:nvSpPr>
        <p:spPr>
          <a:xfrm>
            <a:off x="4368698" y="5440680"/>
            <a:ext cx="3454298" cy="777240"/>
          </a:xfrm>
          <a:prstGeom prst="roundRect">
            <a:avLst>
              <a:gd name="adj" fmla="val 11765"/>
            </a:avLst>
          </a:prstGeom>
          <a:solidFill>
            <a:srgbClr val="FFFFFF"/>
          </a:solidFill>
          <a:ln w="12700">
            <a:solidFill>
              <a:srgbClr val="FFFFFF"/>
            </a:solidFill>
            <a:prstDash val="solid"/>
          </a:ln>
        </p:spPr>
      </p:sp>
      <p:sp>
        <p:nvSpPr>
          <p:cNvPr id="41" name="Shape 33"/>
          <p:cNvSpPr/>
          <p:nvPr/>
        </p:nvSpPr>
        <p:spPr>
          <a:xfrm>
            <a:off x="4551578" y="5623560"/>
            <a:ext cx="411480" cy="411480"/>
          </a:xfrm>
          <a:prstGeom prst="ellipse">
            <a:avLst/>
          </a:prstGeom>
          <a:solidFill>
            <a:srgbClr val="3182F6"/>
          </a:solidFill>
          <a:ln w="12700">
            <a:solidFill>
              <a:srgbClr val="3182F6"/>
            </a:solidFill>
            <a:prstDash val="solid"/>
          </a:ln>
        </p:spPr>
      </p:sp>
      <p:pic>
        <p:nvPicPr>
          <p:cNvPr id="42" name="Image 6" descr="preencoded.png">    </p:cNvPr>
          <p:cNvPicPr>
            <a:picLocks noChangeAspect="1"/>
          </p:cNvPicPr>
          <p:nvPr/>
        </p:nvPicPr>
        <p:blipFill>
          <a:blip r:embed="rId7"/>
          <a:stretch>
            <a:fillRect/>
          </a:stretch>
        </p:blipFill>
        <p:spPr>
          <a:xfrm>
            <a:off x="4654448" y="5726430"/>
            <a:ext cx="205740" cy="205740"/>
          </a:xfrm>
          <a:prstGeom prst="rect">
            <a:avLst/>
          </a:prstGeom>
        </p:spPr>
      </p:pic>
      <p:sp>
        <p:nvSpPr>
          <p:cNvPr id="43" name="Text 34"/>
          <p:cNvSpPr txBox="1"/>
          <p:nvPr/>
        </p:nvSpPr>
        <p:spPr>
          <a:xfrm>
            <a:off x="5100218" y="5440680"/>
            <a:ext cx="2585618" cy="777240"/>
          </a:xfrm>
          <a:prstGeom prst="rect">
            <a:avLst/>
          </a:prstGeom>
          <a:noFill/>
          <a:ln/>
        </p:spPr>
        <p:txBody>
          <a:bodyPr wrap="square" lIns="0" tIns="0" rIns="0" bIns="0" rtlCol="0" anchor="ctr"/>
          <a:lstStyle/>
          <a:p>
            <a:pPr indent="0" marL="0">
              <a:lnSpc>
                <a:spcPct val="120000"/>
              </a:lnSpc>
              <a:buNone/>
            </a:pPr>
            <a:r>
              <a:rPr lang="en-US" sz="1050" dirty="0">
                <a:solidFill>
                  <a:srgbClr val="0F172A"/>
                </a:solidFill>
                <a:latin typeface="Malgun Gothic" pitchFamily="34" charset="0"/>
                <a:ea typeface="Malgun Gothic" pitchFamily="34" charset="-122"/>
                <a:cs typeface="Malgun Gothic" pitchFamily="34" charset="-120"/>
              </a:rPr>
              <a:t>결과 보고서에는 방문자 수, 셀러별 매출, 정산 내역이 포함됩니다.</a:t>
            </a:r>
            <a:endParaRPr lang="en-US" sz="1050" dirty="0"/>
          </a:p>
        </p:txBody>
      </p:sp>
      <p:sp>
        <p:nvSpPr>
          <p:cNvPr id="44" name="Shape 35"/>
          <p:cNvSpPr/>
          <p:nvPr/>
        </p:nvSpPr>
        <p:spPr>
          <a:xfrm>
            <a:off x="8097317" y="5440680"/>
            <a:ext cx="3454298" cy="777240"/>
          </a:xfrm>
          <a:prstGeom prst="roundRect">
            <a:avLst>
              <a:gd name="adj" fmla="val 11765"/>
            </a:avLst>
          </a:prstGeom>
          <a:solidFill>
            <a:srgbClr val="FFFFFF"/>
          </a:solidFill>
          <a:ln w="12700">
            <a:solidFill>
              <a:srgbClr val="FFFFFF"/>
            </a:solidFill>
            <a:prstDash val="solid"/>
          </a:ln>
        </p:spPr>
      </p:sp>
      <p:sp>
        <p:nvSpPr>
          <p:cNvPr id="45" name="Shape 36"/>
          <p:cNvSpPr/>
          <p:nvPr/>
        </p:nvSpPr>
        <p:spPr>
          <a:xfrm>
            <a:off x="8280197" y="5623560"/>
            <a:ext cx="411480" cy="411480"/>
          </a:xfrm>
          <a:prstGeom prst="ellipse">
            <a:avLst/>
          </a:prstGeom>
          <a:solidFill>
            <a:srgbClr val="3182F6"/>
          </a:solidFill>
          <a:ln w="12700">
            <a:solidFill>
              <a:srgbClr val="3182F6"/>
            </a:solidFill>
            <a:prstDash val="solid"/>
          </a:ln>
        </p:spPr>
      </p:sp>
      <p:pic>
        <p:nvPicPr>
          <p:cNvPr id="46" name="Image 7" descr="preencoded.png">    </p:cNvPr>
          <p:cNvPicPr>
            <a:picLocks noChangeAspect="1"/>
          </p:cNvPicPr>
          <p:nvPr/>
        </p:nvPicPr>
        <p:blipFill>
          <a:blip r:embed="rId8"/>
          <a:stretch>
            <a:fillRect/>
          </a:stretch>
        </p:blipFill>
        <p:spPr>
          <a:xfrm>
            <a:off x="8383067" y="5726430"/>
            <a:ext cx="205740" cy="205740"/>
          </a:xfrm>
          <a:prstGeom prst="rect">
            <a:avLst/>
          </a:prstGeom>
        </p:spPr>
      </p:pic>
      <p:sp>
        <p:nvSpPr>
          <p:cNvPr id="47" name="Text 37"/>
          <p:cNvSpPr txBox="1"/>
          <p:nvPr/>
        </p:nvSpPr>
        <p:spPr>
          <a:xfrm>
            <a:off x="8828837" y="5440680"/>
            <a:ext cx="2585618" cy="777240"/>
          </a:xfrm>
          <a:prstGeom prst="rect">
            <a:avLst/>
          </a:prstGeom>
          <a:noFill/>
          <a:ln/>
        </p:spPr>
        <p:txBody>
          <a:bodyPr wrap="square" lIns="0" tIns="0" rIns="0" bIns="0" rtlCol="0" anchor="ctr"/>
          <a:lstStyle/>
          <a:p>
            <a:pPr indent="0" marL="0">
              <a:lnSpc>
                <a:spcPct val="120000"/>
              </a:lnSpc>
              <a:buNone/>
            </a:pPr>
            <a:r>
              <a:rPr lang="en-US" sz="1050" dirty="0">
                <a:solidFill>
                  <a:srgbClr val="0F172A"/>
                </a:solidFill>
                <a:latin typeface="Malgun Gothic" pitchFamily="34" charset="0"/>
                <a:ea typeface="Malgun Gothic" pitchFamily="34" charset="-122"/>
                <a:cs typeface="Malgun Gothic" pitchFamily="34" charset="-120"/>
              </a:rPr>
              <a:t>야외 행사는 텐트 렌탈을 포함한 우천 대비 플랜을 사전에 수립합니다.</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F44"/>
        </a:solidFill>
      </p:bgPr>
    </p:bg>
    <p:spTree>
      <p:nvGrpSpPr>
        <p:cNvPr id="1" name=""/>
        <p:cNvGrpSpPr/>
        <p:nvPr/>
      </p:nvGrpSpPr>
      <p:grpSpPr>
        <a:xfrm>
          <a:off x="0" y="0"/>
          <a:ext cx="0" cy="0"/>
          <a:chOff x="0" y="0"/>
          <a:chExt cx="0" cy="0"/>
        </a:xfrm>
      </p:grpSpPr>
      <p:sp>
        <p:nvSpPr>
          <p:cNvPr id="2" name="Shape 0"/>
          <p:cNvSpPr/>
          <p:nvPr/>
        </p:nvSpPr>
        <p:spPr>
          <a:xfrm>
            <a:off x="9265615" y="-2377440"/>
            <a:ext cx="5120640" cy="5120640"/>
          </a:xfrm>
          <a:prstGeom prst="ellipse">
            <a:avLst/>
          </a:prstGeom>
          <a:solidFill>
            <a:srgbClr val="12305F"/>
          </a:solidFill>
          <a:ln w="12700">
            <a:solidFill>
              <a:srgbClr val="12305F"/>
            </a:solidFill>
            <a:prstDash val="solid"/>
          </a:ln>
        </p:spPr>
      </p:sp>
      <p:sp>
        <p:nvSpPr>
          <p:cNvPr id="3" name="Shape 1"/>
          <p:cNvSpPr/>
          <p:nvPr/>
        </p:nvSpPr>
        <p:spPr>
          <a:xfrm>
            <a:off x="-1645920" y="5029200"/>
            <a:ext cx="3657600" cy="3657600"/>
          </a:xfrm>
          <a:prstGeom prst="ellipse">
            <a:avLst/>
          </a:prstGeom>
          <a:solidFill>
            <a:srgbClr val="12305F"/>
          </a:solidFill>
          <a:ln w="12700">
            <a:solidFill>
              <a:srgbClr val="12305F"/>
            </a:solidFill>
            <a:prstDash val="solid"/>
          </a:ln>
        </p:spPr>
      </p:sp>
      <p:sp>
        <p:nvSpPr>
          <p:cNvPr id="4" name="Text 2"/>
          <p:cNvSpPr txBox="1"/>
          <p:nvPr/>
        </p:nvSpPr>
        <p:spPr>
          <a:xfrm>
            <a:off x="640080" y="384048"/>
            <a:ext cx="1155700" cy="266700"/>
          </a:xfrm>
          <a:prstGeom prst="rect">
            <a:avLst/>
          </a:prstGeom>
          <a:noFill/>
          <a:ln/>
        </p:spPr>
        <p:txBody>
          <a:bodyPr wrap="square" lIns="0" tIns="0" rIns="0" bIns="0" rtlCol="0" anchor="ctr"/>
          <a:lstStyle/>
          <a:p>
            <a:pPr indent="0" marL="0">
              <a:buNone/>
            </a:pPr>
            <a:r>
              <a:rPr lang="en-US" sz="1400" b="1" dirty="0">
                <a:solidFill>
                  <a:srgbClr val="3182F6"/>
                </a:solidFill>
                <a:latin typeface="Arial Black" pitchFamily="34" charset="0"/>
                <a:ea typeface="Arial Black" pitchFamily="34" charset="-122"/>
                <a:cs typeface="Arial Black" pitchFamily="34" charset="-120"/>
              </a:rPr>
              <a:t>Flit</a:t>
            </a:r>
            <a:pPr indent="0" marL="0">
              <a:buNone/>
            </a:pPr>
            <a:r>
              <a:rPr lang="en-US" sz="1400" b="1" dirty="0">
                <a:solidFill>
                  <a:srgbClr val="FFFFFF"/>
                </a:solidFill>
                <a:latin typeface="Arial Black" pitchFamily="34" charset="0"/>
                <a:ea typeface="Arial Black" pitchFamily="34" charset="-122"/>
                <a:cs typeface="Arial Black" pitchFamily="34" charset="-120"/>
              </a:rPr>
              <a:t>Union</a:t>
            </a:r>
            <a:endParaRPr lang="en-US" sz="1400" dirty="0"/>
          </a:p>
        </p:txBody>
      </p:sp>
      <p:sp>
        <p:nvSpPr>
          <p:cNvPr id="5" name="Text 3"/>
          <p:cNvSpPr txBox="1"/>
          <p:nvPr/>
        </p:nvSpPr>
        <p:spPr>
          <a:xfrm>
            <a:off x="640080" y="868680"/>
            <a:ext cx="5486400" cy="274320"/>
          </a:xfrm>
          <a:prstGeom prst="rect">
            <a:avLst/>
          </a:prstGeom>
          <a:noFill/>
          <a:ln/>
        </p:spPr>
        <p:txBody>
          <a:bodyPr wrap="square" lIns="0" tIns="0" rIns="0" bIns="0" rtlCol="0" anchor="t"/>
          <a:lstStyle/>
          <a:p>
            <a:pPr indent="0" marL="0">
              <a:buNone/>
            </a:pPr>
            <a:r>
              <a:rPr lang="en-US" sz="1100" b="1" spc="300" kern="0" dirty="0">
                <a:solidFill>
                  <a:srgbClr val="93C5FD"/>
                </a:solidFill>
                <a:latin typeface="Malgun Gothic" pitchFamily="34" charset="0"/>
                <a:ea typeface="Malgun Gothic" pitchFamily="34" charset="-122"/>
                <a:cs typeface="Malgun Gothic" pitchFamily="34" charset="-120"/>
              </a:rPr>
              <a:t>08  PORTFOLIO</a:t>
            </a:r>
            <a:endParaRPr lang="en-US" sz="1100" dirty="0"/>
          </a:p>
        </p:txBody>
      </p:sp>
      <p:sp>
        <p:nvSpPr>
          <p:cNvPr id="6" name="Text 4"/>
          <p:cNvSpPr txBox="1"/>
          <p:nvPr/>
        </p:nvSpPr>
        <p:spPr>
          <a:xfrm>
            <a:off x="640080" y="1143000"/>
            <a:ext cx="10911535" cy="594360"/>
          </a:xfrm>
          <a:prstGeom prst="rect">
            <a:avLst/>
          </a:prstGeom>
          <a:noFill/>
          <a:ln/>
        </p:spPr>
        <p:txBody>
          <a:bodyPr wrap="square" lIns="0" tIns="0" rIns="0" bIns="0" rtlCol="0" anchor="t"/>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주요 실적</a:t>
            </a:r>
            <a:endParaRPr lang="en-US" sz="2800" dirty="0"/>
          </a:p>
        </p:txBody>
      </p:sp>
      <p:sp>
        <p:nvSpPr>
          <p:cNvPr id="7" name="Text 5"/>
          <p:cNvSpPr txBox="1"/>
          <p:nvPr/>
        </p:nvSpPr>
        <p:spPr>
          <a:xfrm>
            <a:off x="640080" y="1737360"/>
            <a:ext cx="10911535" cy="411480"/>
          </a:xfrm>
          <a:prstGeom prst="rect">
            <a:avLst/>
          </a:prstGeom>
          <a:noFill/>
          <a:ln/>
        </p:spPr>
        <p:txBody>
          <a:bodyPr wrap="square" lIns="0" tIns="0" rIns="0" bIns="0" rtlCol="0" anchor="t"/>
          <a:lstStyle/>
          <a:p>
            <a:pPr indent="0" marL="0">
              <a:buNone/>
            </a:pPr>
            <a:r>
              <a:rPr lang="en-US" sz="1300" dirty="0">
                <a:solidFill>
                  <a:srgbClr val="D6E4F8"/>
                </a:solidFill>
                <a:latin typeface="Malgun Gothic" pitchFamily="34" charset="0"/>
                <a:ea typeface="Malgun Gothic" pitchFamily="34" charset="-122"/>
                <a:cs typeface="Malgun Gothic" pitchFamily="34" charset="-120"/>
              </a:rPr>
              <a:t>대학교, 아파트 단지, 대형 축제, 체험부스까지 10건의 운영 사례입니다.</a:t>
            </a:r>
            <a:endParaRPr lang="en-US" sz="1300" dirty="0"/>
          </a:p>
        </p:txBody>
      </p:sp>
      <p:sp>
        <p:nvSpPr>
          <p:cNvPr id="8" name="Text 6"/>
          <p:cNvSpPr txBox="1"/>
          <p:nvPr/>
        </p:nvSpPr>
        <p:spPr>
          <a:xfrm>
            <a:off x="640080" y="6400800"/>
            <a:ext cx="3657600" cy="228600"/>
          </a:xfrm>
          <a:prstGeom prst="rect">
            <a:avLst/>
          </a:prstGeom>
          <a:noFill/>
          <a:ln/>
        </p:spPr>
        <p:txBody>
          <a:bodyPr wrap="square" lIns="0" tIns="0" rIns="0" bIns="0" rtlCol="0" anchor="t"/>
          <a:lstStyle/>
          <a:p>
            <a:pPr indent="0" marL="0">
              <a:buNone/>
            </a:pPr>
            <a:r>
              <a:rPr lang="en-US" sz="900" dirty="0">
                <a:solidFill>
                  <a:srgbClr val="94A3B8"/>
                </a:solidFill>
                <a:latin typeface="Malgun Gothic" pitchFamily="34" charset="0"/>
                <a:ea typeface="Malgun Gothic" pitchFamily="34" charset="-122"/>
                <a:cs typeface="Malgun Gothic" pitchFamily="34" charset="-120"/>
              </a:rPr>
              <a:t>플릿 유니온 회사소개서</a:t>
            </a:r>
            <a:endParaRPr lang="en-US" sz="900" dirty="0"/>
          </a:p>
        </p:txBody>
      </p:sp>
      <p:sp>
        <p:nvSpPr>
          <p:cNvPr id="9" name="Text 7"/>
          <p:cNvSpPr txBox="1"/>
          <p:nvPr/>
        </p:nvSpPr>
        <p:spPr>
          <a:xfrm>
            <a:off x="10637215" y="6400800"/>
            <a:ext cx="914400" cy="228600"/>
          </a:xfrm>
          <a:prstGeom prst="rect">
            <a:avLst/>
          </a:prstGeom>
          <a:noFill/>
          <a:ln/>
        </p:spPr>
        <p:txBody>
          <a:bodyPr wrap="square" lIns="0" tIns="0" rIns="0" bIns="0" rtlCol="0" anchor="t"/>
          <a:lstStyle/>
          <a:p>
            <a:pPr algn="r" indent="0" marL="0">
              <a:buNone/>
            </a:pPr>
            <a:r>
              <a:rPr lang="en-US" sz="900" dirty="0">
                <a:solidFill>
                  <a:srgbClr val="94A3B8"/>
                </a:solidFill>
                <a:latin typeface="Malgun Gothic" pitchFamily="34" charset="0"/>
                <a:ea typeface="Malgun Gothic" pitchFamily="34" charset="-122"/>
                <a:cs typeface="Malgun Gothic" pitchFamily="34" charset="-120"/>
              </a:rPr>
              <a:t>17</a:t>
            </a:r>
            <a:endParaRPr lang="en-US" sz="900" dirty="0"/>
          </a:p>
        </p:txBody>
      </p:sp>
      <p:sp>
        <p:nvSpPr>
          <p:cNvPr id="10" name="Shape 8"/>
          <p:cNvSpPr/>
          <p:nvPr/>
        </p:nvSpPr>
        <p:spPr>
          <a:xfrm>
            <a:off x="640080" y="2286000"/>
            <a:ext cx="2036003" cy="1731234"/>
          </a:xfrm>
          <a:prstGeom prst="roundRect">
            <a:avLst>
              <a:gd name="adj" fmla="val 5282"/>
            </a:avLst>
          </a:prstGeom>
          <a:solidFill>
            <a:srgbClr val="FFFFFF"/>
          </a:solidFill>
          <a:ln w="12700">
            <a:solidFill>
              <a:srgbClr val="FFFFFF"/>
            </a:solidFill>
            <a:prstDash val="solid"/>
          </a:ln>
        </p:spPr>
      </p:sp>
      <p:sp>
        <p:nvSpPr>
          <p:cNvPr id="11" name="Shape 9"/>
          <p:cNvSpPr/>
          <p:nvPr/>
        </p:nvSpPr>
        <p:spPr>
          <a:xfrm>
            <a:off x="640080" y="2286000"/>
            <a:ext cx="2036003" cy="1018002"/>
          </a:xfrm>
          <a:prstGeom prst="roundRect">
            <a:avLst>
              <a:gd name="adj" fmla="val 8982"/>
            </a:avLst>
          </a:prstGeom>
          <a:solidFill>
            <a:srgbClr val="12305F"/>
          </a:solidFill>
          <a:ln w="12700">
            <a:solidFill>
              <a:srgbClr val="1F5FD0"/>
            </a:solidFill>
            <a:prstDash val="dash"/>
          </a:ln>
        </p:spPr>
      </p:sp>
      <p:pic>
        <p:nvPicPr>
          <p:cNvPr id="12" name="Image 0" descr="preencoded.png">    </p:cNvPr>
          <p:cNvPicPr>
            <a:picLocks noChangeAspect="1"/>
          </p:cNvPicPr>
          <p:nvPr/>
        </p:nvPicPr>
        <p:blipFill>
          <a:blip r:embed="rId1"/>
          <a:stretch>
            <a:fillRect/>
          </a:stretch>
        </p:blipFill>
        <p:spPr>
          <a:xfrm>
            <a:off x="1505381" y="2532573"/>
            <a:ext cx="305400" cy="305400"/>
          </a:xfrm>
          <a:prstGeom prst="rect">
            <a:avLst/>
          </a:prstGeom>
        </p:spPr>
      </p:pic>
      <p:sp>
        <p:nvSpPr>
          <p:cNvPr id="13" name="Text 10"/>
          <p:cNvSpPr txBox="1"/>
          <p:nvPr/>
        </p:nvSpPr>
        <p:spPr>
          <a:xfrm>
            <a:off x="640080" y="2874549"/>
            <a:ext cx="2036003" cy="228600"/>
          </a:xfrm>
          <a:prstGeom prst="rect">
            <a:avLst/>
          </a:prstGeom>
          <a:noFill/>
          <a:ln/>
        </p:spPr>
        <p:txBody>
          <a:bodyPr wrap="square" lIns="0" tIns="0" rIns="0" bIns="0" rtlCol="0" anchor="t"/>
          <a:lstStyle/>
          <a:p>
            <a:pPr algn="ctr" indent="0" marL="0">
              <a:buNone/>
            </a:pPr>
            <a:r>
              <a:rPr lang="en-US" sz="850" dirty="0">
                <a:solidFill>
                  <a:srgbClr val="93C5FD"/>
                </a:solidFill>
                <a:latin typeface="Malgun Gothic" pitchFamily="34" charset="0"/>
                <a:ea typeface="Malgun Gothic" pitchFamily="34" charset="-122"/>
                <a:cs typeface="Malgun Gothic" pitchFamily="34" charset="-120"/>
              </a:rPr>
              <a:t>현장 사진</a:t>
            </a:r>
            <a:endParaRPr lang="en-US" sz="850" dirty="0"/>
          </a:p>
        </p:txBody>
      </p:sp>
      <p:sp>
        <p:nvSpPr>
          <p:cNvPr id="14" name="Shape 11"/>
          <p:cNvSpPr/>
          <p:nvPr/>
        </p:nvSpPr>
        <p:spPr>
          <a:xfrm>
            <a:off x="777240" y="2423160"/>
            <a:ext cx="914400" cy="237744"/>
          </a:xfrm>
          <a:prstGeom prst="roundRect">
            <a:avLst>
              <a:gd name="adj" fmla="val 50000"/>
            </a:avLst>
          </a:prstGeom>
          <a:solidFill>
            <a:srgbClr val="4F46E5"/>
          </a:solidFill>
          <a:ln w="12700">
            <a:solidFill>
              <a:srgbClr val="4F46E5"/>
            </a:solidFill>
            <a:prstDash val="solid"/>
          </a:ln>
        </p:spPr>
      </p:sp>
      <p:sp>
        <p:nvSpPr>
          <p:cNvPr id="15" name="Text 12"/>
          <p:cNvSpPr txBox="1"/>
          <p:nvPr/>
        </p:nvSpPr>
        <p:spPr>
          <a:xfrm>
            <a:off x="777240" y="2423160"/>
            <a:ext cx="9144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야시장</a:t>
            </a:r>
            <a:endParaRPr lang="en-US" sz="800" dirty="0"/>
          </a:p>
        </p:txBody>
      </p:sp>
      <p:sp>
        <p:nvSpPr>
          <p:cNvPr id="16" name="Text 13"/>
          <p:cNvSpPr txBox="1"/>
          <p:nvPr/>
        </p:nvSpPr>
        <p:spPr>
          <a:xfrm>
            <a:off x="777240" y="3377154"/>
            <a:ext cx="1761683" cy="411480"/>
          </a:xfrm>
          <a:prstGeom prst="rect">
            <a:avLst/>
          </a:prstGeom>
          <a:noFill/>
          <a:ln/>
        </p:spPr>
        <p:txBody>
          <a:bodyPr wrap="square" lIns="0" tIns="0" rIns="0" bIns="0" rtlCol="0" anchor="t"/>
          <a:lstStyle/>
          <a:p>
            <a:pPr indent="0" marL="0">
              <a:lnSpc>
                <a:spcPct val="110000"/>
              </a:lnSpc>
              <a:buNone/>
            </a:pPr>
            <a:r>
              <a:rPr lang="en-US" sz="900" b="1" dirty="0">
                <a:solidFill>
                  <a:srgbClr val="0F172A"/>
                </a:solidFill>
                <a:latin typeface="Malgun Gothic" pitchFamily="34" charset="0"/>
                <a:ea typeface="Malgun Gothic" pitchFamily="34" charset="-122"/>
                <a:cs typeface="Malgun Gothic" pitchFamily="34" charset="-120"/>
              </a:rPr>
              <a:t>원주 소재 대학교 야시장 운영</a:t>
            </a:r>
            <a:endParaRPr lang="en-US" sz="900" dirty="0"/>
          </a:p>
        </p:txBody>
      </p:sp>
      <p:sp>
        <p:nvSpPr>
          <p:cNvPr id="17" name="Text 14"/>
          <p:cNvSpPr txBox="1"/>
          <p:nvPr/>
        </p:nvSpPr>
        <p:spPr>
          <a:xfrm>
            <a:off x="777240" y="3779490"/>
            <a:ext cx="1761683" cy="201168"/>
          </a:xfrm>
          <a:prstGeom prst="rect">
            <a:avLst/>
          </a:prstGeom>
          <a:noFill/>
          <a:ln/>
        </p:spPr>
        <p:txBody>
          <a:bodyPr wrap="square" lIns="0" tIns="0" rIns="0" bIns="0" rtlCol="0" anchor="t"/>
          <a:lstStyle/>
          <a:p>
            <a:pPr indent="0" marL="0">
              <a:buNone/>
            </a:pPr>
            <a:r>
              <a:rPr lang="en-US" sz="800" dirty="0">
                <a:solidFill>
                  <a:srgbClr val="94A3B8"/>
                </a:solidFill>
                <a:latin typeface="Malgun Gothic" pitchFamily="34" charset="0"/>
                <a:ea typeface="Malgun Gothic" pitchFamily="34" charset="-122"/>
                <a:cs typeface="Malgun Gothic" pitchFamily="34" charset="-120"/>
              </a:rPr>
              <a:t>강원 원주시</a:t>
            </a:r>
            <a:endParaRPr lang="en-US" sz="800" dirty="0"/>
          </a:p>
        </p:txBody>
      </p:sp>
      <p:sp>
        <p:nvSpPr>
          <p:cNvPr id="18" name="Shape 15"/>
          <p:cNvSpPr/>
          <p:nvPr/>
        </p:nvSpPr>
        <p:spPr>
          <a:xfrm>
            <a:off x="2858963" y="2286000"/>
            <a:ext cx="2036003" cy="1731234"/>
          </a:xfrm>
          <a:prstGeom prst="roundRect">
            <a:avLst>
              <a:gd name="adj" fmla="val 5282"/>
            </a:avLst>
          </a:prstGeom>
          <a:solidFill>
            <a:srgbClr val="FFFFFF"/>
          </a:solidFill>
          <a:ln w="12700">
            <a:solidFill>
              <a:srgbClr val="FFFFFF"/>
            </a:solidFill>
            <a:prstDash val="solid"/>
          </a:ln>
        </p:spPr>
      </p:sp>
      <p:sp>
        <p:nvSpPr>
          <p:cNvPr id="19" name="Shape 16"/>
          <p:cNvSpPr/>
          <p:nvPr/>
        </p:nvSpPr>
        <p:spPr>
          <a:xfrm>
            <a:off x="2858963" y="2286000"/>
            <a:ext cx="2036003" cy="1018002"/>
          </a:xfrm>
          <a:prstGeom prst="roundRect">
            <a:avLst>
              <a:gd name="adj" fmla="val 8982"/>
            </a:avLst>
          </a:prstGeom>
          <a:solidFill>
            <a:srgbClr val="12305F"/>
          </a:solidFill>
          <a:ln w="12700">
            <a:solidFill>
              <a:srgbClr val="1F5FD0"/>
            </a:solidFill>
            <a:prstDash val="dash"/>
          </a:ln>
        </p:spPr>
      </p:sp>
      <p:pic>
        <p:nvPicPr>
          <p:cNvPr id="20" name="Image 1" descr="preencoded.png">    </p:cNvPr>
          <p:cNvPicPr>
            <a:picLocks noChangeAspect="1"/>
          </p:cNvPicPr>
          <p:nvPr/>
        </p:nvPicPr>
        <p:blipFill>
          <a:blip r:embed="rId2"/>
          <a:stretch>
            <a:fillRect/>
          </a:stretch>
        </p:blipFill>
        <p:spPr>
          <a:xfrm>
            <a:off x="3724264" y="2532573"/>
            <a:ext cx="305400" cy="305400"/>
          </a:xfrm>
          <a:prstGeom prst="rect">
            <a:avLst/>
          </a:prstGeom>
        </p:spPr>
      </p:pic>
      <p:sp>
        <p:nvSpPr>
          <p:cNvPr id="21" name="Text 17"/>
          <p:cNvSpPr txBox="1"/>
          <p:nvPr/>
        </p:nvSpPr>
        <p:spPr>
          <a:xfrm>
            <a:off x="2858963" y="2874549"/>
            <a:ext cx="2036003" cy="228600"/>
          </a:xfrm>
          <a:prstGeom prst="rect">
            <a:avLst/>
          </a:prstGeom>
          <a:noFill/>
          <a:ln/>
        </p:spPr>
        <p:txBody>
          <a:bodyPr wrap="square" lIns="0" tIns="0" rIns="0" bIns="0" rtlCol="0" anchor="t"/>
          <a:lstStyle/>
          <a:p>
            <a:pPr algn="ctr" indent="0" marL="0">
              <a:buNone/>
            </a:pPr>
            <a:r>
              <a:rPr lang="en-US" sz="850" dirty="0">
                <a:solidFill>
                  <a:srgbClr val="93C5FD"/>
                </a:solidFill>
                <a:latin typeface="Malgun Gothic" pitchFamily="34" charset="0"/>
                <a:ea typeface="Malgun Gothic" pitchFamily="34" charset="-122"/>
                <a:cs typeface="Malgun Gothic" pitchFamily="34" charset="-120"/>
              </a:rPr>
              <a:t>현장 사진</a:t>
            </a:r>
            <a:endParaRPr lang="en-US" sz="850" dirty="0"/>
          </a:p>
        </p:txBody>
      </p:sp>
      <p:sp>
        <p:nvSpPr>
          <p:cNvPr id="22" name="Shape 18"/>
          <p:cNvSpPr/>
          <p:nvPr/>
        </p:nvSpPr>
        <p:spPr>
          <a:xfrm>
            <a:off x="2996123" y="2423160"/>
            <a:ext cx="914400" cy="237744"/>
          </a:xfrm>
          <a:prstGeom prst="roundRect">
            <a:avLst>
              <a:gd name="adj" fmla="val 50000"/>
            </a:avLst>
          </a:prstGeom>
          <a:solidFill>
            <a:srgbClr val="3182F6"/>
          </a:solidFill>
          <a:ln w="12700">
            <a:solidFill>
              <a:srgbClr val="3182F6"/>
            </a:solidFill>
            <a:prstDash val="solid"/>
          </a:ln>
        </p:spPr>
      </p:sp>
      <p:sp>
        <p:nvSpPr>
          <p:cNvPr id="23" name="Text 19"/>
          <p:cNvSpPr txBox="1"/>
          <p:nvPr/>
        </p:nvSpPr>
        <p:spPr>
          <a:xfrm>
            <a:off x="2996123" y="2423160"/>
            <a:ext cx="9144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캠퍼스 마켓</a:t>
            </a:r>
            <a:endParaRPr lang="en-US" sz="800" dirty="0"/>
          </a:p>
        </p:txBody>
      </p:sp>
      <p:sp>
        <p:nvSpPr>
          <p:cNvPr id="24" name="Text 20"/>
          <p:cNvSpPr txBox="1"/>
          <p:nvPr/>
        </p:nvSpPr>
        <p:spPr>
          <a:xfrm>
            <a:off x="2996123" y="3377154"/>
            <a:ext cx="1761683" cy="411480"/>
          </a:xfrm>
          <a:prstGeom prst="rect">
            <a:avLst/>
          </a:prstGeom>
          <a:noFill/>
          <a:ln/>
        </p:spPr>
        <p:txBody>
          <a:bodyPr wrap="square" lIns="0" tIns="0" rIns="0" bIns="0" rtlCol="0" anchor="t"/>
          <a:lstStyle/>
          <a:p>
            <a:pPr indent="0" marL="0">
              <a:lnSpc>
                <a:spcPct val="110000"/>
              </a:lnSpc>
              <a:buNone/>
            </a:pPr>
            <a:r>
              <a:rPr lang="en-US" sz="900" b="1" dirty="0">
                <a:solidFill>
                  <a:srgbClr val="0F172A"/>
                </a:solidFill>
                <a:latin typeface="Malgun Gothic" pitchFamily="34" charset="0"/>
                <a:ea typeface="Malgun Gothic" pitchFamily="34" charset="-122"/>
                <a:cs typeface="Malgun Gothic" pitchFamily="34" charset="-120"/>
              </a:rPr>
              <a:t>대구 소재 대학교 플리마켓 운영</a:t>
            </a:r>
            <a:endParaRPr lang="en-US" sz="900" dirty="0"/>
          </a:p>
        </p:txBody>
      </p:sp>
      <p:sp>
        <p:nvSpPr>
          <p:cNvPr id="25" name="Text 21"/>
          <p:cNvSpPr txBox="1"/>
          <p:nvPr/>
        </p:nvSpPr>
        <p:spPr>
          <a:xfrm>
            <a:off x="2996123" y="3779490"/>
            <a:ext cx="1761683" cy="201168"/>
          </a:xfrm>
          <a:prstGeom prst="rect">
            <a:avLst/>
          </a:prstGeom>
          <a:noFill/>
          <a:ln/>
        </p:spPr>
        <p:txBody>
          <a:bodyPr wrap="square" lIns="0" tIns="0" rIns="0" bIns="0" rtlCol="0" anchor="t"/>
          <a:lstStyle/>
          <a:p>
            <a:pPr indent="0" marL="0">
              <a:buNone/>
            </a:pPr>
            <a:r>
              <a:rPr lang="en-US" sz="800" dirty="0">
                <a:solidFill>
                  <a:srgbClr val="94A3B8"/>
                </a:solidFill>
                <a:latin typeface="Malgun Gothic" pitchFamily="34" charset="0"/>
                <a:ea typeface="Malgun Gothic" pitchFamily="34" charset="-122"/>
                <a:cs typeface="Malgun Gothic" pitchFamily="34" charset="-120"/>
              </a:rPr>
              <a:t>대구광역시</a:t>
            </a:r>
            <a:endParaRPr lang="en-US" sz="800" dirty="0"/>
          </a:p>
        </p:txBody>
      </p:sp>
      <p:sp>
        <p:nvSpPr>
          <p:cNvPr id="26" name="Shape 22"/>
          <p:cNvSpPr/>
          <p:nvPr/>
        </p:nvSpPr>
        <p:spPr>
          <a:xfrm>
            <a:off x="5077846" y="2286000"/>
            <a:ext cx="2036003" cy="1731234"/>
          </a:xfrm>
          <a:prstGeom prst="roundRect">
            <a:avLst>
              <a:gd name="adj" fmla="val 5282"/>
            </a:avLst>
          </a:prstGeom>
          <a:solidFill>
            <a:srgbClr val="FFFFFF"/>
          </a:solidFill>
          <a:ln w="12700">
            <a:solidFill>
              <a:srgbClr val="FFFFFF"/>
            </a:solidFill>
            <a:prstDash val="solid"/>
          </a:ln>
        </p:spPr>
      </p:sp>
      <p:sp>
        <p:nvSpPr>
          <p:cNvPr id="27" name="Shape 23"/>
          <p:cNvSpPr/>
          <p:nvPr/>
        </p:nvSpPr>
        <p:spPr>
          <a:xfrm>
            <a:off x="5077846" y="2286000"/>
            <a:ext cx="2036003" cy="1018002"/>
          </a:xfrm>
          <a:prstGeom prst="roundRect">
            <a:avLst>
              <a:gd name="adj" fmla="val 8982"/>
            </a:avLst>
          </a:prstGeom>
          <a:solidFill>
            <a:srgbClr val="12305F"/>
          </a:solidFill>
          <a:ln w="12700">
            <a:solidFill>
              <a:srgbClr val="1F5FD0"/>
            </a:solidFill>
            <a:prstDash val="dash"/>
          </a:ln>
        </p:spPr>
      </p:sp>
      <p:pic>
        <p:nvPicPr>
          <p:cNvPr id="28" name="Image 2" descr="preencoded.png">    </p:cNvPr>
          <p:cNvPicPr>
            <a:picLocks noChangeAspect="1"/>
          </p:cNvPicPr>
          <p:nvPr/>
        </p:nvPicPr>
        <p:blipFill>
          <a:blip r:embed="rId3"/>
          <a:stretch>
            <a:fillRect/>
          </a:stretch>
        </p:blipFill>
        <p:spPr>
          <a:xfrm>
            <a:off x="5943147" y="2532573"/>
            <a:ext cx="305400" cy="305400"/>
          </a:xfrm>
          <a:prstGeom prst="rect">
            <a:avLst/>
          </a:prstGeom>
        </p:spPr>
      </p:pic>
      <p:sp>
        <p:nvSpPr>
          <p:cNvPr id="29" name="Text 24"/>
          <p:cNvSpPr txBox="1"/>
          <p:nvPr/>
        </p:nvSpPr>
        <p:spPr>
          <a:xfrm>
            <a:off x="5077846" y="2874549"/>
            <a:ext cx="2036003" cy="228600"/>
          </a:xfrm>
          <a:prstGeom prst="rect">
            <a:avLst/>
          </a:prstGeom>
          <a:noFill/>
          <a:ln/>
        </p:spPr>
        <p:txBody>
          <a:bodyPr wrap="square" lIns="0" tIns="0" rIns="0" bIns="0" rtlCol="0" anchor="t"/>
          <a:lstStyle/>
          <a:p>
            <a:pPr algn="ctr" indent="0" marL="0">
              <a:buNone/>
            </a:pPr>
            <a:r>
              <a:rPr lang="en-US" sz="850" dirty="0">
                <a:solidFill>
                  <a:srgbClr val="93C5FD"/>
                </a:solidFill>
                <a:latin typeface="Malgun Gothic" pitchFamily="34" charset="0"/>
                <a:ea typeface="Malgun Gothic" pitchFamily="34" charset="-122"/>
                <a:cs typeface="Malgun Gothic" pitchFamily="34" charset="-120"/>
              </a:rPr>
              <a:t>현장 사진</a:t>
            </a:r>
            <a:endParaRPr lang="en-US" sz="850" dirty="0"/>
          </a:p>
        </p:txBody>
      </p:sp>
      <p:sp>
        <p:nvSpPr>
          <p:cNvPr id="30" name="Shape 25"/>
          <p:cNvSpPr/>
          <p:nvPr/>
        </p:nvSpPr>
        <p:spPr>
          <a:xfrm>
            <a:off x="5215006" y="2423160"/>
            <a:ext cx="914400" cy="237744"/>
          </a:xfrm>
          <a:prstGeom prst="roundRect">
            <a:avLst>
              <a:gd name="adj" fmla="val 50000"/>
            </a:avLst>
          </a:prstGeom>
          <a:solidFill>
            <a:srgbClr val="E11D48"/>
          </a:solidFill>
          <a:ln w="12700">
            <a:solidFill>
              <a:srgbClr val="E11D48"/>
            </a:solidFill>
            <a:prstDash val="solid"/>
          </a:ln>
        </p:spPr>
      </p:sp>
      <p:sp>
        <p:nvSpPr>
          <p:cNvPr id="31" name="Text 26"/>
          <p:cNvSpPr txBox="1"/>
          <p:nvPr/>
        </p:nvSpPr>
        <p:spPr>
          <a:xfrm>
            <a:off x="5215006" y="2423160"/>
            <a:ext cx="9144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대형 축제</a:t>
            </a:r>
            <a:endParaRPr lang="en-US" sz="800" dirty="0"/>
          </a:p>
        </p:txBody>
      </p:sp>
      <p:sp>
        <p:nvSpPr>
          <p:cNvPr id="32" name="Text 27"/>
          <p:cNvSpPr txBox="1"/>
          <p:nvPr/>
        </p:nvSpPr>
        <p:spPr>
          <a:xfrm>
            <a:off x="5215006" y="3377154"/>
            <a:ext cx="1761683" cy="411480"/>
          </a:xfrm>
          <a:prstGeom prst="rect">
            <a:avLst/>
          </a:prstGeom>
          <a:noFill/>
          <a:ln/>
        </p:spPr>
        <p:txBody>
          <a:bodyPr wrap="square" lIns="0" tIns="0" rIns="0" bIns="0" rtlCol="0" anchor="t"/>
          <a:lstStyle/>
          <a:p>
            <a:pPr indent="0" marL="0">
              <a:lnSpc>
                <a:spcPct val="110000"/>
              </a:lnSpc>
              <a:buNone/>
            </a:pPr>
            <a:r>
              <a:rPr lang="en-US" sz="900" b="1" dirty="0">
                <a:solidFill>
                  <a:srgbClr val="0F172A"/>
                </a:solidFill>
                <a:latin typeface="Malgun Gothic" pitchFamily="34" charset="0"/>
                <a:ea typeface="Malgun Gothic" pitchFamily="34" charset="-122"/>
                <a:cs typeface="Malgun Gothic" pitchFamily="34" charset="-120"/>
              </a:rPr>
              <a:t>서울 소재 대형 축제 부스 운영</a:t>
            </a:r>
            <a:endParaRPr lang="en-US" sz="900" dirty="0"/>
          </a:p>
        </p:txBody>
      </p:sp>
      <p:sp>
        <p:nvSpPr>
          <p:cNvPr id="33" name="Text 28"/>
          <p:cNvSpPr txBox="1"/>
          <p:nvPr/>
        </p:nvSpPr>
        <p:spPr>
          <a:xfrm>
            <a:off x="5215006" y="3779490"/>
            <a:ext cx="1761683" cy="201168"/>
          </a:xfrm>
          <a:prstGeom prst="rect">
            <a:avLst/>
          </a:prstGeom>
          <a:noFill/>
          <a:ln/>
        </p:spPr>
        <p:txBody>
          <a:bodyPr wrap="square" lIns="0" tIns="0" rIns="0" bIns="0" rtlCol="0" anchor="t"/>
          <a:lstStyle/>
          <a:p>
            <a:pPr indent="0" marL="0">
              <a:buNone/>
            </a:pPr>
            <a:r>
              <a:rPr lang="en-US" sz="800" dirty="0">
                <a:solidFill>
                  <a:srgbClr val="94A3B8"/>
                </a:solidFill>
                <a:latin typeface="Malgun Gothic" pitchFamily="34" charset="0"/>
                <a:ea typeface="Malgun Gothic" pitchFamily="34" charset="-122"/>
                <a:cs typeface="Malgun Gothic" pitchFamily="34" charset="-120"/>
              </a:rPr>
              <a:t>서울특별시</a:t>
            </a:r>
            <a:endParaRPr lang="en-US" sz="800" dirty="0"/>
          </a:p>
        </p:txBody>
      </p:sp>
      <p:sp>
        <p:nvSpPr>
          <p:cNvPr id="34" name="Shape 29"/>
          <p:cNvSpPr/>
          <p:nvPr/>
        </p:nvSpPr>
        <p:spPr>
          <a:xfrm>
            <a:off x="7296729" y="2286000"/>
            <a:ext cx="2036003" cy="1731234"/>
          </a:xfrm>
          <a:prstGeom prst="roundRect">
            <a:avLst>
              <a:gd name="adj" fmla="val 5282"/>
            </a:avLst>
          </a:prstGeom>
          <a:solidFill>
            <a:srgbClr val="FFFFFF"/>
          </a:solidFill>
          <a:ln w="12700">
            <a:solidFill>
              <a:srgbClr val="FFFFFF"/>
            </a:solidFill>
            <a:prstDash val="solid"/>
          </a:ln>
        </p:spPr>
      </p:sp>
      <p:sp>
        <p:nvSpPr>
          <p:cNvPr id="35" name="Shape 30"/>
          <p:cNvSpPr/>
          <p:nvPr/>
        </p:nvSpPr>
        <p:spPr>
          <a:xfrm>
            <a:off x="7296729" y="2286000"/>
            <a:ext cx="2036003" cy="1018002"/>
          </a:xfrm>
          <a:prstGeom prst="roundRect">
            <a:avLst>
              <a:gd name="adj" fmla="val 8982"/>
            </a:avLst>
          </a:prstGeom>
          <a:solidFill>
            <a:srgbClr val="12305F"/>
          </a:solidFill>
          <a:ln w="12700">
            <a:solidFill>
              <a:srgbClr val="1F5FD0"/>
            </a:solidFill>
            <a:prstDash val="dash"/>
          </a:ln>
        </p:spPr>
      </p:sp>
      <p:pic>
        <p:nvPicPr>
          <p:cNvPr id="36" name="Image 3" descr="preencoded.png">    </p:cNvPr>
          <p:cNvPicPr>
            <a:picLocks noChangeAspect="1"/>
          </p:cNvPicPr>
          <p:nvPr/>
        </p:nvPicPr>
        <p:blipFill>
          <a:blip r:embed="rId4"/>
          <a:stretch>
            <a:fillRect/>
          </a:stretch>
        </p:blipFill>
        <p:spPr>
          <a:xfrm>
            <a:off x="8162030" y="2532573"/>
            <a:ext cx="305400" cy="305400"/>
          </a:xfrm>
          <a:prstGeom prst="rect">
            <a:avLst/>
          </a:prstGeom>
        </p:spPr>
      </p:pic>
      <p:sp>
        <p:nvSpPr>
          <p:cNvPr id="37" name="Text 31"/>
          <p:cNvSpPr txBox="1"/>
          <p:nvPr/>
        </p:nvSpPr>
        <p:spPr>
          <a:xfrm>
            <a:off x="7296729" y="2874549"/>
            <a:ext cx="2036003" cy="228600"/>
          </a:xfrm>
          <a:prstGeom prst="rect">
            <a:avLst/>
          </a:prstGeom>
          <a:noFill/>
          <a:ln/>
        </p:spPr>
        <p:txBody>
          <a:bodyPr wrap="square" lIns="0" tIns="0" rIns="0" bIns="0" rtlCol="0" anchor="t"/>
          <a:lstStyle/>
          <a:p>
            <a:pPr algn="ctr" indent="0" marL="0">
              <a:buNone/>
            </a:pPr>
            <a:r>
              <a:rPr lang="en-US" sz="850" dirty="0">
                <a:solidFill>
                  <a:srgbClr val="93C5FD"/>
                </a:solidFill>
                <a:latin typeface="Malgun Gothic" pitchFamily="34" charset="0"/>
                <a:ea typeface="Malgun Gothic" pitchFamily="34" charset="-122"/>
                <a:cs typeface="Malgun Gothic" pitchFamily="34" charset="-120"/>
              </a:rPr>
              <a:t>현장 사진</a:t>
            </a:r>
            <a:endParaRPr lang="en-US" sz="850" dirty="0"/>
          </a:p>
        </p:txBody>
      </p:sp>
      <p:sp>
        <p:nvSpPr>
          <p:cNvPr id="38" name="Shape 32"/>
          <p:cNvSpPr/>
          <p:nvPr/>
        </p:nvSpPr>
        <p:spPr>
          <a:xfrm>
            <a:off x="7433889" y="2423160"/>
            <a:ext cx="914400" cy="237744"/>
          </a:xfrm>
          <a:prstGeom prst="roundRect">
            <a:avLst>
              <a:gd name="adj" fmla="val 50000"/>
            </a:avLst>
          </a:prstGeom>
          <a:solidFill>
            <a:srgbClr val="4F46E5"/>
          </a:solidFill>
          <a:ln w="12700">
            <a:solidFill>
              <a:srgbClr val="4F46E5"/>
            </a:solidFill>
            <a:prstDash val="solid"/>
          </a:ln>
        </p:spPr>
      </p:sp>
      <p:sp>
        <p:nvSpPr>
          <p:cNvPr id="39" name="Text 33"/>
          <p:cNvSpPr txBox="1"/>
          <p:nvPr/>
        </p:nvSpPr>
        <p:spPr>
          <a:xfrm>
            <a:off x="7433889" y="2423160"/>
            <a:ext cx="9144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야시장</a:t>
            </a:r>
            <a:endParaRPr lang="en-US" sz="800" dirty="0"/>
          </a:p>
        </p:txBody>
      </p:sp>
      <p:sp>
        <p:nvSpPr>
          <p:cNvPr id="40" name="Text 34"/>
          <p:cNvSpPr txBox="1"/>
          <p:nvPr/>
        </p:nvSpPr>
        <p:spPr>
          <a:xfrm>
            <a:off x="7433889" y="3377154"/>
            <a:ext cx="1761683" cy="411480"/>
          </a:xfrm>
          <a:prstGeom prst="rect">
            <a:avLst/>
          </a:prstGeom>
          <a:noFill/>
          <a:ln/>
        </p:spPr>
        <p:txBody>
          <a:bodyPr wrap="square" lIns="0" tIns="0" rIns="0" bIns="0" rtlCol="0" anchor="t"/>
          <a:lstStyle/>
          <a:p>
            <a:pPr indent="0" marL="0">
              <a:lnSpc>
                <a:spcPct val="110000"/>
              </a:lnSpc>
              <a:buNone/>
            </a:pPr>
            <a:r>
              <a:rPr lang="en-US" sz="900" b="1" dirty="0">
                <a:solidFill>
                  <a:srgbClr val="0F172A"/>
                </a:solidFill>
                <a:latin typeface="Malgun Gothic" pitchFamily="34" charset="0"/>
                <a:ea typeface="Malgun Gothic" pitchFamily="34" charset="-122"/>
                <a:cs typeface="Malgun Gothic" pitchFamily="34" charset="-120"/>
              </a:rPr>
              <a:t>서울 소재 아파트 야시장 운영</a:t>
            </a:r>
            <a:endParaRPr lang="en-US" sz="900" dirty="0"/>
          </a:p>
        </p:txBody>
      </p:sp>
      <p:sp>
        <p:nvSpPr>
          <p:cNvPr id="41" name="Text 35"/>
          <p:cNvSpPr txBox="1"/>
          <p:nvPr/>
        </p:nvSpPr>
        <p:spPr>
          <a:xfrm>
            <a:off x="7433889" y="3779490"/>
            <a:ext cx="1761683" cy="201168"/>
          </a:xfrm>
          <a:prstGeom prst="rect">
            <a:avLst/>
          </a:prstGeom>
          <a:noFill/>
          <a:ln/>
        </p:spPr>
        <p:txBody>
          <a:bodyPr wrap="square" lIns="0" tIns="0" rIns="0" bIns="0" rtlCol="0" anchor="t"/>
          <a:lstStyle/>
          <a:p>
            <a:pPr indent="0" marL="0">
              <a:buNone/>
            </a:pPr>
            <a:r>
              <a:rPr lang="en-US" sz="800" dirty="0">
                <a:solidFill>
                  <a:srgbClr val="94A3B8"/>
                </a:solidFill>
                <a:latin typeface="Malgun Gothic" pitchFamily="34" charset="0"/>
                <a:ea typeface="Malgun Gothic" pitchFamily="34" charset="-122"/>
                <a:cs typeface="Malgun Gothic" pitchFamily="34" charset="-120"/>
              </a:rPr>
              <a:t>서울특별시</a:t>
            </a:r>
            <a:endParaRPr lang="en-US" sz="800" dirty="0"/>
          </a:p>
        </p:txBody>
      </p:sp>
      <p:sp>
        <p:nvSpPr>
          <p:cNvPr id="42" name="Shape 36"/>
          <p:cNvSpPr/>
          <p:nvPr/>
        </p:nvSpPr>
        <p:spPr>
          <a:xfrm>
            <a:off x="9515612" y="2286000"/>
            <a:ext cx="2036003" cy="1731234"/>
          </a:xfrm>
          <a:prstGeom prst="roundRect">
            <a:avLst>
              <a:gd name="adj" fmla="val 5282"/>
            </a:avLst>
          </a:prstGeom>
          <a:solidFill>
            <a:srgbClr val="FFFFFF"/>
          </a:solidFill>
          <a:ln w="12700">
            <a:solidFill>
              <a:srgbClr val="FFFFFF"/>
            </a:solidFill>
            <a:prstDash val="solid"/>
          </a:ln>
        </p:spPr>
      </p:sp>
      <p:sp>
        <p:nvSpPr>
          <p:cNvPr id="43" name="Shape 37"/>
          <p:cNvSpPr/>
          <p:nvPr/>
        </p:nvSpPr>
        <p:spPr>
          <a:xfrm>
            <a:off x="9515612" y="2286000"/>
            <a:ext cx="2036003" cy="1018002"/>
          </a:xfrm>
          <a:prstGeom prst="roundRect">
            <a:avLst>
              <a:gd name="adj" fmla="val 8982"/>
            </a:avLst>
          </a:prstGeom>
          <a:solidFill>
            <a:srgbClr val="12305F"/>
          </a:solidFill>
          <a:ln w="12700">
            <a:solidFill>
              <a:srgbClr val="1F5FD0"/>
            </a:solidFill>
            <a:prstDash val="dash"/>
          </a:ln>
        </p:spPr>
      </p:sp>
      <p:pic>
        <p:nvPicPr>
          <p:cNvPr id="44" name="Image 4" descr="preencoded.png">    </p:cNvPr>
          <p:cNvPicPr>
            <a:picLocks noChangeAspect="1"/>
          </p:cNvPicPr>
          <p:nvPr/>
        </p:nvPicPr>
        <p:blipFill>
          <a:blip r:embed="rId5"/>
          <a:stretch>
            <a:fillRect/>
          </a:stretch>
        </p:blipFill>
        <p:spPr>
          <a:xfrm>
            <a:off x="10380913" y="2532573"/>
            <a:ext cx="305400" cy="305400"/>
          </a:xfrm>
          <a:prstGeom prst="rect">
            <a:avLst/>
          </a:prstGeom>
        </p:spPr>
      </p:pic>
      <p:sp>
        <p:nvSpPr>
          <p:cNvPr id="45" name="Text 38"/>
          <p:cNvSpPr txBox="1"/>
          <p:nvPr/>
        </p:nvSpPr>
        <p:spPr>
          <a:xfrm>
            <a:off x="9515612" y="2874549"/>
            <a:ext cx="2036003" cy="228600"/>
          </a:xfrm>
          <a:prstGeom prst="rect">
            <a:avLst/>
          </a:prstGeom>
          <a:noFill/>
          <a:ln/>
        </p:spPr>
        <p:txBody>
          <a:bodyPr wrap="square" lIns="0" tIns="0" rIns="0" bIns="0" rtlCol="0" anchor="t"/>
          <a:lstStyle/>
          <a:p>
            <a:pPr algn="ctr" indent="0" marL="0">
              <a:buNone/>
            </a:pPr>
            <a:r>
              <a:rPr lang="en-US" sz="850" dirty="0">
                <a:solidFill>
                  <a:srgbClr val="93C5FD"/>
                </a:solidFill>
                <a:latin typeface="Malgun Gothic" pitchFamily="34" charset="0"/>
                <a:ea typeface="Malgun Gothic" pitchFamily="34" charset="-122"/>
                <a:cs typeface="Malgun Gothic" pitchFamily="34" charset="-120"/>
              </a:rPr>
              <a:t>현장 사진</a:t>
            </a:r>
            <a:endParaRPr lang="en-US" sz="850" dirty="0"/>
          </a:p>
        </p:txBody>
      </p:sp>
      <p:sp>
        <p:nvSpPr>
          <p:cNvPr id="46" name="Shape 39"/>
          <p:cNvSpPr/>
          <p:nvPr/>
        </p:nvSpPr>
        <p:spPr>
          <a:xfrm>
            <a:off x="9652772" y="2423160"/>
            <a:ext cx="914400" cy="237744"/>
          </a:xfrm>
          <a:prstGeom prst="roundRect">
            <a:avLst>
              <a:gd name="adj" fmla="val 50000"/>
            </a:avLst>
          </a:prstGeom>
          <a:solidFill>
            <a:srgbClr val="4F46E5"/>
          </a:solidFill>
          <a:ln w="12700">
            <a:solidFill>
              <a:srgbClr val="4F46E5"/>
            </a:solidFill>
            <a:prstDash val="solid"/>
          </a:ln>
        </p:spPr>
      </p:sp>
      <p:sp>
        <p:nvSpPr>
          <p:cNvPr id="47" name="Text 40"/>
          <p:cNvSpPr txBox="1"/>
          <p:nvPr/>
        </p:nvSpPr>
        <p:spPr>
          <a:xfrm>
            <a:off x="9652772" y="2423160"/>
            <a:ext cx="9144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야시장</a:t>
            </a:r>
            <a:endParaRPr lang="en-US" sz="800" dirty="0"/>
          </a:p>
        </p:txBody>
      </p:sp>
      <p:sp>
        <p:nvSpPr>
          <p:cNvPr id="48" name="Text 41"/>
          <p:cNvSpPr txBox="1"/>
          <p:nvPr/>
        </p:nvSpPr>
        <p:spPr>
          <a:xfrm>
            <a:off x="9652772" y="3377154"/>
            <a:ext cx="1761683" cy="411480"/>
          </a:xfrm>
          <a:prstGeom prst="rect">
            <a:avLst/>
          </a:prstGeom>
          <a:noFill/>
          <a:ln/>
        </p:spPr>
        <p:txBody>
          <a:bodyPr wrap="square" lIns="0" tIns="0" rIns="0" bIns="0" rtlCol="0" anchor="t"/>
          <a:lstStyle/>
          <a:p>
            <a:pPr indent="0" marL="0">
              <a:lnSpc>
                <a:spcPct val="110000"/>
              </a:lnSpc>
              <a:buNone/>
            </a:pPr>
            <a:r>
              <a:rPr lang="en-US" sz="900" b="1" dirty="0">
                <a:solidFill>
                  <a:srgbClr val="0F172A"/>
                </a:solidFill>
                <a:latin typeface="Malgun Gothic" pitchFamily="34" charset="0"/>
                <a:ea typeface="Malgun Gothic" pitchFamily="34" charset="-122"/>
                <a:cs typeface="Malgun Gothic" pitchFamily="34" charset="-120"/>
              </a:rPr>
              <a:t>하남 소재 아파트 야시장 운영</a:t>
            </a:r>
            <a:endParaRPr lang="en-US" sz="900" dirty="0"/>
          </a:p>
        </p:txBody>
      </p:sp>
      <p:sp>
        <p:nvSpPr>
          <p:cNvPr id="49" name="Text 42"/>
          <p:cNvSpPr txBox="1"/>
          <p:nvPr/>
        </p:nvSpPr>
        <p:spPr>
          <a:xfrm>
            <a:off x="9652772" y="3779490"/>
            <a:ext cx="1761683" cy="201168"/>
          </a:xfrm>
          <a:prstGeom prst="rect">
            <a:avLst/>
          </a:prstGeom>
          <a:noFill/>
          <a:ln/>
        </p:spPr>
        <p:txBody>
          <a:bodyPr wrap="square" lIns="0" tIns="0" rIns="0" bIns="0" rtlCol="0" anchor="t"/>
          <a:lstStyle/>
          <a:p>
            <a:pPr indent="0" marL="0">
              <a:buNone/>
            </a:pPr>
            <a:r>
              <a:rPr lang="en-US" sz="800" dirty="0">
                <a:solidFill>
                  <a:srgbClr val="94A3B8"/>
                </a:solidFill>
                <a:latin typeface="Malgun Gothic" pitchFamily="34" charset="0"/>
                <a:ea typeface="Malgun Gothic" pitchFamily="34" charset="-122"/>
                <a:cs typeface="Malgun Gothic" pitchFamily="34" charset="-120"/>
              </a:rPr>
              <a:t>경기 하남시</a:t>
            </a:r>
            <a:endParaRPr lang="en-US" sz="800" dirty="0"/>
          </a:p>
        </p:txBody>
      </p:sp>
      <p:sp>
        <p:nvSpPr>
          <p:cNvPr id="50" name="Shape 43"/>
          <p:cNvSpPr/>
          <p:nvPr/>
        </p:nvSpPr>
        <p:spPr>
          <a:xfrm>
            <a:off x="640080" y="4200114"/>
            <a:ext cx="2036003" cy="1731234"/>
          </a:xfrm>
          <a:prstGeom prst="roundRect">
            <a:avLst>
              <a:gd name="adj" fmla="val 5282"/>
            </a:avLst>
          </a:prstGeom>
          <a:solidFill>
            <a:srgbClr val="FFFFFF"/>
          </a:solidFill>
          <a:ln w="12700">
            <a:solidFill>
              <a:srgbClr val="FFFFFF"/>
            </a:solidFill>
            <a:prstDash val="solid"/>
          </a:ln>
        </p:spPr>
      </p:sp>
      <p:sp>
        <p:nvSpPr>
          <p:cNvPr id="51" name="Shape 44"/>
          <p:cNvSpPr/>
          <p:nvPr/>
        </p:nvSpPr>
        <p:spPr>
          <a:xfrm>
            <a:off x="640080" y="4200114"/>
            <a:ext cx="2036003" cy="1018002"/>
          </a:xfrm>
          <a:prstGeom prst="roundRect">
            <a:avLst>
              <a:gd name="adj" fmla="val 8982"/>
            </a:avLst>
          </a:prstGeom>
          <a:solidFill>
            <a:srgbClr val="12305F"/>
          </a:solidFill>
          <a:ln w="12700">
            <a:solidFill>
              <a:srgbClr val="1F5FD0"/>
            </a:solidFill>
            <a:prstDash val="dash"/>
          </a:ln>
        </p:spPr>
      </p:sp>
      <p:pic>
        <p:nvPicPr>
          <p:cNvPr id="52" name="Image 5" descr="preencoded.png">    </p:cNvPr>
          <p:cNvPicPr>
            <a:picLocks noChangeAspect="1"/>
          </p:cNvPicPr>
          <p:nvPr/>
        </p:nvPicPr>
        <p:blipFill>
          <a:blip r:embed="rId6"/>
          <a:stretch>
            <a:fillRect/>
          </a:stretch>
        </p:blipFill>
        <p:spPr>
          <a:xfrm>
            <a:off x="1505381" y="4446686"/>
            <a:ext cx="305400" cy="305400"/>
          </a:xfrm>
          <a:prstGeom prst="rect">
            <a:avLst/>
          </a:prstGeom>
        </p:spPr>
      </p:pic>
      <p:sp>
        <p:nvSpPr>
          <p:cNvPr id="53" name="Text 45"/>
          <p:cNvSpPr txBox="1"/>
          <p:nvPr/>
        </p:nvSpPr>
        <p:spPr>
          <a:xfrm>
            <a:off x="640080" y="4788663"/>
            <a:ext cx="2036003" cy="228600"/>
          </a:xfrm>
          <a:prstGeom prst="rect">
            <a:avLst/>
          </a:prstGeom>
          <a:noFill/>
          <a:ln/>
        </p:spPr>
        <p:txBody>
          <a:bodyPr wrap="square" lIns="0" tIns="0" rIns="0" bIns="0" rtlCol="0" anchor="t"/>
          <a:lstStyle/>
          <a:p>
            <a:pPr algn="ctr" indent="0" marL="0">
              <a:buNone/>
            </a:pPr>
            <a:r>
              <a:rPr lang="en-US" sz="850" dirty="0">
                <a:solidFill>
                  <a:srgbClr val="93C5FD"/>
                </a:solidFill>
                <a:latin typeface="Malgun Gothic" pitchFamily="34" charset="0"/>
                <a:ea typeface="Malgun Gothic" pitchFamily="34" charset="-122"/>
                <a:cs typeface="Malgun Gothic" pitchFamily="34" charset="-120"/>
              </a:rPr>
              <a:t>현장 사진</a:t>
            </a:r>
            <a:endParaRPr lang="en-US" sz="850" dirty="0"/>
          </a:p>
        </p:txBody>
      </p:sp>
      <p:sp>
        <p:nvSpPr>
          <p:cNvPr id="54" name="Shape 46"/>
          <p:cNvSpPr/>
          <p:nvPr/>
        </p:nvSpPr>
        <p:spPr>
          <a:xfrm>
            <a:off x="777240" y="4337274"/>
            <a:ext cx="914400" cy="237744"/>
          </a:xfrm>
          <a:prstGeom prst="roundRect">
            <a:avLst>
              <a:gd name="adj" fmla="val 50000"/>
            </a:avLst>
          </a:prstGeom>
          <a:solidFill>
            <a:srgbClr val="3182F6"/>
          </a:solidFill>
          <a:ln w="12700">
            <a:solidFill>
              <a:srgbClr val="3182F6"/>
            </a:solidFill>
            <a:prstDash val="solid"/>
          </a:ln>
        </p:spPr>
      </p:sp>
      <p:sp>
        <p:nvSpPr>
          <p:cNvPr id="55" name="Text 47"/>
          <p:cNvSpPr txBox="1"/>
          <p:nvPr/>
        </p:nvSpPr>
        <p:spPr>
          <a:xfrm>
            <a:off x="777240" y="4337274"/>
            <a:ext cx="9144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캠퍼스 마켓</a:t>
            </a:r>
            <a:endParaRPr lang="en-US" sz="800" dirty="0"/>
          </a:p>
        </p:txBody>
      </p:sp>
      <p:sp>
        <p:nvSpPr>
          <p:cNvPr id="56" name="Text 48"/>
          <p:cNvSpPr txBox="1"/>
          <p:nvPr/>
        </p:nvSpPr>
        <p:spPr>
          <a:xfrm>
            <a:off x="777240" y="5291267"/>
            <a:ext cx="1761683" cy="411480"/>
          </a:xfrm>
          <a:prstGeom prst="rect">
            <a:avLst/>
          </a:prstGeom>
          <a:noFill/>
          <a:ln/>
        </p:spPr>
        <p:txBody>
          <a:bodyPr wrap="square" lIns="0" tIns="0" rIns="0" bIns="0" rtlCol="0" anchor="t"/>
          <a:lstStyle/>
          <a:p>
            <a:pPr indent="0" marL="0">
              <a:lnSpc>
                <a:spcPct val="110000"/>
              </a:lnSpc>
              <a:buNone/>
            </a:pPr>
            <a:r>
              <a:rPr lang="en-US" sz="900" b="1" dirty="0">
                <a:solidFill>
                  <a:srgbClr val="0F172A"/>
                </a:solidFill>
                <a:latin typeface="Malgun Gothic" pitchFamily="34" charset="0"/>
                <a:ea typeface="Malgun Gothic" pitchFamily="34" charset="-122"/>
                <a:cs typeface="Malgun Gothic" pitchFamily="34" charset="-120"/>
              </a:rPr>
              <a:t>서울 소재 대학교 플리마켓 운영</a:t>
            </a:r>
            <a:endParaRPr lang="en-US" sz="900" dirty="0"/>
          </a:p>
        </p:txBody>
      </p:sp>
      <p:sp>
        <p:nvSpPr>
          <p:cNvPr id="57" name="Text 49"/>
          <p:cNvSpPr txBox="1"/>
          <p:nvPr/>
        </p:nvSpPr>
        <p:spPr>
          <a:xfrm>
            <a:off x="777240" y="5693603"/>
            <a:ext cx="1761683" cy="201168"/>
          </a:xfrm>
          <a:prstGeom prst="rect">
            <a:avLst/>
          </a:prstGeom>
          <a:noFill/>
          <a:ln/>
        </p:spPr>
        <p:txBody>
          <a:bodyPr wrap="square" lIns="0" tIns="0" rIns="0" bIns="0" rtlCol="0" anchor="t"/>
          <a:lstStyle/>
          <a:p>
            <a:pPr indent="0" marL="0">
              <a:buNone/>
            </a:pPr>
            <a:r>
              <a:rPr lang="en-US" sz="800" dirty="0">
                <a:solidFill>
                  <a:srgbClr val="94A3B8"/>
                </a:solidFill>
                <a:latin typeface="Malgun Gothic" pitchFamily="34" charset="0"/>
                <a:ea typeface="Malgun Gothic" pitchFamily="34" charset="-122"/>
                <a:cs typeface="Malgun Gothic" pitchFamily="34" charset="-120"/>
              </a:rPr>
              <a:t>서울특별시</a:t>
            </a:r>
            <a:endParaRPr lang="en-US" sz="800" dirty="0"/>
          </a:p>
        </p:txBody>
      </p:sp>
      <p:sp>
        <p:nvSpPr>
          <p:cNvPr id="58" name="Shape 50"/>
          <p:cNvSpPr/>
          <p:nvPr/>
        </p:nvSpPr>
        <p:spPr>
          <a:xfrm>
            <a:off x="2858963" y="4200114"/>
            <a:ext cx="2036003" cy="1731234"/>
          </a:xfrm>
          <a:prstGeom prst="roundRect">
            <a:avLst>
              <a:gd name="adj" fmla="val 5282"/>
            </a:avLst>
          </a:prstGeom>
          <a:solidFill>
            <a:srgbClr val="FFFFFF"/>
          </a:solidFill>
          <a:ln w="12700">
            <a:solidFill>
              <a:srgbClr val="FFFFFF"/>
            </a:solidFill>
            <a:prstDash val="solid"/>
          </a:ln>
        </p:spPr>
      </p:sp>
      <p:sp>
        <p:nvSpPr>
          <p:cNvPr id="59" name="Shape 51"/>
          <p:cNvSpPr/>
          <p:nvPr/>
        </p:nvSpPr>
        <p:spPr>
          <a:xfrm>
            <a:off x="2858963" y="4200114"/>
            <a:ext cx="2036003" cy="1018002"/>
          </a:xfrm>
          <a:prstGeom prst="roundRect">
            <a:avLst>
              <a:gd name="adj" fmla="val 8982"/>
            </a:avLst>
          </a:prstGeom>
          <a:solidFill>
            <a:srgbClr val="12305F"/>
          </a:solidFill>
          <a:ln w="12700">
            <a:solidFill>
              <a:srgbClr val="1F5FD0"/>
            </a:solidFill>
            <a:prstDash val="dash"/>
          </a:ln>
        </p:spPr>
      </p:sp>
      <p:pic>
        <p:nvPicPr>
          <p:cNvPr id="60" name="Image 6" descr="preencoded.png">    </p:cNvPr>
          <p:cNvPicPr>
            <a:picLocks noChangeAspect="1"/>
          </p:cNvPicPr>
          <p:nvPr/>
        </p:nvPicPr>
        <p:blipFill>
          <a:blip r:embed="rId7"/>
          <a:stretch>
            <a:fillRect/>
          </a:stretch>
        </p:blipFill>
        <p:spPr>
          <a:xfrm>
            <a:off x="3724264" y="4446686"/>
            <a:ext cx="305400" cy="305400"/>
          </a:xfrm>
          <a:prstGeom prst="rect">
            <a:avLst/>
          </a:prstGeom>
        </p:spPr>
      </p:pic>
      <p:sp>
        <p:nvSpPr>
          <p:cNvPr id="61" name="Text 52"/>
          <p:cNvSpPr txBox="1"/>
          <p:nvPr/>
        </p:nvSpPr>
        <p:spPr>
          <a:xfrm>
            <a:off x="2858963" y="4788663"/>
            <a:ext cx="2036003" cy="228600"/>
          </a:xfrm>
          <a:prstGeom prst="rect">
            <a:avLst/>
          </a:prstGeom>
          <a:noFill/>
          <a:ln/>
        </p:spPr>
        <p:txBody>
          <a:bodyPr wrap="square" lIns="0" tIns="0" rIns="0" bIns="0" rtlCol="0" anchor="t"/>
          <a:lstStyle/>
          <a:p>
            <a:pPr algn="ctr" indent="0" marL="0">
              <a:buNone/>
            </a:pPr>
            <a:r>
              <a:rPr lang="en-US" sz="850" dirty="0">
                <a:solidFill>
                  <a:srgbClr val="93C5FD"/>
                </a:solidFill>
                <a:latin typeface="Malgun Gothic" pitchFamily="34" charset="0"/>
                <a:ea typeface="Malgun Gothic" pitchFamily="34" charset="-122"/>
                <a:cs typeface="Malgun Gothic" pitchFamily="34" charset="-120"/>
              </a:rPr>
              <a:t>현장 사진</a:t>
            </a:r>
            <a:endParaRPr lang="en-US" sz="850" dirty="0"/>
          </a:p>
        </p:txBody>
      </p:sp>
      <p:sp>
        <p:nvSpPr>
          <p:cNvPr id="62" name="Shape 53"/>
          <p:cNvSpPr/>
          <p:nvPr/>
        </p:nvSpPr>
        <p:spPr>
          <a:xfrm>
            <a:off x="2996123" y="4337274"/>
            <a:ext cx="914400" cy="237744"/>
          </a:xfrm>
          <a:prstGeom prst="roundRect">
            <a:avLst>
              <a:gd name="adj" fmla="val 50000"/>
            </a:avLst>
          </a:prstGeom>
          <a:solidFill>
            <a:srgbClr val="E11D48"/>
          </a:solidFill>
          <a:ln w="12700">
            <a:solidFill>
              <a:srgbClr val="E11D48"/>
            </a:solidFill>
            <a:prstDash val="solid"/>
          </a:ln>
        </p:spPr>
      </p:sp>
      <p:sp>
        <p:nvSpPr>
          <p:cNvPr id="63" name="Text 54"/>
          <p:cNvSpPr txBox="1"/>
          <p:nvPr/>
        </p:nvSpPr>
        <p:spPr>
          <a:xfrm>
            <a:off x="2996123" y="4337274"/>
            <a:ext cx="9144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대형 축제</a:t>
            </a:r>
            <a:endParaRPr lang="en-US" sz="800" dirty="0"/>
          </a:p>
        </p:txBody>
      </p:sp>
      <p:sp>
        <p:nvSpPr>
          <p:cNvPr id="64" name="Text 55"/>
          <p:cNvSpPr txBox="1"/>
          <p:nvPr/>
        </p:nvSpPr>
        <p:spPr>
          <a:xfrm>
            <a:off x="2996123" y="5291267"/>
            <a:ext cx="1761683" cy="411480"/>
          </a:xfrm>
          <a:prstGeom prst="rect">
            <a:avLst/>
          </a:prstGeom>
          <a:noFill/>
          <a:ln/>
        </p:spPr>
        <p:txBody>
          <a:bodyPr wrap="square" lIns="0" tIns="0" rIns="0" bIns="0" rtlCol="0" anchor="t"/>
          <a:lstStyle/>
          <a:p>
            <a:pPr indent="0" marL="0">
              <a:lnSpc>
                <a:spcPct val="110000"/>
              </a:lnSpc>
              <a:buNone/>
            </a:pPr>
            <a:r>
              <a:rPr lang="en-US" sz="900" b="1" dirty="0">
                <a:solidFill>
                  <a:srgbClr val="0F172A"/>
                </a:solidFill>
                <a:latin typeface="Malgun Gothic" pitchFamily="34" charset="0"/>
                <a:ea typeface="Malgun Gothic" pitchFamily="34" charset="-122"/>
                <a:cs typeface="Malgun Gothic" pitchFamily="34" charset="-120"/>
              </a:rPr>
              <a:t>충청 소재 대형 축제 부스 운영</a:t>
            </a:r>
            <a:endParaRPr lang="en-US" sz="900" dirty="0"/>
          </a:p>
        </p:txBody>
      </p:sp>
      <p:sp>
        <p:nvSpPr>
          <p:cNvPr id="65" name="Text 56"/>
          <p:cNvSpPr txBox="1"/>
          <p:nvPr/>
        </p:nvSpPr>
        <p:spPr>
          <a:xfrm>
            <a:off x="2996123" y="5693603"/>
            <a:ext cx="1761683" cy="201168"/>
          </a:xfrm>
          <a:prstGeom prst="rect">
            <a:avLst/>
          </a:prstGeom>
          <a:noFill/>
          <a:ln/>
        </p:spPr>
        <p:txBody>
          <a:bodyPr wrap="square" lIns="0" tIns="0" rIns="0" bIns="0" rtlCol="0" anchor="t"/>
          <a:lstStyle/>
          <a:p>
            <a:pPr indent="0" marL="0">
              <a:buNone/>
            </a:pPr>
            <a:r>
              <a:rPr lang="en-US" sz="800" dirty="0">
                <a:solidFill>
                  <a:srgbClr val="94A3B8"/>
                </a:solidFill>
                <a:latin typeface="Malgun Gothic" pitchFamily="34" charset="0"/>
                <a:ea typeface="Malgun Gothic" pitchFamily="34" charset="-122"/>
                <a:cs typeface="Malgun Gothic" pitchFamily="34" charset="-120"/>
              </a:rPr>
              <a:t>충청도</a:t>
            </a:r>
            <a:endParaRPr lang="en-US" sz="800" dirty="0"/>
          </a:p>
        </p:txBody>
      </p:sp>
      <p:sp>
        <p:nvSpPr>
          <p:cNvPr id="66" name="Shape 57"/>
          <p:cNvSpPr/>
          <p:nvPr/>
        </p:nvSpPr>
        <p:spPr>
          <a:xfrm>
            <a:off x="5077846" y="4200114"/>
            <a:ext cx="2036003" cy="1731234"/>
          </a:xfrm>
          <a:prstGeom prst="roundRect">
            <a:avLst>
              <a:gd name="adj" fmla="val 5282"/>
            </a:avLst>
          </a:prstGeom>
          <a:solidFill>
            <a:srgbClr val="FFFFFF"/>
          </a:solidFill>
          <a:ln w="12700">
            <a:solidFill>
              <a:srgbClr val="FFFFFF"/>
            </a:solidFill>
            <a:prstDash val="solid"/>
          </a:ln>
        </p:spPr>
      </p:sp>
      <p:sp>
        <p:nvSpPr>
          <p:cNvPr id="67" name="Shape 58"/>
          <p:cNvSpPr/>
          <p:nvPr/>
        </p:nvSpPr>
        <p:spPr>
          <a:xfrm>
            <a:off x="5077846" y="4200114"/>
            <a:ext cx="2036003" cy="1018002"/>
          </a:xfrm>
          <a:prstGeom prst="roundRect">
            <a:avLst>
              <a:gd name="adj" fmla="val 8982"/>
            </a:avLst>
          </a:prstGeom>
          <a:solidFill>
            <a:srgbClr val="12305F"/>
          </a:solidFill>
          <a:ln w="12700">
            <a:solidFill>
              <a:srgbClr val="1F5FD0"/>
            </a:solidFill>
            <a:prstDash val="dash"/>
          </a:ln>
        </p:spPr>
      </p:sp>
      <p:pic>
        <p:nvPicPr>
          <p:cNvPr id="68" name="Image 7" descr="preencoded.png">    </p:cNvPr>
          <p:cNvPicPr>
            <a:picLocks noChangeAspect="1"/>
          </p:cNvPicPr>
          <p:nvPr/>
        </p:nvPicPr>
        <p:blipFill>
          <a:blip r:embed="rId8"/>
          <a:stretch>
            <a:fillRect/>
          </a:stretch>
        </p:blipFill>
        <p:spPr>
          <a:xfrm>
            <a:off x="5943147" y="4446686"/>
            <a:ext cx="305400" cy="305400"/>
          </a:xfrm>
          <a:prstGeom prst="rect">
            <a:avLst/>
          </a:prstGeom>
        </p:spPr>
      </p:pic>
      <p:sp>
        <p:nvSpPr>
          <p:cNvPr id="69" name="Text 59"/>
          <p:cNvSpPr txBox="1"/>
          <p:nvPr/>
        </p:nvSpPr>
        <p:spPr>
          <a:xfrm>
            <a:off x="5077846" y="4788663"/>
            <a:ext cx="2036003" cy="228600"/>
          </a:xfrm>
          <a:prstGeom prst="rect">
            <a:avLst/>
          </a:prstGeom>
          <a:noFill/>
          <a:ln/>
        </p:spPr>
        <p:txBody>
          <a:bodyPr wrap="square" lIns="0" tIns="0" rIns="0" bIns="0" rtlCol="0" anchor="t"/>
          <a:lstStyle/>
          <a:p>
            <a:pPr algn="ctr" indent="0" marL="0">
              <a:buNone/>
            </a:pPr>
            <a:r>
              <a:rPr lang="en-US" sz="850" dirty="0">
                <a:solidFill>
                  <a:srgbClr val="93C5FD"/>
                </a:solidFill>
                <a:latin typeface="Malgun Gothic" pitchFamily="34" charset="0"/>
                <a:ea typeface="Malgun Gothic" pitchFamily="34" charset="-122"/>
                <a:cs typeface="Malgun Gothic" pitchFamily="34" charset="-120"/>
              </a:rPr>
              <a:t>현장 사진</a:t>
            </a:r>
            <a:endParaRPr lang="en-US" sz="850" dirty="0"/>
          </a:p>
        </p:txBody>
      </p:sp>
      <p:sp>
        <p:nvSpPr>
          <p:cNvPr id="70" name="Shape 60"/>
          <p:cNvSpPr/>
          <p:nvPr/>
        </p:nvSpPr>
        <p:spPr>
          <a:xfrm>
            <a:off x="5215006" y="4337274"/>
            <a:ext cx="914400" cy="237744"/>
          </a:xfrm>
          <a:prstGeom prst="roundRect">
            <a:avLst>
              <a:gd name="adj" fmla="val 50000"/>
            </a:avLst>
          </a:prstGeom>
          <a:solidFill>
            <a:srgbClr val="EA580C"/>
          </a:solidFill>
          <a:ln w="12700">
            <a:solidFill>
              <a:srgbClr val="EA580C"/>
            </a:solidFill>
            <a:prstDash val="solid"/>
          </a:ln>
        </p:spPr>
      </p:sp>
      <p:sp>
        <p:nvSpPr>
          <p:cNvPr id="71" name="Text 61"/>
          <p:cNvSpPr txBox="1"/>
          <p:nvPr/>
        </p:nvSpPr>
        <p:spPr>
          <a:xfrm>
            <a:off x="5215006" y="4337274"/>
            <a:ext cx="9144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민속 축제</a:t>
            </a:r>
            <a:endParaRPr lang="en-US" sz="800" dirty="0"/>
          </a:p>
        </p:txBody>
      </p:sp>
      <p:sp>
        <p:nvSpPr>
          <p:cNvPr id="72" name="Text 62"/>
          <p:cNvSpPr txBox="1"/>
          <p:nvPr/>
        </p:nvSpPr>
        <p:spPr>
          <a:xfrm>
            <a:off x="5215006" y="5291267"/>
            <a:ext cx="1761683" cy="411480"/>
          </a:xfrm>
          <a:prstGeom prst="rect">
            <a:avLst/>
          </a:prstGeom>
          <a:noFill/>
          <a:ln/>
        </p:spPr>
        <p:txBody>
          <a:bodyPr wrap="square" lIns="0" tIns="0" rIns="0" bIns="0" rtlCol="0" anchor="t"/>
          <a:lstStyle/>
          <a:p>
            <a:pPr indent="0" marL="0">
              <a:lnSpc>
                <a:spcPct val="110000"/>
              </a:lnSpc>
              <a:buNone/>
            </a:pPr>
            <a:r>
              <a:rPr lang="en-US" sz="900" b="1" dirty="0">
                <a:solidFill>
                  <a:srgbClr val="0F172A"/>
                </a:solidFill>
                <a:latin typeface="Malgun Gothic" pitchFamily="34" charset="0"/>
                <a:ea typeface="Malgun Gothic" pitchFamily="34" charset="-122"/>
                <a:cs typeface="Malgun Gothic" pitchFamily="34" charset="-120"/>
              </a:rPr>
              <a:t>서울 소재 민속 축제 부스 운영</a:t>
            </a:r>
            <a:endParaRPr lang="en-US" sz="900" dirty="0"/>
          </a:p>
        </p:txBody>
      </p:sp>
      <p:sp>
        <p:nvSpPr>
          <p:cNvPr id="73" name="Text 63"/>
          <p:cNvSpPr txBox="1"/>
          <p:nvPr/>
        </p:nvSpPr>
        <p:spPr>
          <a:xfrm>
            <a:off x="5215006" y="5693603"/>
            <a:ext cx="1761683" cy="201168"/>
          </a:xfrm>
          <a:prstGeom prst="rect">
            <a:avLst/>
          </a:prstGeom>
          <a:noFill/>
          <a:ln/>
        </p:spPr>
        <p:txBody>
          <a:bodyPr wrap="square" lIns="0" tIns="0" rIns="0" bIns="0" rtlCol="0" anchor="t"/>
          <a:lstStyle/>
          <a:p>
            <a:pPr indent="0" marL="0">
              <a:buNone/>
            </a:pPr>
            <a:r>
              <a:rPr lang="en-US" sz="800" dirty="0">
                <a:solidFill>
                  <a:srgbClr val="94A3B8"/>
                </a:solidFill>
                <a:latin typeface="Malgun Gothic" pitchFamily="34" charset="0"/>
                <a:ea typeface="Malgun Gothic" pitchFamily="34" charset="-122"/>
                <a:cs typeface="Malgun Gothic" pitchFamily="34" charset="-120"/>
              </a:rPr>
              <a:t>서울특별시</a:t>
            </a:r>
            <a:endParaRPr lang="en-US" sz="800" dirty="0"/>
          </a:p>
        </p:txBody>
      </p:sp>
      <p:sp>
        <p:nvSpPr>
          <p:cNvPr id="74" name="Shape 64"/>
          <p:cNvSpPr/>
          <p:nvPr/>
        </p:nvSpPr>
        <p:spPr>
          <a:xfrm>
            <a:off x="7296729" y="4200114"/>
            <a:ext cx="2036003" cy="1731234"/>
          </a:xfrm>
          <a:prstGeom prst="roundRect">
            <a:avLst>
              <a:gd name="adj" fmla="val 5282"/>
            </a:avLst>
          </a:prstGeom>
          <a:solidFill>
            <a:srgbClr val="FFFFFF"/>
          </a:solidFill>
          <a:ln w="12700">
            <a:solidFill>
              <a:srgbClr val="FFFFFF"/>
            </a:solidFill>
            <a:prstDash val="solid"/>
          </a:ln>
        </p:spPr>
      </p:sp>
      <p:sp>
        <p:nvSpPr>
          <p:cNvPr id="75" name="Shape 65"/>
          <p:cNvSpPr/>
          <p:nvPr/>
        </p:nvSpPr>
        <p:spPr>
          <a:xfrm>
            <a:off x="7296729" y="4200114"/>
            <a:ext cx="2036003" cy="1018002"/>
          </a:xfrm>
          <a:prstGeom prst="roundRect">
            <a:avLst>
              <a:gd name="adj" fmla="val 8982"/>
            </a:avLst>
          </a:prstGeom>
          <a:solidFill>
            <a:srgbClr val="12305F"/>
          </a:solidFill>
          <a:ln w="12700">
            <a:solidFill>
              <a:srgbClr val="1F5FD0"/>
            </a:solidFill>
            <a:prstDash val="dash"/>
          </a:ln>
        </p:spPr>
      </p:sp>
      <p:pic>
        <p:nvPicPr>
          <p:cNvPr id="76" name="Image 8" descr="preencoded.png">    </p:cNvPr>
          <p:cNvPicPr>
            <a:picLocks noChangeAspect="1"/>
          </p:cNvPicPr>
          <p:nvPr/>
        </p:nvPicPr>
        <p:blipFill>
          <a:blip r:embed="rId9"/>
          <a:stretch>
            <a:fillRect/>
          </a:stretch>
        </p:blipFill>
        <p:spPr>
          <a:xfrm>
            <a:off x="8162030" y="4446686"/>
            <a:ext cx="305400" cy="305400"/>
          </a:xfrm>
          <a:prstGeom prst="rect">
            <a:avLst/>
          </a:prstGeom>
        </p:spPr>
      </p:pic>
      <p:sp>
        <p:nvSpPr>
          <p:cNvPr id="77" name="Text 66"/>
          <p:cNvSpPr txBox="1"/>
          <p:nvPr/>
        </p:nvSpPr>
        <p:spPr>
          <a:xfrm>
            <a:off x="7296729" y="4788663"/>
            <a:ext cx="2036003" cy="228600"/>
          </a:xfrm>
          <a:prstGeom prst="rect">
            <a:avLst/>
          </a:prstGeom>
          <a:noFill/>
          <a:ln/>
        </p:spPr>
        <p:txBody>
          <a:bodyPr wrap="square" lIns="0" tIns="0" rIns="0" bIns="0" rtlCol="0" anchor="t"/>
          <a:lstStyle/>
          <a:p>
            <a:pPr algn="ctr" indent="0" marL="0">
              <a:buNone/>
            </a:pPr>
            <a:r>
              <a:rPr lang="en-US" sz="850" dirty="0">
                <a:solidFill>
                  <a:srgbClr val="93C5FD"/>
                </a:solidFill>
                <a:latin typeface="Malgun Gothic" pitchFamily="34" charset="0"/>
                <a:ea typeface="Malgun Gothic" pitchFamily="34" charset="-122"/>
                <a:cs typeface="Malgun Gothic" pitchFamily="34" charset="-120"/>
              </a:rPr>
              <a:t>현장 사진</a:t>
            </a:r>
            <a:endParaRPr lang="en-US" sz="850" dirty="0"/>
          </a:p>
        </p:txBody>
      </p:sp>
      <p:sp>
        <p:nvSpPr>
          <p:cNvPr id="78" name="Shape 67"/>
          <p:cNvSpPr/>
          <p:nvPr/>
        </p:nvSpPr>
        <p:spPr>
          <a:xfrm>
            <a:off x="7433889" y="4337274"/>
            <a:ext cx="914400" cy="237744"/>
          </a:xfrm>
          <a:prstGeom prst="roundRect">
            <a:avLst>
              <a:gd name="adj" fmla="val 50000"/>
            </a:avLst>
          </a:prstGeom>
          <a:solidFill>
            <a:srgbClr val="CA8A04"/>
          </a:solidFill>
          <a:ln w="12700">
            <a:solidFill>
              <a:srgbClr val="CA8A04"/>
            </a:solidFill>
            <a:prstDash val="solid"/>
          </a:ln>
        </p:spPr>
      </p:sp>
      <p:sp>
        <p:nvSpPr>
          <p:cNvPr id="79" name="Text 68"/>
          <p:cNvSpPr txBox="1"/>
          <p:nvPr/>
        </p:nvSpPr>
        <p:spPr>
          <a:xfrm>
            <a:off x="7433889" y="4337274"/>
            <a:ext cx="9144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체험부스</a:t>
            </a:r>
            <a:endParaRPr lang="en-US" sz="800" dirty="0"/>
          </a:p>
        </p:txBody>
      </p:sp>
      <p:sp>
        <p:nvSpPr>
          <p:cNvPr id="80" name="Text 69"/>
          <p:cNvSpPr txBox="1"/>
          <p:nvPr/>
        </p:nvSpPr>
        <p:spPr>
          <a:xfrm>
            <a:off x="7433889" y="5291267"/>
            <a:ext cx="1761683" cy="411480"/>
          </a:xfrm>
          <a:prstGeom prst="rect">
            <a:avLst/>
          </a:prstGeom>
          <a:noFill/>
          <a:ln/>
        </p:spPr>
        <p:txBody>
          <a:bodyPr wrap="square" lIns="0" tIns="0" rIns="0" bIns="0" rtlCol="0" anchor="t"/>
          <a:lstStyle/>
          <a:p>
            <a:pPr indent="0" marL="0">
              <a:lnSpc>
                <a:spcPct val="110000"/>
              </a:lnSpc>
              <a:buNone/>
            </a:pPr>
            <a:r>
              <a:rPr lang="en-US" sz="900" b="1" dirty="0">
                <a:solidFill>
                  <a:srgbClr val="0F172A"/>
                </a:solidFill>
                <a:latin typeface="Malgun Gothic" pitchFamily="34" charset="0"/>
                <a:ea typeface="Malgun Gothic" pitchFamily="34" charset="-122"/>
                <a:cs typeface="Malgun Gothic" pitchFamily="34" charset="-120"/>
              </a:rPr>
              <a:t>위례신도시 상가 축제 체험부스 운영</a:t>
            </a:r>
            <a:endParaRPr lang="en-US" sz="900" dirty="0"/>
          </a:p>
        </p:txBody>
      </p:sp>
      <p:sp>
        <p:nvSpPr>
          <p:cNvPr id="81" name="Text 70"/>
          <p:cNvSpPr txBox="1"/>
          <p:nvPr/>
        </p:nvSpPr>
        <p:spPr>
          <a:xfrm>
            <a:off x="7433889" y="5693603"/>
            <a:ext cx="1761683" cy="201168"/>
          </a:xfrm>
          <a:prstGeom prst="rect">
            <a:avLst/>
          </a:prstGeom>
          <a:noFill/>
          <a:ln/>
        </p:spPr>
        <p:txBody>
          <a:bodyPr wrap="square" lIns="0" tIns="0" rIns="0" bIns="0" rtlCol="0" anchor="t"/>
          <a:lstStyle/>
          <a:p>
            <a:pPr indent="0" marL="0">
              <a:buNone/>
            </a:pPr>
            <a:r>
              <a:rPr lang="en-US" sz="800" dirty="0">
                <a:solidFill>
                  <a:srgbClr val="94A3B8"/>
                </a:solidFill>
                <a:latin typeface="Malgun Gothic" pitchFamily="34" charset="0"/>
                <a:ea typeface="Malgun Gothic" pitchFamily="34" charset="-122"/>
                <a:cs typeface="Malgun Gothic" pitchFamily="34" charset="-120"/>
              </a:rPr>
              <a:t>경기 성남시</a:t>
            </a:r>
            <a:endParaRPr lang="en-US" sz="800" dirty="0"/>
          </a:p>
        </p:txBody>
      </p:sp>
      <p:sp>
        <p:nvSpPr>
          <p:cNvPr id="82" name="Shape 71"/>
          <p:cNvSpPr/>
          <p:nvPr/>
        </p:nvSpPr>
        <p:spPr>
          <a:xfrm>
            <a:off x="9515612" y="4200114"/>
            <a:ext cx="2036003" cy="1731234"/>
          </a:xfrm>
          <a:prstGeom prst="roundRect">
            <a:avLst>
              <a:gd name="adj" fmla="val 5282"/>
            </a:avLst>
          </a:prstGeom>
          <a:solidFill>
            <a:srgbClr val="FFFFFF"/>
          </a:solidFill>
          <a:ln w="12700">
            <a:solidFill>
              <a:srgbClr val="FFFFFF"/>
            </a:solidFill>
            <a:prstDash val="solid"/>
          </a:ln>
        </p:spPr>
      </p:sp>
      <p:sp>
        <p:nvSpPr>
          <p:cNvPr id="83" name="Shape 72"/>
          <p:cNvSpPr/>
          <p:nvPr/>
        </p:nvSpPr>
        <p:spPr>
          <a:xfrm>
            <a:off x="9515612" y="4200114"/>
            <a:ext cx="2036003" cy="1018002"/>
          </a:xfrm>
          <a:prstGeom prst="roundRect">
            <a:avLst>
              <a:gd name="adj" fmla="val 8982"/>
            </a:avLst>
          </a:prstGeom>
          <a:solidFill>
            <a:srgbClr val="12305F"/>
          </a:solidFill>
          <a:ln w="12700">
            <a:solidFill>
              <a:srgbClr val="1F5FD0"/>
            </a:solidFill>
            <a:prstDash val="dash"/>
          </a:ln>
        </p:spPr>
      </p:sp>
      <p:pic>
        <p:nvPicPr>
          <p:cNvPr id="84" name="Image 9" descr="preencoded.png">    </p:cNvPr>
          <p:cNvPicPr>
            <a:picLocks noChangeAspect="1"/>
          </p:cNvPicPr>
          <p:nvPr/>
        </p:nvPicPr>
        <p:blipFill>
          <a:blip r:embed="rId10"/>
          <a:stretch>
            <a:fillRect/>
          </a:stretch>
        </p:blipFill>
        <p:spPr>
          <a:xfrm>
            <a:off x="10380913" y="4446686"/>
            <a:ext cx="305400" cy="305400"/>
          </a:xfrm>
          <a:prstGeom prst="rect">
            <a:avLst/>
          </a:prstGeom>
        </p:spPr>
      </p:pic>
      <p:sp>
        <p:nvSpPr>
          <p:cNvPr id="85" name="Text 73"/>
          <p:cNvSpPr txBox="1"/>
          <p:nvPr/>
        </p:nvSpPr>
        <p:spPr>
          <a:xfrm>
            <a:off x="9515612" y="4788663"/>
            <a:ext cx="2036003" cy="228600"/>
          </a:xfrm>
          <a:prstGeom prst="rect">
            <a:avLst/>
          </a:prstGeom>
          <a:noFill/>
          <a:ln/>
        </p:spPr>
        <p:txBody>
          <a:bodyPr wrap="square" lIns="0" tIns="0" rIns="0" bIns="0" rtlCol="0" anchor="t"/>
          <a:lstStyle/>
          <a:p>
            <a:pPr algn="ctr" indent="0" marL="0">
              <a:buNone/>
            </a:pPr>
            <a:r>
              <a:rPr lang="en-US" sz="850" dirty="0">
                <a:solidFill>
                  <a:srgbClr val="93C5FD"/>
                </a:solidFill>
                <a:latin typeface="Malgun Gothic" pitchFamily="34" charset="0"/>
                <a:ea typeface="Malgun Gothic" pitchFamily="34" charset="-122"/>
                <a:cs typeface="Malgun Gothic" pitchFamily="34" charset="-120"/>
              </a:rPr>
              <a:t>현장 사진</a:t>
            </a:r>
            <a:endParaRPr lang="en-US" sz="850" dirty="0"/>
          </a:p>
        </p:txBody>
      </p:sp>
      <p:sp>
        <p:nvSpPr>
          <p:cNvPr id="86" name="Shape 74"/>
          <p:cNvSpPr/>
          <p:nvPr/>
        </p:nvSpPr>
        <p:spPr>
          <a:xfrm>
            <a:off x="9652772" y="4337274"/>
            <a:ext cx="914400" cy="237744"/>
          </a:xfrm>
          <a:prstGeom prst="roundRect">
            <a:avLst>
              <a:gd name="adj" fmla="val 50000"/>
            </a:avLst>
          </a:prstGeom>
          <a:solidFill>
            <a:srgbClr val="CA8A04"/>
          </a:solidFill>
          <a:ln w="12700">
            <a:solidFill>
              <a:srgbClr val="CA8A04"/>
            </a:solidFill>
            <a:prstDash val="solid"/>
          </a:ln>
        </p:spPr>
      </p:sp>
      <p:sp>
        <p:nvSpPr>
          <p:cNvPr id="87" name="Text 75"/>
          <p:cNvSpPr txBox="1"/>
          <p:nvPr/>
        </p:nvSpPr>
        <p:spPr>
          <a:xfrm>
            <a:off x="9652772" y="4337274"/>
            <a:ext cx="9144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Malgun Gothic" pitchFamily="34" charset="0"/>
                <a:ea typeface="Malgun Gothic" pitchFamily="34" charset="-122"/>
                <a:cs typeface="Malgun Gothic" pitchFamily="34" charset="-120"/>
              </a:rPr>
              <a:t>체험부스</a:t>
            </a:r>
            <a:endParaRPr lang="en-US" sz="800" dirty="0"/>
          </a:p>
        </p:txBody>
      </p:sp>
      <p:sp>
        <p:nvSpPr>
          <p:cNvPr id="88" name="Text 76"/>
          <p:cNvSpPr txBox="1"/>
          <p:nvPr/>
        </p:nvSpPr>
        <p:spPr>
          <a:xfrm>
            <a:off x="9652772" y="5291267"/>
            <a:ext cx="1761683" cy="411480"/>
          </a:xfrm>
          <a:prstGeom prst="rect">
            <a:avLst/>
          </a:prstGeom>
          <a:noFill/>
          <a:ln/>
        </p:spPr>
        <p:txBody>
          <a:bodyPr wrap="square" lIns="0" tIns="0" rIns="0" bIns="0" rtlCol="0" anchor="t"/>
          <a:lstStyle/>
          <a:p>
            <a:pPr indent="0" marL="0">
              <a:lnSpc>
                <a:spcPct val="110000"/>
              </a:lnSpc>
              <a:buNone/>
            </a:pPr>
            <a:r>
              <a:rPr lang="en-US" sz="900" b="1" dirty="0">
                <a:solidFill>
                  <a:srgbClr val="0F172A"/>
                </a:solidFill>
                <a:latin typeface="Malgun Gothic" pitchFamily="34" charset="0"/>
                <a:ea typeface="Malgun Gothic" pitchFamily="34" charset="-122"/>
                <a:cs typeface="Malgun Gothic" pitchFamily="34" charset="-120"/>
              </a:rPr>
              <a:t>영등포공원 유아숲 가족축제 체험부스 운영</a:t>
            </a:r>
            <a:endParaRPr lang="en-US" sz="900" dirty="0"/>
          </a:p>
        </p:txBody>
      </p:sp>
      <p:sp>
        <p:nvSpPr>
          <p:cNvPr id="89" name="Text 77"/>
          <p:cNvSpPr txBox="1"/>
          <p:nvPr/>
        </p:nvSpPr>
        <p:spPr>
          <a:xfrm>
            <a:off x="9652772" y="5693603"/>
            <a:ext cx="1761683" cy="201168"/>
          </a:xfrm>
          <a:prstGeom prst="rect">
            <a:avLst/>
          </a:prstGeom>
          <a:noFill/>
          <a:ln/>
        </p:spPr>
        <p:txBody>
          <a:bodyPr wrap="square" lIns="0" tIns="0" rIns="0" bIns="0" rtlCol="0" anchor="t"/>
          <a:lstStyle/>
          <a:p>
            <a:pPr indent="0" marL="0">
              <a:buNone/>
            </a:pPr>
            <a:r>
              <a:rPr lang="en-US" sz="800" dirty="0">
                <a:solidFill>
                  <a:srgbClr val="94A3B8"/>
                </a:solidFill>
                <a:latin typeface="Malgun Gothic" pitchFamily="34" charset="0"/>
                <a:ea typeface="Malgun Gothic" pitchFamily="34" charset="-122"/>
                <a:cs typeface="Malgun Gothic" pitchFamily="34" charset="-120"/>
              </a:rPr>
              <a:t>서울특별시</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F44"/>
        </a:solidFill>
      </p:bgPr>
    </p:bg>
    <p:spTree>
      <p:nvGrpSpPr>
        <p:cNvPr id="1" name=""/>
        <p:cNvGrpSpPr/>
        <p:nvPr/>
      </p:nvGrpSpPr>
      <p:grpSpPr>
        <a:xfrm>
          <a:off x="0" y="0"/>
          <a:ext cx="0" cy="0"/>
          <a:chOff x="0" y="0"/>
          <a:chExt cx="0" cy="0"/>
        </a:xfrm>
      </p:grpSpPr>
      <p:sp>
        <p:nvSpPr>
          <p:cNvPr id="2" name="Shape 0"/>
          <p:cNvSpPr/>
          <p:nvPr/>
        </p:nvSpPr>
        <p:spPr>
          <a:xfrm>
            <a:off x="9265615" y="-2377440"/>
            <a:ext cx="5120640" cy="5120640"/>
          </a:xfrm>
          <a:prstGeom prst="ellipse">
            <a:avLst/>
          </a:prstGeom>
          <a:solidFill>
            <a:srgbClr val="12305F"/>
          </a:solidFill>
          <a:ln w="12700">
            <a:solidFill>
              <a:srgbClr val="12305F"/>
            </a:solidFill>
            <a:prstDash val="solid"/>
          </a:ln>
        </p:spPr>
      </p:sp>
      <p:sp>
        <p:nvSpPr>
          <p:cNvPr id="3" name="Shape 1"/>
          <p:cNvSpPr/>
          <p:nvPr/>
        </p:nvSpPr>
        <p:spPr>
          <a:xfrm>
            <a:off x="-1645920" y="5029200"/>
            <a:ext cx="3657600" cy="3657600"/>
          </a:xfrm>
          <a:prstGeom prst="ellipse">
            <a:avLst/>
          </a:prstGeom>
          <a:solidFill>
            <a:srgbClr val="12305F"/>
          </a:solidFill>
          <a:ln w="12700">
            <a:solidFill>
              <a:srgbClr val="12305F"/>
            </a:solidFill>
            <a:prstDash val="solid"/>
          </a:ln>
        </p:spPr>
      </p:sp>
      <p:sp>
        <p:nvSpPr>
          <p:cNvPr id="4" name="Text 2"/>
          <p:cNvSpPr txBox="1"/>
          <p:nvPr/>
        </p:nvSpPr>
        <p:spPr>
          <a:xfrm>
            <a:off x="640080" y="384048"/>
            <a:ext cx="1155700" cy="266700"/>
          </a:xfrm>
          <a:prstGeom prst="rect">
            <a:avLst/>
          </a:prstGeom>
          <a:noFill/>
          <a:ln/>
        </p:spPr>
        <p:txBody>
          <a:bodyPr wrap="square" lIns="0" tIns="0" rIns="0" bIns="0" rtlCol="0" anchor="ctr"/>
          <a:lstStyle/>
          <a:p>
            <a:pPr indent="0" marL="0">
              <a:buNone/>
            </a:pPr>
            <a:r>
              <a:rPr lang="en-US" sz="1400" b="1" dirty="0">
                <a:solidFill>
                  <a:srgbClr val="3182F6"/>
                </a:solidFill>
                <a:latin typeface="Arial Black" pitchFamily="34" charset="0"/>
                <a:ea typeface="Arial Black" pitchFamily="34" charset="-122"/>
                <a:cs typeface="Arial Black" pitchFamily="34" charset="-120"/>
              </a:rPr>
              <a:t>Flit</a:t>
            </a:r>
            <a:pPr indent="0" marL="0">
              <a:buNone/>
            </a:pPr>
            <a:r>
              <a:rPr lang="en-US" sz="1400" b="1" dirty="0">
                <a:solidFill>
                  <a:srgbClr val="FFFFFF"/>
                </a:solidFill>
                <a:latin typeface="Arial Black" pitchFamily="34" charset="0"/>
                <a:ea typeface="Arial Black" pitchFamily="34" charset="-122"/>
                <a:cs typeface="Arial Black" pitchFamily="34" charset="-120"/>
              </a:rPr>
              <a:t>Union</a:t>
            </a:r>
            <a:endParaRPr lang="en-US" sz="1400" dirty="0"/>
          </a:p>
        </p:txBody>
      </p:sp>
      <p:sp>
        <p:nvSpPr>
          <p:cNvPr id="5" name="Text 3"/>
          <p:cNvSpPr txBox="1"/>
          <p:nvPr/>
        </p:nvSpPr>
        <p:spPr>
          <a:xfrm>
            <a:off x="640080" y="868680"/>
            <a:ext cx="5486400" cy="274320"/>
          </a:xfrm>
          <a:prstGeom prst="rect">
            <a:avLst/>
          </a:prstGeom>
          <a:noFill/>
          <a:ln/>
        </p:spPr>
        <p:txBody>
          <a:bodyPr wrap="square" lIns="0" tIns="0" rIns="0" bIns="0" rtlCol="0" anchor="t"/>
          <a:lstStyle/>
          <a:p>
            <a:pPr indent="0" marL="0">
              <a:buNone/>
            </a:pPr>
            <a:r>
              <a:rPr lang="en-US" sz="1100" b="1" spc="300" kern="0" dirty="0">
                <a:solidFill>
                  <a:srgbClr val="93C5FD"/>
                </a:solidFill>
                <a:latin typeface="Malgun Gothic" pitchFamily="34" charset="0"/>
                <a:ea typeface="Malgun Gothic" pitchFamily="34" charset="-122"/>
                <a:cs typeface="Malgun Gothic" pitchFamily="34" charset="-120"/>
              </a:rPr>
              <a:t>08  CASE STUDY</a:t>
            </a:r>
            <a:endParaRPr lang="en-US" sz="1100" dirty="0"/>
          </a:p>
        </p:txBody>
      </p:sp>
      <p:sp>
        <p:nvSpPr>
          <p:cNvPr id="6" name="Text 4"/>
          <p:cNvSpPr txBox="1"/>
          <p:nvPr/>
        </p:nvSpPr>
        <p:spPr>
          <a:xfrm>
            <a:off x="640080" y="1143000"/>
            <a:ext cx="10911535" cy="594360"/>
          </a:xfrm>
          <a:prstGeom prst="rect">
            <a:avLst/>
          </a:prstGeom>
          <a:noFill/>
          <a:ln/>
        </p:spPr>
        <p:txBody>
          <a:bodyPr wrap="square" lIns="0" tIns="0" rIns="0" bIns="0" rtlCol="0" anchor="t"/>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사례 연구</a:t>
            </a:r>
            <a:endParaRPr lang="en-US" sz="2800" dirty="0"/>
          </a:p>
        </p:txBody>
      </p:sp>
      <p:sp>
        <p:nvSpPr>
          <p:cNvPr id="7" name="Text 5"/>
          <p:cNvSpPr txBox="1"/>
          <p:nvPr/>
        </p:nvSpPr>
        <p:spPr>
          <a:xfrm>
            <a:off x="640080" y="1737360"/>
            <a:ext cx="10911535" cy="411480"/>
          </a:xfrm>
          <a:prstGeom prst="rect">
            <a:avLst/>
          </a:prstGeom>
          <a:noFill/>
          <a:ln/>
        </p:spPr>
        <p:txBody>
          <a:bodyPr wrap="square" lIns="0" tIns="0" rIns="0" bIns="0" rtlCol="0" anchor="t"/>
          <a:lstStyle/>
          <a:p>
            <a:pPr indent="0" marL="0">
              <a:buNone/>
            </a:pPr>
            <a:r>
              <a:rPr lang="en-US" sz="1300" dirty="0">
                <a:solidFill>
                  <a:srgbClr val="D6E4F8"/>
                </a:solidFill>
                <a:latin typeface="Malgun Gothic" pitchFamily="34" charset="0"/>
                <a:ea typeface="Malgun Gothic" pitchFamily="34" charset="-122"/>
                <a:cs typeface="Malgun Gothic" pitchFamily="34" charset="-120"/>
              </a:rPr>
              <a:t>야시장과 체험부스, 대표 운영 사례 두 건을 기획 배경부터 성과까지 소개합니다.</a:t>
            </a:r>
            <a:endParaRPr lang="en-US" sz="1300" dirty="0"/>
          </a:p>
        </p:txBody>
      </p:sp>
      <p:sp>
        <p:nvSpPr>
          <p:cNvPr id="8" name="Text 6"/>
          <p:cNvSpPr txBox="1"/>
          <p:nvPr/>
        </p:nvSpPr>
        <p:spPr>
          <a:xfrm>
            <a:off x="640080" y="6400800"/>
            <a:ext cx="3657600" cy="228600"/>
          </a:xfrm>
          <a:prstGeom prst="rect">
            <a:avLst/>
          </a:prstGeom>
          <a:noFill/>
          <a:ln/>
        </p:spPr>
        <p:txBody>
          <a:bodyPr wrap="square" lIns="0" tIns="0" rIns="0" bIns="0" rtlCol="0" anchor="t"/>
          <a:lstStyle/>
          <a:p>
            <a:pPr indent="0" marL="0">
              <a:buNone/>
            </a:pPr>
            <a:r>
              <a:rPr lang="en-US" sz="900" dirty="0">
                <a:solidFill>
                  <a:srgbClr val="94A3B8"/>
                </a:solidFill>
                <a:latin typeface="Malgun Gothic" pitchFamily="34" charset="0"/>
                <a:ea typeface="Malgun Gothic" pitchFamily="34" charset="-122"/>
                <a:cs typeface="Malgun Gothic" pitchFamily="34" charset="-120"/>
              </a:rPr>
              <a:t>플릿 유니온 회사소개서</a:t>
            </a:r>
            <a:endParaRPr lang="en-US" sz="900" dirty="0"/>
          </a:p>
        </p:txBody>
      </p:sp>
      <p:sp>
        <p:nvSpPr>
          <p:cNvPr id="9" name="Text 7"/>
          <p:cNvSpPr txBox="1"/>
          <p:nvPr/>
        </p:nvSpPr>
        <p:spPr>
          <a:xfrm>
            <a:off x="10637215" y="6400800"/>
            <a:ext cx="914400" cy="228600"/>
          </a:xfrm>
          <a:prstGeom prst="rect">
            <a:avLst/>
          </a:prstGeom>
          <a:noFill/>
          <a:ln/>
        </p:spPr>
        <p:txBody>
          <a:bodyPr wrap="square" lIns="0" tIns="0" rIns="0" bIns="0" rtlCol="0" anchor="t"/>
          <a:lstStyle/>
          <a:p>
            <a:pPr algn="r" indent="0" marL="0">
              <a:buNone/>
            </a:pPr>
            <a:r>
              <a:rPr lang="en-US" sz="900" dirty="0">
                <a:solidFill>
                  <a:srgbClr val="94A3B8"/>
                </a:solidFill>
                <a:latin typeface="Malgun Gothic" pitchFamily="34" charset="0"/>
                <a:ea typeface="Malgun Gothic" pitchFamily="34" charset="-122"/>
                <a:cs typeface="Malgun Gothic" pitchFamily="34" charset="-120"/>
              </a:rPr>
              <a:t>18</a:t>
            </a:r>
            <a:endParaRPr lang="en-US" sz="900" dirty="0"/>
          </a:p>
        </p:txBody>
      </p:sp>
      <p:sp>
        <p:nvSpPr>
          <p:cNvPr id="10" name="Shape 8"/>
          <p:cNvSpPr/>
          <p:nvPr/>
        </p:nvSpPr>
        <p:spPr>
          <a:xfrm>
            <a:off x="640080" y="2377440"/>
            <a:ext cx="3108960" cy="1783080"/>
          </a:xfrm>
          <a:prstGeom prst="roundRect">
            <a:avLst>
              <a:gd name="adj" fmla="val 5128"/>
            </a:avLst>
          </a:prstGeom>
          <a:solidFill>
            <a:srgbClr val="12305F"/>
          </a:solidFill>
          <a:ln w="12700">
            <a:solidFill>
              <a:srgbClr val="1F5FD0"/>
            </a:solidFill>
            <a:prstDash val="dash"/>
          </a:ln>
        </p:spPr>
      </p:sp>
      <p:pic>
        <p:nvPicPr>
          <p:cNvPr id="11" name="Image 0" descr="preencoded.png">    </p:cNvPr>
          <p:cNvPicPr>
            <a:picLocks noChangeAspect="1"/>
          </p:cNvPicPr>
          <p:nvPr/>
        </p:nvPicPr>
        <p:blipFill>
          <a:blip r:embed="rId1"/>
          <a:stretch>
            <a:fillRect/>
          </a:stretch>
        </p:blipFill>
        <p:spPr>
          <a:xfrm>
            <a:off x="1965960" y="2656332"/>
            <a:ext cx="457200" cy="457200"/>
          </a:xfrm>
          <a:prstGeom prst="rect">
            <a:avLst/>
          </a:prstGeom>
        </p:spPr>
      </p:pic>
      <p:sp>
        <p:nvSpPr>
          <p:cNvPr id="12" name="Text 9"/>
          <p:cNvSpPr txBox="1"/>
          <p:nvPr/>
        </p:nvSpPr>
        <p:spPr>
          <a:xfrm>
            <a:off x="640080" y="3150108"/>
            <a:ext cx="3108960" cy="228600"/>
          </a:xfrm>
          <a:prstGeom prst="rect">
            <a:avLst/>
          </a:prstGeom>
          <a:noFill/>
          <a:ln/>
        </p:spPr>
        <p:txBody>
          <a:bodyPr wrap="square" lIns="0" tIns="0" rIns="0" bIns="0" rtlCol="0" anchor="t"/>
          <a:lstStyle/>
          <a:p>
            <a:pPr algn="ctr" indent="0" marL="0">
              <a:buNone/>
            </a:pPr>
            <a:r>
              <a:rPr lang="en-US" sz="850" dirty="0">
                <a:solidFill>
                  <a:srgbClr val="93C5FD"/>
                </a:solidFill>
                <a:latin typeface="Malgun Gothic" pitchFamily="34" charset="0"/>
                <a:ea typeface="Malgun Gothic" pitchFamily="34" charset="-122"/>
                <a:cs typeface="Malgun Gothic" pitchFamily="34" charset="-120"/>
              </a:rPr>
              <a:t>현장 사진</a:t>
            </a:r>
            <a:endParaRPr lang="en-US" sz="850" dirty="0"/>
          </a:p>
        </p:txBody>
      </p:sp>
      <p:sp>
        <p:nvSpPr>
          <p:cNvPr id="13" name="Shape 10"/>
          <p:cNvSpPr/>
          <p:nvPr/>
        </p:nvSpPr>
        <p:spPr>
          <a:xfrm>
            <a:off x="640080" y="3474720"/>
            <a:ext cx="3108960" cy="685800"/>
          </a:xfrm>
          <a:prstGeom prst="roundRect">
            <a:avLst/>
          </a:prstGeom>
          <a:solidFill>
            <a:srgbClr val="0B1F44">
              <a:alpha val="75000"/>
            </a:srgbClr>
          </a:solidFill>
          <a:ln w="12700">
            <a:solidFill>
              <a:srgbClr val="0B1F44">
                <a:alpha val="0"/>
              </a:srgbClr>
            </a:solidFill>
            <a:prstDash val="solid"/>
          </a:ln>
        </p:spPr>
      </p:sp>
      <p:sp>
        <p:nvSpPr>
          <p:cNvPr id="14" name="Shape 11"/>
          <p:cNvSpPr/>
          <p:nvPr/>
        </p:nvSpPr>
        <p:spPr>
          <a:xfrm>
            <a:off x="822960" y="2560320"/>
            <a:ext cx="822960" cy="237744"/>
          </a:xfrm>
          <a:prstGeom prst="roundRect">
            <a:avLst>
              <a:gd name="adj" fmla="val 50000"/>
            </a:avLst>
          </a:prstGeom>
          <a:solidFill>
            <a:srgbClr val="FFFFFF"/>
          </a:solidFill>
          <a:ln w="12700">
            <a:solidFill>
              <a:srgbClr val="FFFFFF"/>
            </a:solidFill>
            <a:prstDash val="solid"/>
          </a:ln>
        </p:spPr>
      </p:sp>
      <p:sp>
        <p:nvSpPr>
          <p:cNvPr id="15" name="Text 12"/>
          <p:cNvSpPr txBox="1"/>
          <p:nvPr/>
        </p:nvSpPr>
        <p:spPr>
          <a:xfrm>
            <a:off x="822960" y="2560320"/>
            <a:ext cx="822960" cy="237744"/>
          </a:xfrm>
          <a:prstGeom prst="rect">
            <a:avLst/>
          </a:prstGeom>
          <a:noFill/>
          <a:ln/>
        </p:spPr>
        <p:txBody>
          <a:bodyPr wrap="square" lIns="0" tIns="0" rIns="0" bIns="0" rtlCol="0" anchor="ctr"/>
          <a:lstStyle/>
          <a:p>
            <a:pPr algn="ctr" indent="0" marL="0">
              <a:buNone/>
            </a:pPr>
            <a:r>
              <a:rPr lang="en-US" sz="800" b="1" dirty="0">
                <a:solidFill>
                  <a:srgbClr val="3182F6"/>
                </a:solidFill>
                <a:latin typeface="Malgun Gothic" pitchFamily="34" charset="0"/>
                <a:ea typeface="Malgun Gothic" pitchFamily="34" charset="-122"/>
                <a:cs typeface="Malgun Gothic" pitchFamily="34" charset="-120"/>
              </a:rPr>
              <a:t>야시장</a:t>
            </a:r>
            <a:endParaRPr lang="en-US" sz="800" dirty="0"/>
          </a:p>
        </p:txBody>
      </p:sp>
      <p:sp>
        <p:nvSpPr>
          <p:cNvPr id="16" name="Text 13"/>
          <p:cNvSpPr txBox="1"/>
          <p:nvPr/>
        </p:nvSpPr>
        <p:spPr>
          <a:xfrm>
            <a:off x="822960" y="3538728"/>
            <a:ext cx="2743200" cy="292608"/>
          </a:xfrm>
          <a:prstGeom prst="rect">
            <a:avLst/>
          </a:prstGeom>
          <a:noFill/>
          <a:ln/>
        </p:spPr>
        <p:txBody>
          <a:bodyPr wrap="square" lIns="0" tIns="0" rIns="0" bIns="0" rtlCol="0" anchor="t"/>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원주 소재 대학교 야시장 운영</a:t>
            </a:r>
            <a:endParaRPr lang="en-US" sz="1300" dirty="0"/>
          </a:p>
        </p:txBody>
      </p:sp>
      <p:sp>
        <p:nvSpPr>
          <p:cNvPr id="17" name="Text 14"/>
          <p:cNvSpPr txBox="1"/>
          <p:nvPr/>
        </p:nvSpPr>
        <p:spPr>
          <a:xfrm>
            <a:off x="822960" y="3831336"/>
            <a:ext cx="2743200" cy="228600"/>
          </a:xfrm>
          <a:prstGeom prst="rect">
            <a:avLst/>
          </a:prstGeom>
          <a:noFill/>
          <a:ln/>
        </p:spPr>
        <p:txBody>
          <a:bodyPr wrap="square" lIns="0" tIns="0" rIns="0" bIns="0" rtlCol="0" anchor="t"/>
          <a:lstStyle/>
          <a:p>
            <a:pPr indent="0" marL="0">
              <a:buNone/>
            </a:pPr>
            <a:r>
              <a:rPr lang="en-US" sz="900" dirty="0">
                <a:solidFill>
                  <a:srgbClr val="D6E4F8"/>
                </a:solidFill>
                <a:latin typeface="Malgun Gothic" pitchFamily="34" charset="0"/>
                <a:ea typeface="Malgun Gothic" pitchFamily="34" charset="-122"/>
                <a:cs typeface="Malgun Gothic" pitchFamily="34" charset="-120"/>
              </a:rPr>
              <a:t>강원 원주시</a:t>
            </a:r>
            <a:endParaRPr lang="en-US" sz="900" dirty="0"/>
          </a:p>
        </p:txBody>
      </p:sp>
      <p:sp>
        <p:nvSpPr>
          <p:cNvPr id="18" name="Shape 15"/>
          <p:cNvSpPr/>
          <p:nvPr/>
        </p:nvSpPr>
        <p:spPr>
          <a:xfrm>
            <a:off x="3977640" y="2377440"/>
            <a:ext cx="2402738" cy="1783080"/>
          </a:xfrm>
          <a:prstGeom prst="roundRect">
            <a:avLst>
              <a:gd name="adj" fmla="val 5128"/>
            </a:avLst>
          </a:prstGeom>
          <a:solidFill>
            <a:srgbClr val="FFFFFF"/>
          </a:solidFill>
          <a:ln w="12700">
            <a:solidFill>
              <a:srgbClr val="FFFFFF"/>
            </a:solidFill>
            <a:prstDash val="solid"/>
          </a:ln>
        </p:spPr>
      </p:sp>
      <p:sp>
        <p:nvSpPr>
          <p:cNvPr id="19" name="Text 16"/>
          <p:cNvSpPr txBox="1"/>
          <p:nvPr/>
        </p:nvSpPr>
        <p:spPr>
          <a:xfrm>
            <a:off x="4206240" y="2606040"/>
            <a:ext cx="1945538" cy="274320"/>
          </a:xfrm>
          <a:prstGeom prst="rect">
            <a:avLst/>
          </a:prstGeom>
          <a:noFill/>
          <a:ln/>
        </p:spPr>
        <p:txBody>
          <a:bodyPr wrap="square" lIns="0" tIns="0" rIns="0" bIns="0" rtlCol="0" anchor="t"/>
          <a:lstStyle/>
          <a:p>
            <a:pPr indent="0" marL="0">
              <a:buNone/>
            </a:pPr>
            <a:r>
              <a:rPr lang="en-US" sz="1000" b="1" dirty="0">
                <a:solidFill>
                  <a:srgbClr val="3182F6"/>
                </a:solidFill>
                <a:latin typeface="Malgun Gothic" pitchFamily="34" charset="0"/>
                <a:ea typeface="Malgun Gothic" pitchFamily="34" charset="-122"/>
                <a:cs typeface="Malgun Gothic" pitchFamily="34" charset="-120"/>
              </a:rPr>
              <a:t>기획 배경</a:t>
            </a:r>
            <a:endParaRPr lang="en-US" sz="1000" dirty="0"/>
          </a:p>
        </p:txBody>
      </p:sp>
      <p:sp>
        <p:nvSpPr>
          <p:cNvPr id="20" name="Text 17"/>
          <p:cNvSpPr txBox="1"/>
          <p:nvPr/>
        </p:nvSpPr>
        <p:spPr>
          <a:xfrm>
            <a:off x="4206240" y="2926080"/>
            <a:ext cx="1945538" cy="1097280"/>
          </a:xfrm>
          <a:prstGeom prst="rect">
            <a:avLst/>
          </a:prstGeom>
          <a:noFill/>
          <a:ln/>
        </p:spPr>
        <p:txBody>
          <a:bodyPr wrap="square" lIns="0" tIns="0" rIns="0" bIns="0" rtlCol="0" anchor="t"/>
          <a:lstStyle/>
          <a:p>
            <a:pPr indent="0" marL="0">
              <a:lnSpc>
                <a:spcPct val="125000"/>
              </a:lnSpc>
              <a:buNone/>
            </a:pPr>
            <a:r>
              <a:rPr lang="en-US" sz="1000" dirty="0">
                <a:solidFill>
                  <a:srgbClr val="475569"/>
                </a:solidFill>
                <a:latin typeface="Malgun Gothic" pitchFamily="34" charset="0"/>
                <a:ea typeface="Malgun Gothic" pitchFamily="34" charset="-122"/>
                <a:cs typeface="Malgun Gothic" pitchFamily="34" charset="-120"/>
              </a:rPr>
              <a:t>대학교 축제 기간 저녁 시간대 콘텐츠 부재 문제를 해결하고, 학생·지역 주민 모두 즐길 수 있는 야시장을 기획했습니다.</a:t>
            </a:r>
            <a:endParaRPr lang="en-US" sz="1000" dirty="0"/>
          </a:p>
        </p:txBody>
      </p:sp>
      <p:sp>
        <p:nvSpPr>
          <p:cNvPr id="21" name="Shape 18"/>
          <p:cNvSpPr/>
          <p:nvPr/>
        </p:nvSpPr>
        <p:spPr>
          <a:xfrm>
            <a:off x="6563258" y="2377440"/>
            <a:ext cx="2402738" cy="1783080"/>
          </a:xfrm>
          <a:prstGeom prst="roundRect">
            <a:avLst>
              <a:gd name="adj" fmla="val 5128"/>
            </a:avLst>
          </a:prstGeom>
          <a:solidFill>
            <a:srgbClr val="FFFFFF"/>
          </a:solidFill>
          <a:ln w="12700">
            <a:solidFill>
              <a:srgbClr val="FFFFFF"/>
            </a:solidFill>
            <a:prstDash val="solid"/>
          </a:ln>
        </p:spPr>
      </p:sp>
      <p:sp>
        <p:nvSpPr>
          <p:cNvPr id="22" name="Text 19"/>
          <p:cNvSpPr txBox="1"/>
          <p:nvPr/>
        </p:nvSpPr>
        <p:spPr>
          <a:xfrm>
            <a:off x="6791858" y="2606040"/>
            <a:ext cx="1945538" cy="274320"/>
          </a:xfrm>
          <a:prstGeom prst="rect">
            <a:avLst/>
          </a:prstGeom>
          <a:noFill/>
          <a:ln/>
        </p:spPr>
        <p:txBody>
          <a:bodyPr wrap="square" lIns="0" tIns="0" rIns="0" bIns="0" rtlCol="0" anchor="t"/>
          <a:lstStyle/>
          <a:p>
            <a:pPr indent="0" marL="0">
              <a:buNone/>
            </a:pPr>
            <a:r>
              <a:rPr lang="en-US" sz="1000" b="1" dirty="0">
                <a:solidFill>
                  <a:srgbClr val="3182F6"/>
                </a:solidFill>
                <a:latin typeface="Malgun Gothic" pitchFamily="34" charset="0"/>
                <a:ea typeface="Malgun Gothic" pitchFamily="34" charset="-122"/>
                <a:cs typeface="Malgun Gothic" pitchFamily="34" charset="-120"/>
              </a:rPr>
              <a:t>운영 방식</a:t>
            </a:r>
            <a:endParaRPr lang="en-US" sz="1000" dirty="0"/>
          </a:p>
        </p:txBody>
      </p:sp>
      <p:sp>
        <p:nvSpPr>
          <p:cNvPr id="23" name="Text 20"/>
          <p:cNvSpPr txBox="1"/>
          <p:nvPr/>
        </p:nvSpPr>
        <p:spPr>
          <a:xfrm>
            <a:off x="6791858" y="2926080"/>
            <a:ext cx="1945538" cy="1097280"/>
          </a:xfrm>
          <a:prstGeom prst="rect">
            <a:avLst/>
          </a:prstGeom>
          <a:noFill/>
          <a:ln/>
        </p:spPr>
        <p:txBody>
          <a:bodyPr wrap="square" lIns="0" tIns="0" rIns="0" bIns="0" rtlCol="0" anchor="t"/>
          <a:lstStyle/>
          <a:p>
            <a:pPr indent="0" marL="0">
              <a:lnSpc>
                <a:spcPct val="125000"/>
              </a:lnSpc>
              <a:buNone/>
            </a:pPr>
            <a:r>
              <a:rPr lang="en-US" sz="1000" dirty="0">
                <a:solidFill>
                  <a:srgbClr val="475569"/>
                </a:solidFill>
                <a:latin typeface="Malgun Gothic" pitchFamily="34" charset="0"/>
                <a:ea typeface="Malgun Gothic" pitchFamily="34" charset="-122"/>
                <a:cs typeface="Malgun Gothic" pitchFamily="34" charset="-120"/>
              </a:rPr>
              <a:t>저녁 시간대부터 야간까지 푸드트럭 존과 플리마켓 셀러 존을 병행 운영. 야간 조명 연출로 분위기를 조성했습니다.</a:t>
            </a:r>
            <a:endParaRPr lang="en-US" sz="1000" dirty="0"/>
          </a:p>
        </p:txBody>
      </p:sp>
      <p:sp>
        <p:nvSpPr>
          <p:cNvPr id="24" name="Shape 21"/>
          <p:cNvSpPr/>
          <p:nvPr/>
        </p:nvSpPr>
        <p:spPr>
          <a:xfrm>
            <a:off x="9148877" y="2377440"/>
            <a:ext cx="2402738" cy="1783080"/>
          </a:xfrm>
          <a:prstGeom prst="roundRect">
            <a:avLst>
              <a:gd name="adj" fmla="val 5128"/>
            </a:avLst>
          </a:prstGeom>
          <a:solidFill>
            <a:srgbClr val="FFFFFF"/>
          </a:solidFill>
          <a:ln w="12700">
            <a:solidFill>
              <a:srgbClr val="FFFFFF"/>
            </a:solidFill>
            <a:prstDash val="solid"/>
          </a:ln>
        </p:spPr>
      </p:sp>
      <p:sp>
        <p:nvSpPr>
          <p:cNvPr id="25" name="Text 22"/>
          <p:cNvSpPr txBox="1"/>
          <p:nvPr/>
        </p:nvSpPr>
        <p:spPr>
          <a:xfrm>
            <a:off x="9377477" y="2606040"/>
            <a:ext cx="1945538" cy="274320"/>
          </a:xfrm>
          <a:prstGeom prst="rect">
            <a:avLst/>
          </a:prstGeom>
          <a:noFill/>
          <a:ln/>
        </p:spPr>
        <p:txBody>
          <a:bodyPr wrap="square" lIns="0" tIns="0" rIns="0" bIns="0" rtlCol="0" anchor="t"/>
          <a:lstStyle/>
          <a:p>
            <a:pPr indent="0" marL="0">
              <a:buNone/>
            </a:pPr>
            <a:r>
              <a:rPr lang="en-US" sz="1000" b="1" dirty="0">
                <a:solidFill>
                  <a:srgbClr val="3182F6"/>
                </a:solidFill>
                <a:latin typeface="Malgun Gothic" pitchFamily="34" charset="0"/>
                <a:ea typeface="Malgun Gothic" pitchFamily="34" charset="-122"/>
                <a:cs typeface="Malgun Gothic" pitchFamily="34" charset="-120"/>
              </a:rPr>
              <a:t>성과</a:t>
            </a:r>
            <a:endParaRPr lang="en-US" sz="1000" dirty="0"/>
          </a:p>
        </p:txBody>
      </p:sp>
      <p:sp>
        <p:nvSpPr>
          <p:cNvPr id="26" name="Text 23"/>
          <p:cNvSpPr txBox="1"/>
          <p:nvPr/>
        </p:nvSpPr>
        <p:spPr>
          <a:xfrm>
            <a:off x="9377477" y="2926080"/>
            <a:ext cx="1945538" cy="1097280"/>
          </a:xfrm>
          <a:prstGeom prst="rect">
            <a:avLst/>
          </a:prstGeom>
          <a:noFill/>
          <a:ln/>
        </p:spPr>
        <p:txBody>
          <a:bodyPr wrap="square" lIns="0" tIns="0" rIns="0" bIns="0" rtlCol="0" anchor="t"/>
          <a:lstStyle/>
          <a:p>
            <a:pPr indent="0" marL="0">
              <a:lnSpc>
                <a:spcPct val="125000"/>
              </a:lnSpc>
              <a:buNone/>
            </a:pPr>
            <a:r>
              <a:rPr lang="en-US" sz="1000" dirty="0">
                <a:solidFill>
                  <a:srgbClr val="475569"/>
                </a:solidFill>
                <a:latin typeface="Malgun Gothic" pitchFamily="34" charset="0"/>
                <a:ea typeface="Malgun Gothic" pitchFamily="34" charset="-122"/>
                <a:cs typeface="Malgun Gothic" pitchFamily="34" charset="-120"/>
              </a:rPr>
              <a:t>축제 기간 야간 방문자 유입을 크게 늘리며 대학 측의 높은 만족도를 얻었습니다.</a:t>
            </a:r>
            <a:endParaRPr lang="en-US" sz="1000" dirty="0"/>
          </a:p>
        </p:txBody>
      </p:sp>
      <p:sp>
        <p:nvSpPr>
          <p:cNvPr id="27" name="Shape 24"/>
          <p:cNvSpPr/>
          <p:nvPr/>
        </p:nvSpPr>
        <p:spPr>
          <a:xfrm>
            <a:off x="640080" y="4389120"/>
            <a:ext cx="3108960" cy="1783080"/>
          </a:xfrm>
          <a:prstGeom prst="roundRect">
            <a:avLst>
              <a:gd name="adj" fmla="val 5128"/>
            </a:avLst>
          </a:prstGeom>
          <a:solidFill>
            <a:srgbClr val="12305F"/>
          </a:solidFill>
          <a:ln w="12700">
            <a:solidFill>
              <a:srgbClr val="1F5FD0"/>
            </a:solidFill>
            <a:prstDash val="dash"/>
          </a:ln>
        </p:spPr>
      </p:sp>
      <p:pic>
        <p:nvPicPr>
          <p:cNvPr id="28" name="Image 1" descr="preencoded.png">    </p:cNvPr>
          <p:cNvPicPr>
            <a:picLocks noChangeAspect="1"/>
          </p:cNvPicPr>
          <p:nvPr/>
        </p:nvPicPr>
        <p:blipFill>
          <a:blip r:embed="rId2"/>
          <a:stretch>
            <a:fillRect/>
          </a:stretch>
        </p:blipFill>
        <p:spPr>
          <a:xfrm>
            <a:off x="1965960" y="4668012"/>
            <a:ext cx="457200" cy="457200"/>
          </a:xfrm>
          <a:prstGeom prst="rect">
            <a:avLst/>
          </a:prstGeom>
        </p:spPr>
      </p:pic>
      <p:sp>
        <p:nvSpPr>
          <p:cNvPr id="29" name="Text 25"/>
          <p:cNvSpPr txBox="1"/>
          <p:nvPr/>
        </p:nvSpPr>
        <p:spPr>
          <a:xfrm>
            <a:off x="640080" y="5161788"/>
            <a:ext cx="3108960" cy="228600"/>
          </a:xfrm>
          <a:prstGeom prst="rect">
            <a:avLst/>
          </a:prstGeom>
          <a:noFill/>
          <a:ln/>
        </p:spPr>
        <p:txBody>
          <a:bodyPr wrap="square" lIns="0" tIns="0" rIns="0" bIns="0" rtlCol="0" anchor="t"/>
          <a:lstStyle/>
          <a:p>
            <a:pPr algn="ctr" indent="0" marL="0">
              <a:buNone/>
            </a:pPr>
            <a:r>
              <a:rPr lang="en-US" sz="850" dirty="0">
                <a:solidFill>
                  <a:srgbClr val="93C5FD"/>
                </a:solidFill>
                <a:latin typeface="Malgun Gothic" pitchFamily="34" charset="0"/>
                <a:ea typeface="Malgun Gothic" pitchFamily="34" charset="-122"/>
                <a:cs typeface="Malgun Gothic" pitchFamily="34" charset="-120"/>
              </a:rPr>
              <a:t>현장 사진</a:t>
            </a:r>
            <a:endParaRPr lang="en-US" sz="850" dirty="0"/>
          </a:p>
        </p:txBody>
      </p:sp>
      <p:sp>
        <p:nvSpPr>
          <p:cNvPr id="30" name="Shape 26"/>
          <p:cNvSpPr/>
          <p:nvPr/>
        </p:nvSpPr>
        <p:spPr>
          <a:xfrm>
            <a:off x="640080" y="5486400"/>
            <a:ext cx="3108960" cy="685800"/>
          </a:xfrm>
          <a:prstGeom prst="roundRect">
            <a:avLst/>
          </a:prstGeom>
          <a:solidFill>
            <a:srgbClr val="0B1F44">
              <a:alpha val="75000"/>
            </a:srgbClr>
          </a:solidFill>
          <a:ln w="12700">
            <a:solidFill>
              <a:srgbClr val="0B1F44">
                <a:alpha val="0"/>
              </a:srgbClr>
            </a:solidFill>
            <a:prstDash val="solid"/>
          </a:ln>
        </p:spPr>
      </p:sp>
      <p:sp>
        <p:nvSpPr>
          <p:cNvPr id="31" name="Shape 27"/>
          <p:cNvSpPr/>
          <p:nvPr/>
        </p:nvSpPr>
        <p:spPr>
          <a:xfrm>
            <a:off x="822960" y="4572000"/>
            <a:ext cx="822960" cy="237744"/>
          </a:xfrm>
          <a:prstGeom prst="roundRect">
            <a:avLst>
              <a:gd name="adj" fmla="val 50000"/>
            </a:avLst>
          </a:prstGeom>
          <a:solidFill>
            <a:srgbClr val="FFFFFF"/>
          </a:solidFill>
          <a:ln w="12700">
            <a:solidFill>
              <a:srgbClr val="FFFFFF"/>
            </a:solidFill>
            <a:prstDash val="solid"/>
          </a:ln>
        </p:spPr>
      </p:sp>
      <p:sp>
        <p:nvSpPr>
          <p:cNvPr id="32" name="Text 28"/>
          <p:cNvSpPr txBox="1"/>
          <p:nvPr/>
        </p:nvSpPr>
        <p:spPr>
          <a:xfrm>
            <a:off x="822960" y="4572000"/>
            <a:ext cx="822960" cy="237744"/>
          </a:xfrm>
          <a:prstGeom prst="rect">
            <a:avLst/>
          </a:prstGeom>
          <a:noFill/>
          <a:ln/>
        </p:spPr>
        <p:txBody>
          <a:bodyPr wrap="square" lIns="0" tIns="0" rIns="0" bIns="0" rtlCol="0" anchor="ctr"/>
          <a:lstStyle/>
          <a:p>
            <a:pPr algn="ctr" indent="0" marL="0">
              <a:buNone/>
            </a:pPr>
            <a:r>
              <a:rPr lang="en-US" sz="800" b="1" dirty="0">
                <a:solidFill>
                  <a:srgbClr val="3182F6"/>
                </a:solidFill>
                <a:latin typeface="Malgun Gothic" pitchFamily="34" charset="0"/>
                <a:ea typeface="Malgun Gothic" pitchFamily="34" charset="-122"/>
                <a:cs typeface="Malgun Gothic" pitchFamily="34" charset="-120"/>
              </a:rPr>
              <a:t>체험부스</a:t>
            </a:r>
            <a:endParaRPr lang="en-US" sz="800" dirty="0"/>
          </a:p>
        </p:txBody>
      </p:sp>
      <p:sp>
        <p:nvSpPr>
          <p:cNvPr id="33" name="Text 29"/>
          <p:cNvSpPr txBox="1"/>
          <p:nvPr/>
        </p:nvSpPr>
        <p:spPr>
          <a:xfrm>
            <a:off x="822960" y="5550408"/>
            <a:ext cx="2743200" cy="292608"/>
          </a:xfrm>
          <a:prstGeom prst="rect">
            <a:avLst/>
          </a:prstGeom>
          <a:noFill/>
          <a:ln/>
        </p:spPr>
        <p:txBody>
          <a:bodyPr wrap="square" lIns="0" tIns="0" rIns="0" bIns="0" rtlCol="0" anchor="t"/>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위례신도시 상가 축제 체험부스 운영</a:t>
            </a:r>
            <a:endParaRPr lang="en-US" sz="1300" dirty="0"/>
          </a:p>
        </p:txBody>
      </p:sp>
      <p:sp>
        <p:nvSpPr>
          <p:cNvPr id="34" name="Text 30"/>
          <p:cNvSpPr txBox="1"/>
          <p:nvPr/>
        </p:nvSpPr>
        <p:spPr>
          <a:xfrm>
            <a:off x="822960" y="5843016"/>
            <a:ext cx="2743200" cy="228600"/>
          </a:xfrm>
          <a:prstGeom prst="rect">
            <a:avLst/>
          </a:prstGeom>
          <a:noFill/>
          <a:ln/>
        </p:spPr>
        <p:txBody>
          <a:bodyPr wrap="square" lIns="0" tIns="0" rIns="0" bIns="0" rtlCol="0" anchor="t"/>
          <a:lstStyle/>
          <a:p>
            <a:pPr indent="0" marL="0">
              <a:buNone/>
            </a:pPr>
            <a:r>
              <a:rPr lang="en-US" sz="900" dirty="0">
                <a:solidFill>
                  <a:srgbClr val="D6E4F8"/>
                </a:solidFill>
                <a:latin typeface="Malgun Gothic" pitchFamily="34" charset="0"/>
                <a:ea typeface="Malgun Gothic" pitchFamily="34" charset="-122"/>
                <a:cs typeface="Malgun Gothic" pitchFamily="34" charset="-120"/>
              </a:rPr>
              <a:t>경기 성남시</a:t>
            </a:r>
            <a:endParaRPr lang="en-US" sz="900" dirty="0"/>
          </a:p>
        </p:txBody>
      </p:sp>
      <p:sp>
        <p:nvSpPr>
          <p:cNvPr id="35" name="Shape 31"/>
          <p:cNvSpPr/>
          <p:nvPr/>
        </p:nvSpPr>
        <p:spPr>
          <a:xfrm>
            <a:off x="3977640" y="4389120"/>
            <a:ext cx="2402738" cy="1783080"/>
          </a:xfrm>
          <a:prstGeom prst="roundRect">
            <a:avLst>
              <a:gd name="adj" fmla="val 5128"/>
            </a:avLst>
          </a:prstGeom>
          <a:solidFill>
            <a:srgbClr val="FFFFFF"/>
          </a:solidFill>
          <a:ln w="12700">
            <a:solidFill>
              <a:srgbClr val="FFFFFF"/>
            </a:solidFill>
            <a:prstDash val="solid"/>
          </a:ln>
        </p:spPr>
      </p:sp>
      <p:sp>
        <p:nvSpPr>
          <p:cNvPr id="36" name="Text 32"/>
          <p:cNvSpPr txBox="1"/>
          <p:nvPr/>
        </p:nvSpPr>
        <p:spPr>
          <a:xfrm>
            <a:off x="4206240" y="4617720"/>
            <a:ext cx="1945538" cy="274320"/>
          </a:xfrm>
          <a:prstGeom prst="rect">
            <a:avLst/>
          </a:prstGeom>
          <a:noFill/>
          <a:ln/>
        </p:spPr>
        <p:txBody>
          <a:bodyPr wrap="square" lIns="0" tIns="0" rIns="0" bIns="0" rtlCol="0" anchor="t"/>
          <a:lstStyle/>
          <a:p>
            <a:pPr indent="0" marL="0">
              <a:buNone/>
            </a:pPr>
            <a:r>
              <a:rPr lang="en-US" sz="1000" b="1" dirty="0">
                <a:solidFill>
                  <a:srgbClr val="3182F6"/>
                </a:solidFill>
                <a:latin typeface="Malgun Gothic" pitchFamily="34" charset="0"/>
                <a:ea typeface="Malgun Gothic" pitchFamily="34" charset="-122"/>
                <a:cs typeface="Malgun Gothic" pitchFamily="34" charset="-120"/>
              </a:rPr>
              <a:t>기획 배경</a:t>
            </a:r>
            <a:endParaRPr lang="en-US" sz="1000" dirty="0"/>
          </a:p>
        </p:txBody>
      </p:sp>
      <p:sp>
        <p:nvSpPr>
          <p:cNvPr id="37" name="Text 33"/>
          <p:cNvSpPr txBox="1"/>
          <p:nvPr/>
        </p:nvSpPr>
        <p:spPr>
          <a:xfrm>
            <a:off x="4206240" y="4937760"/>
            <a:ext cx="1945538" cy="1097280"/>
          </a:xfrm>
          <a:prstGeom prst="rect">
            <a:avLst/>
          </a:prstGeom>
          <a:noFill/>
          <a:ln/>
        </p:spPr>
        <p:txBody>
          <a:bodyPr wrap="square" lIns="0" tIns="0" rIns="0" bIns="0" rtlCol="0" anchor="t"/>
          <a:lstStyle/>
          <a:p>
            <a:pPr indent="0" marL="0">
              <a:lnSpc>
                <a:spcPct val="125000"/>
              </a:lnSpc>
              <a:buNone/>
            </a:pPr>
            <a:r>
              <a:rPr lang="en-US" sz="1000" dirty="0">
                <a:solidFill>
                  <a:srgbClr val="475569"/>
                </a:solidFill>
                <a:latin typeface="Malgun Gothic" pitchFamily="34" charset="0"/>
                <a:ea typeface="Malgun Gothic" pitchFamily="34" charset="-122"/>
                <a:cs typeface="Malgun Gothic" pitchFamily="34" charset="-120"/>
              </a:rPr>
              <a:t>상가 축제에 가족 단위 방문객이 머무를 체험 콘텐츠가 필요했고, 재료·인력을 갖춘 체험부스 운영사를 찾던 주최 측이 의뢰했습니다.</a:t>
            </a:r>
            <a:endParaRPr lang="en-US" sz="1000" dirty="0"/>
          </a:p>
        </p:txBody>
      </p:sp>
      <p:sp>
        <p:nvSpPr>
          <p:cNvPr id="38" name="Shape 34"/>
          <p:cNvSpPr/>
          <p:nvPr/>
        </p:nvSpPr>
        <p:spPr>
          <a:xfrm>
            <a:off x="6563258" y="4389120"/>
            <a:ext cx="2402738" cy="1783080"/>
          </a:xfrm>
          <a:prstGeom prst="roundRect">
            <a:avLst>
              <a:gd name="adj" fmla="val 5128"/>
            </a:avLst>
          </a:prstGeom>
          <a:solidFill>
            <a:srgbClr val="FFFFFF"/>
          </a:solidFill>
          <a:ln w="12700">
            <a:solidFill>
              <a:srgbClr val="FFFFFF"/>
            </a:solidFill>
            <a:prstDash val="solid"/>
          </a:ln>
        </p:spPr>
      </p:sp>
      <p:sp>
        <p:nvSpPr>
          <p:cNvPr id="39" name="Text 35"/>
          <p:cNvSpPr txBox="1"/>
          <p:nvPr/>
        </p:nvSpPr>
        <p:spPr>
          <a:xfrm>
            <a:off x="6791858" y="4617720"/>
            <a:ext cx="1945538" cy="274320"/>
          </a:xfrm>
          <a:prstGeom prst="rect">
            <a:avLst/>
          </a:prstGeom>
          <a:noFill/>
          <a:ln/>
        </p:spPr>
        <p:txBody>
          <a:bodyPr wrap="square" lIns="0" tIns="0" rIns="0" bIns="0" rtlCol="0" anchor="t"/>
          <a:lstStyle/>
          <a:p>
            <a:pPr indent="0" marL="0">
              <a:buNone/>
            </a:pPr>
            <a:r>
              <a:rPr lang="en-US" sz="1000" b="1" dirty="0">
                <a:solidFill>
                  <a:srgbClr val="3182F6"/>
                </a:solidFill>
                <a:latin typeface="Malgun Gothic" pitchFamily="34" charset="0"/>
                <a:ea typeface="Malgun Gothic" pitchFamily="34" charset="-122"/>
                <a:cs typeface="Malgun Gothic" pitchFamily="34" charset="-120"/>
              </a:rPr>
              <a:t>운영 방식</a:t>
            </a:r>
            <a:endParaRPr lang="en-US" sz="1000" dirty="0"/>
          </a:p>
        </p:txBody>
      </p:sp>
      <p:sp>
        <p:nvSpPr>
          <p:cNvPr id="40" name="Text 36"/>
          <p:cNvSpPr txBox="1"/>
          <p:nvPr/>
        </p:nvSpPr>
        <p:spPr>
          <a:xfrm>
            <a:off x="6791858" y="4937760"/>
            <a:ext cx="1945538" cy="1097280"/>
          </a:xfrm>
          <a:prstGeom prst="rect">
            <a:avLst/>
          </a:prstGeom>
          <a:noFill/>
          <a:ln/>
        </p:spPr>
        <p:txBody>
          <a:bodyPr wrap="square" lIns="0" tIns="0" rIns="0" bIns="0" rtlCol="0" anchor="t"/>
          <a:lstStyle/>
          <a:p>
            <a:pPr indent="0" marL="0">
              <a:lnSpc>
                <a:spcPct val="125000"/>
              </a:lnSpc>
              <a:buNone/>
            </a:pPr>
            <a:r>
              <a:rPr lang="en-US" sz="1000" dirty="0">
                <a:solidFill>
                  <a:srgbClr val="475569"/>
                </a:solidFill>
                <a:latin typeface="Malgun Gothic" pitchFamily="34" charset="0"/>
                <a:ea typeface="Malgun Gothic" pitchFamily="34" charset="-122"/>
                <a:cs typeface="Malgun Gothic" pitchFamily="34" charset="-120"/>
              </a:rPr>
              <a:t>부스 5개 중 2개는 주최 측 무료 지원 부스, 3개는 무료 인원 종료 후 유료 전환 방식으로 운영했습니다. 전기가 필요한 슈링클스 키링 부스는 사전에 전원 위치를 조율했습니다.</a:t>
            </a:r>
            <a:endParaRPr lang="en-US" sz="1000" dirty="0"/>
          </a:p>
        </p:txBody>
      </p:sp>
      <p:sp>
        <p:nvSpPr>
          <p:cNvPr id="41" name="Shape 37"/>
          <p:cNvSpPr/>
          <p:nvPr/>
        </p:nvSpPr>
        <p:spPr>
          <a:xfrm>
            <a:off x="9148877" y="4389120"/>
            <a:ext cx="2402738" cy="1783080"/>
          </a:xfrm>
          <a:prstGeom prst="roundRect">
            <a:avLst>
              <a:gd name="adj" fmla="val 5128"/>
            </a:avLst>
          </a:prstGeom>
          <a:solidFill>
            <a:srgbClr val="FFFFFF"/>
          </a:solidFill>
          <a:ln w="12700">
            <a:solidFill>
              <a:srgbClr val="FFFFFF"/>
            </a:solidFill>
            <a:prstDash val="solid"/>
          </a:ln>
        </p:spPr>
      </p:sp>
      <p:sp>
        <p:nvSpPr>
          <p:cNvPr id="42" name="Text 38"/>
          <p:cNvSpPr txBox="1"/>
          <p:nvPr/>
        </p:nvSpPr>
        <p:spPr>
          <a:xfrm>
            <a:off x="9377477" y="4617720"/>
            <a:ext cx="1945538" cy="274320"/>
          </a:xfrm>
          <a:prstGeom prst="rect">
            <a:avLst/>
          </a:prstGeom>
          <a:noFill/>
          <a:ln/>
        </p:spPr>
        <p:txBody>
          <a:bodyPr wrap="square" lIns="0" tIns="0" rIns="0" bIns="0" rtlCol="0" anchor="t"/>
          <a:lstStyle/>
          <a:p>
            <a:pPr indent="0" marL="0">
              <a:buNone/>
            </a:pPr>
            <a:r>
              <a:rPr lang="en-US" sz="1000" b="1" dirty="0">
                <a:solidFill>
                  <a:srgbClr val="3182F6"/>
                </a:solidFill>
                <a:latin typeface="Malgun Gothic" pitchFamily="34" charset="0"/>
                <a:ea typeface="Malgun Gothic" pitchFamily="34" charset="-122"/>
                <a:cs typeface="Malgun Gothic" pitchFamily="34" charset="-120"/>
              </a:rPr>
              <a:t>성과</a:t>
            </a:r>
            <a:endParaRPr lang="en-US" sz="1000" dirty="0"/>
          </a:p>
        </p:txBody>
      </p:sp>
      <p:sp>
        <p:nvSpPr>
          <p:cNvPr id="43" name="Text 39"/>
          <p:cNvSpPr txBox="1"/>
          <p:nvPr/>
        </p:nvSpPr>
        <p:spPr>
          <a:xfrm>
            <a:off x="9377477" y="4937760"/>
            <a:ext cx="1945538" cy="1097280"/>
          </a:xfrm>
          <a:prstGeom prst="rect">
            <a:avLst/>
          </a:prstGeom>
          <a:noFill/>
          <a:ln/>
        </p:spPr>
        <p:txBody>
          <a:bodyPr wrap="square" lIns="0" tIns="0" rIns="0" bIns="0" rtlCol="0" anchor="t"/>
          <a:lstStyle/>
          <a:p>
            <a:pPr indent="0" marL="0">
              <a:lnSpc>
                <a:spcPct val="125000"/>
              </a:lnSpc>
              <a:buNone/>
            </a:pPr>
            <a:r>
              <a:rPr lang="en-US" sz="1000" dirty="0">
                <a:solidFill>
                  <a:srgbClr val="475569"/>
                </a:solidFill>
                <a:latin typeface="Malgun Gothic" pitchFamily="34" charset="0"/>
                <a:ea typeface="Malgun Gothic" pitchFamily="34" charset="-122"/>
                <a:cs typeface="Malgun Gothic" pitchFamily="34" charset="-120"/>
              </a:rPr>
              <a:t>무료 인원 소진 후 유료 전환으로 체험 판매 수익이 추가 발생하여 주최 측과 추가 정산을 마쳤습니다.</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F44"/>
        </a:solidFill>
      </p:bgPr>
    </p:bg>
    <p:spTree>
      <p:nvGrpSpPr>
        <p:cNvPr id="1" name=""/>
        <p:cNvGrpSpPr/>
        <p:nvPr/>
      </p:nvGrpSpPr>
      <p:grpSpPr>
        <a:xfrm>
          <a:off x="0" y="0"/>
          <a:ext cx="0" cy="0"/>
          <a:chOff x="0" y="0"/>
          <a:chExt cx="0" cy="0"/>
        </a:xfrm>
      </p:grpSpPr>
      <p:sp>
        <p:nvSpPr>
          <p:cNvPr id="2" name="Shape 0"/>
          <p:cNvSpPr/>
          <p:nvPr/>
        </p:nvSpPr>
        <p:spPr>
          <a:xfrm>
            <a:off x="9265615" y="-2377440"/>
            <a:ext cx="5120640" cy="5120640"/>
          </a:xfrm>
          <a:prstGeom prst="ellipse">
            <a:avLst/>
          </a:prstGeom>
          <a:solidFill>
            <a:srgbClr val="12305F"/>
          </a:solidFill>
          <a:ln w="12700">
            <a:solidFill>
              <a:srgbClr val="12305F"/>
            </a:solidFill>
            <a:prstDash val="solid"/>
          </a:ln>
        </p:spPr>
      </p:sp>
      <p:sp>
        <p:nvSpPr>
          <p:cNvPr id="3" name="Shape 1"/>
          <p:cNvSpPr/>
          <p:nvPr/>
        </p:nvSpPr>
        <p:spPr>
          <a:xfrm>
            <a:off x="-1645920" y="5029200"/>
            <a:ext cx="3657600" cy="3657600"/>
          </a:xfrm>
          <a:prstGeom prst="ellipse">
            <a:avLst/>
          </a:prstGeom>
          <a:solidFill>
            <a:srgbClr val="12305F"/>
          </a:solidFill>
          <a:ln w="12700">
            <a:solidFill>
              <a:srgbClr val="12305F"/>
            </a:solidFill>
            <a:prstDash val="solid"/>
          </a:ln>
        </p:spPr>
      </p:sp>
      <p:sp>
        <p:nvSpPr>
          <p:cNvPr id="4" name="Text 2"/>
          <p:cNvSpPr txBox="1"/>
          <p:nvPr/>
        </p:nvSpPr>
        <p:spPr>
          <a:xfrm>
            <a:off x="640080" y="384048"/>
            <a:ext cx="1155700" cy="266700"/>
          </a:xfrm>
          <a:prstGeom prst="rect">
            <a:avLst/>
          </a:prstGeom>
          <a:noFill/>
          <a:ln/>
        </p:spPr>
        <p:txBody>
          <a:bodyPr wrap="square" lIns="0" tIns="0" rIns="0" bIns="0" rtlCol="0" anchor="ctr"/>
          <a:lstStyle/>
          <a:p>
            <a:pPr indent="0" marL="0">
              <a:buNone/>
            </a:pPr>
            <a:r>
              <a:rPr lang="en-US" sz="1400" b="1" dirty="0">
                <a:solidFill>
                  <a:srgbClr val="3182F6"/>
                </a:solidFill>
                <a:latin typeface="Arial Black" pitchFamily="34" charset="0"/>
                <a:ea typeface="Arial Black" pitchFamily="34" charset="-122"/>
                <a:cs typeface="Arial Black" pitchFamily="34" charset="-120"/>
              </a:rPr>
              <a:t>Flit</a:t>
            </a:r>
            <a:pPr indent="0" marL="0">
              <a:buNone/>
            </a:pPr>
            <a:r>
              <a:rPr lang="en-US" sz="1400" b="1" dirty="0">
                <a:solidFill>
                  <a:srgbClr val="FFFFFF"/>
                </a:solidFill>
                <a:latin typeface="Arial Black" pitchFamily="34" charset="0"/>
                <a:ea typeface="Arial Black" pitchFamily="34" charset="-122"/>
                <a:cs typeface="Arial Black" pitchFamily="34" charset="-120"/>
              </a:rPr>
              <a:t>Union</a:t>
            </a:r>
            <a:endParaRPr lang="en-US" sz="1400" dirty="0"/>
          </a:p>
        </p:txBody>
      </p:sp>
      <p:sp>
        <p:nvSpPr>
          <p:cNvPr id="5" name="Text 3"/>
          <p:cNvSpPr txBox="1"/>
          <p:nvPr/>
        </p:nvSpPr>
        <p:spPr>
          <a:xfrm>
            <a:off x="640080" y="868680"/>
            <a:ext cx="5486400" cy="274320"/>
          </a:xfrm>
          <a:prstGeom prst="rect">
            <a:avLst/>
          </a:prstGeom>
          <a:noFill/>
          <a:ln/>
        </p:spPr>
        <p:txBody>
          <a:bodyPr wrap="square" lIns="0" tIns="0" rIns="0" bIns="0" rtlCol="0" anchor="t"/>
          <a:lstStyle/>
          <a:p>
            <a:pPr indent="0" marL="0">
              <a:buNone/>
            </a:pPr>
            <a:r>
              <a:rPr lang="en-US" sz="1100" b="1" spc="300" kern="0" dirty="0">
                <a:solidFill>
                  <a:srgbClr val="93C5FD"/>
                </a:solidFill>
                <a:latin typeface="Malgun Gothic" pitchFamily="34" charset="0"/>
                <a:ea typeface="Malgun Gothic" pitchFamily="34" charset="-122"/>
                <a:cs typeface="Malgun Gothic" pitchFamily="34" charset="-120"/>
              </a:rPr>
              <a:t>09  PARTNERS</a:t>
            </a:r>
            <a:endParaRPr lang="en-US" sz="1100" dirty="0"/>
          </a:p>
        </p:txBody>
      </p:sp>
      <p:sp>
        <p:nvSpPr>
          <p:cNvPr id="6" name="Text 4"/>
          <p:cNvSpPr txBox="1"/>
          <p:nvPr/>
        </p:nvSpPr>
        <p:spPr>
          <a:xfrm>
            <a:off x="640080" y="1143000"/>
            <a:ext cx="10911535" cy="594360"/>
          </a:xfrm>
          <a:prstGeom prst="rect">
            <a:avLst/>
          </a:prstGeom>
          <a:noFill/>
          <a:ln/>
        </p:spPr>
        <p:txBody>
          <a:bodyPr wrap="square" lIns="0" tIns="0" rIns="0" bIns="0" rtlCol="0" anchor="t"/>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협업 대상</a:t>
            </a:r>
            <a:endParaRPr lang="en-US" sz="2800" dirty="0"/>
          </a:p>
        </p:txBody>
      </p:sp>
      <p:sp>
        <p:nvSpPr>
          <p:cNvPr id="7" name="Text 5"/>
          <p:cNvSpPr txBox="1"/>
          <p:nvPr/>
        </p:nvSpPr>
        <p:spPr>
          <a:xfrm>
            <a:off x="640080" y="1737360"/>
            <a:ext cx="10911535" cy="411480"/>
          </a:xfrm>
          <a:prstGeom prst="rect">
            <a:avLst/>
          </a:prstGeom>
          <a:noFill/>
          <a:ln/>
        </p:spPr>
        <p:txBody>
          <a:bodyPr wrap="square" lIns="0" tIns="0" rIns="0" bIns="0" rtlCol="0" anchor="t"/>
          <a:lstStyle/>
          <a:p>
            <a:pPr indent="0" marL="0">
              <a:buNone/>
            </a:pPr>
            <a:r>
              <a:rPr lang="en-US" sz="1300" dirty="0">
                <a:solidFill>
                  <a:srgbClr val="D6E4F8"/>
                </a:solidFill>
                <a:latin typeface="Malgun Gothic" pitchFamily="34" charset="0"/>
                <a:ea typeface="Malgun Gothic" pitchFamily="34" charset="-122"/>
                <a:cs typeface="Malgun Gothic" pitchFamily="34" charset="-120"/>
              </a:rPr>
              <a:t>행사 수요를 가진 모든 기관·기업과 협업합니다.</a:t>
            </a:r>
            <a:endParaRPr lang="en-US" sz="1300" dirty="0"/>
          </a:p>
        </p:txBody>
      </p:sp>
      <p:sp>
        <p:nvSpPr>
          <p:cNvPr id="8" name="Text 6"/>
          <p:cNvSpPr txBox="1"/>
          <p:nvPr/>
        </p:nvSpPr>
        <p:spPr>
          <a:xfrm>
            <a:off x="640080" y="6400800"/>
            <a:ext cx="3657600" cy="228600"/>
          </a:xfrm>
          <a:prstGeom prst="rect">
            <a:avLst/>
          </a:prstGeom>
          <a:noFill/>
          <a:ln/>
        </p:spPr>
        <p:txBody>
          <a:bodyPr wrap="square" lIns="0" tIns="0" rIns="0" bIns="0" rtlCol="0" anchor="t"/>
          <a:lstStyle/>
          <a:p>
            <a:pPr indent="0" marL="0">
              <a:buNone/>
            </a:pPr>
            <a:r>
              <a:rPr lang="en-US" sz="900" dirty="0">
                <a:solidFill>
                  <a:srgbClr val="94A3B8"/>
                </a:solidFill>
                <a:latin typeface="Malgun Gothic" pitchFamily="34" charset="0"/>
                <a:ea typeface="Malgun Gothic" pitchFamily="34" charset="-122"/>
                <a:cs typeface="Malgun Gothic" pitchFamily="34" charset="-120"/>
              </a:rPr>
              <a:t>플릿 유니온 회사소개서</a:t>
            </a:r>
            <a:endParaRPr lang="en-US" sz="900" dirty="0"/>
          </a:p>
        </p:txBody>
      </p:sp>
      <p:sp>
        <p:nvSpPr>
          <p:cNvPr id="9" name="Text 7"/>
          <p:cNvSpPr txBox="1"/>
          <p:nvPr/>
        </p:nvSpPr>
        <p:spPr>
          <a:xfrm>
            <a:off x="10637215" y="6400800"/>
            <a:ext cx="914400" cy="228600"/>
          </a:xfrm>
          <a:prstGeom prst="rect">
            <a:avLst/>
          </a:prstGeom>
          <a:noFill/>
          <a:ln/>
        </p:spPr>
        <p:txBody>
          <a:bodyPr wrap="square" lIns="0" tIns="0" rIns="0" bIns="0" rtlCol="0" anchor="t"/>
          <a:lstStyle/>
          <a:p>
            <a:pPr algn="r" indent="0" marL="0">
              <a:buNone/>
            </a:pPr>
            <a:r>
              <a:rPr lang="en-US" sz="900" dirty="0">
                <a:solidFill>
                  <a:srgbClr val="94A3B8"/>
                </a:solidFill>
                <a:latin typeface="Malgun Gothic" pitchFamily="34" charset="0"/>
                <a:ea typeface="Malgun Gothic" pitchFamily="34" charset="-122"/>
                <a:cs typeface="Malgun Gothic" pitchFamily="34" charset="-120"/>
              </a:rPr>
              <a:t>19</a:t>
            </a:r>
            <a:endParaRPr lang="en-US" sz="900" dirty="0"/>
          </a:p>
        </p:txBody>
      </p:sp>
      <p:sp>
        <p:nvSpPr>
          <p:cNvPr id="10" name="Shape 8"/>
          <p:cNvSpPr/>
          <p:nvPr/>
        </p:nvSpPr>
        <p:spPr>
          <a:xfrm>
            <a:off x="640080" y="2423160"/>
            <a:ext cx="2021373" cy="2743200"/>
          </a:xfrm>
          <a:prstGeom prst="roundRect">
            <a:avLst>
              <a:gd name="adj" fmla="val 4524"/>
            </a:avLst>
          </a:prstGeom>
          <a:solidFill>
            <a:srgbClr val="FFFFFF"/>
          </a:solidFill>
          <a:ln w="12700">
            <a:solidFill>
              <a:srgbClr val="FFFFFF"/>
            </a:solidFill>
            <a:prstDash val="solid"/>
          </a:ln>
        </p:spPr>
      </p:sp>
      <p:sp>
        <p:nvSpPr>
          <p:cNvPr id="11" name="Shape 9"/>
          <p:cNvSpPr/>
          <p:nvPr/>
        </p:nvSpPr>
        <p:spPr>
          <a:xfrm>
            <a:off x="1330726" y="2743200"/>
            <a:ext cx="640080" cy="640080"/>
          </a:xfrm>
          <a:prstGeom prst="ellipse">
            <a:avLst/>
          </a:prstGeom>
          <a:solidFill>
            <a:srgbClr val="3182F6"/>
          </a:solidFill>
          <a:ln w="12700">
            <a:solidFill>
              <a:srgbClr val="3182F6"/>
            </a:solidFill>
            <a:prstDash val="solid"/>
          </a:ln>
        </p:spPr>
      </p:sp>
      <p:pic>
        <p:nvPicPr>
          <p:cNvPr id="12" name="Image 0" descr="preencoded.png">    </p:cNvPr>
          <p:cNvPicPr>
            <a:picLocks noChangeAspect="1"/>
          </p:cNvPicPr>
          <p:nvPr/>
        </p:nvPicPr>
        <p:blipFill>
          <a:blip r:embed="rId1"/>
          <a:stretch>
            <a:fillRect/>
          </a:stretch>
        </p:blipFill>
        <p:spPr>
          <a:xfrm>
            <a:off x="1490746" y="2903220"/>
            <a:ext cx="320040" cy="320040"/>
          </a:xfrm>
          <a:prstGeom prst="rect">
            <a:avLst/>
          </a:prstGeom>
        </p:spPr>
      </p:pic>
      <p:sp>
        <p:nvSpPr>
          <p:cNvPr id="13" name="Text 10"/>
          <p:cNvSpPr txBox="1"/>
          <p:nvPr/>
        </p:nvSpPr>
        <p:spPr>
          <a:xfrm>
            <a:off x="777240" y="3520440"/>
            <a:ext cx="1747053" cy="594360"/>
          </a:xfrm>
          <a:prstGeom prst="rect">
            <a:avLst/>
          </a:prstGeom>
          <a:noFill/>
          <a:ln/>
        </p:spPr>
        <p:txBody>
          <a:bodyPr wrap="square" lIns="0" tIns="0" rIns="0" bIns="0" rtlCol="0" anchor="t"/>
          <a:lstStyle/>
          <a:p>
            <a:pPr algn="ctr" indent="0" marL="0">
              <a:lnSpc>
                <a:spcPct val="115000"/>
              </a:lnSpc>
              <a:buNone/>
            </a:pPr>
            <a:r>
              <a:rPr lang="en-US" sz="1200" b="1" dirty="0">
                <a:solidFill>
                  <a:srgbClr val="0F172A"/>
                </a:solidFill>
                <a:latin typeface="Malgun Gothic" pitchFamily="34" charset="0"/>
                <a:ea typeface="Malgun Gothic" pitchFamily="34" charset="-122"/>
                <a:cs typeface="Malgun Gothic" pitchFamily="34" charset="-120"/>
              </a:rPr>
              <a:t>대학교·학생회</a:t>
            </a:r>
            <a:endParaRPr lang="en-US" sz="1200" dirty="0"/>
          </a:p>
        </p:txBody>
      </p:sp>
      <p:sp>
        <p:nvSpPr>
          <p:cNvPr id="14" name="Text 11"/>
          <p:cNvSpPr txBox="1"/>
          <p:nvPr/>
        </p:nvSpPr>
        <p:spPr>
          <a:xfrm>
            <a:off x="777240" y="4114800"/>
            <a:ext cx="1747053" cy="960120"/>
          </a:xfrm>
          <a:prstGeom prst="rect">
            <a:avLst/>
          </a:prstGeom>
          <a:noFill/>
          <a:ln/>
        </p:spPr>
        <p:txBody>
          <a:bodyPr wrap="square" lIns="0" tIns="0" rIns="0" bIns="0" rtlCol="0" anchor="t"/>
          <a:lstStyle/>
          <a:p>
            <a:pPr algn="ctr" indent="0" marL="0">
              <a:lnSpc>
                <a:spcPct val="120000"/>
              </a:lnSpc>
              <a:buNone/>
            </a:pPr>
            <a:r>
              <a:rPr lang="en-US" sz="900" dirty="0">
                <a:solidFill>
                  <a:srgbClr val="475569"/>
                </a:solidFill>
                <a:latin typeface="Malgun Gothic" pitchFamily="34" charset="0"/>
                <a:ea typeface="Malgun Gothic" pitchFamily="34" charset="-122"/>
                <a:cs typeface="Malgun Gothic" pitchFamily="34" charset="-120"/>
              </a:rPr>
              <a:t>축제 플리마켓, 캠퍼스 야시장, 학생 창업 셀러 연계 운영</a:t>
            </a:r>
            <a:endParaRPr lang="en-US" sz="900" dirty="0"/>
          </a:p>
        </p:txBody>
      </p:sp>
      <p:sp>
        <p:nvSpPr>
          <p:cNvPr id="15" name="Shape 12"/>
          <p:cNvSpPr/>
          <p:nvPr/>
        </p:nvSpPr>
        <p:spPr>
          <a:xfrm>
            <a:off x="2862621" y="2423160"/>
            <a:ext cx="2021373" cy="2743200"/>
          </a:xfrm>
          <a:prstGeom prst="roundRect">
            <a:avLst>
              <a:gd name="adj" fmla="val 4524"/>
            </a:avLst>
          </a:prstGeom>
          <a:solidFill>
            <a:srgbClr val="FFFFFF"/>
          </a:solidFill>
          <a:ln w="12700">
            <a:solidFill>
              <a:srgbClr val="FFFFFF"/>
            </a:solidFill>
            <a:prstDash val="solid"/>
          </a:ln>
        </p:spPr>
      </p:sp>
      <p:sp>
        <p:nvSpPr>
          <p:cNvPr id="16" name="Shape 13"/>
          <p:cNvSpPr/>
          <p:nvPr/>
        </p:nvSpPr>
        <p:spPr>
          <a:xfrm>
            <a:off x="3553267" y="2743200"/>
            <a:ext cx="640080" cy="640080"/>
          </a:xfrm>
          <a:prstGeom prst="ellipse">
            <a:avLst/>
          </a:prstGeom>
          <a:solidFill>
            <a:srgbClr val="3182F6"/>
          </a:solidFill>
          <a:ln w="12700">
            <a:solidFill>
              <a:srgbClr val="3182F6"/>
            </a:solidFill>
            <a:prstDash val="solid"/>
          </a:ln>
        </p:spPr>
      </p:sp>
      <p:pic>
        <p:nvPicPr>
          <p:cNvPr id="17" name="Image 1" descr="preencoded.png">    </p:cNvPr>
          <p:cNvPicPr>
            <a:picLocks noChangeAspect="1"/>
          </p:cNvPicPr>
          <p:nvPr/>
        </p:nvPicPr>
        <p:blipFill>
          <a:blip r:embed="rId2"/>
          <a:stretch>
            <a:fillRect/>
          </a:stretch>
        </p:blipFill>
        <p:spPr>
          <a:xfrm>
            <a:off x="3713287" y="2903220"/>
            <a:ext cx="320040" cy="320040"/>
          </a:xfrm>
          <a:prstGeom prst="rect">
            <a:avLst/>
          </a:prstGeom>
        </p:spPr>
      </p:pic>
      <p:sp>
        <p:nvSpPr>
          <p:cNvPr id="18" name="Text 14"/>
          <p:cNvSpPr txBox="1"/>
          <p:nvPr/>
        </p:nvSpPr>
        <p:spPr>
          <a:xfrm>
            <a:off x="2999781" y="3520440"/>
            <a:ext cx="1747053" cy="594360"/>
          </a:xfrm>
          <a:prstGeom prst="rect">
            <a:avLst/>
          </a:prstGeom>
          <a:noFill/>
          <a:ln/>
        </p:spPr>
        <p:txBody>
          <a:bodyPr wrap="square" lIns="0" tIns="0" rIns="0" bIns="0" rtlCol="0" anchor="t"/>
          <a:lstStyle/>
          <a:p>
            <a:pPr algn="ctr" indent="0" marL="0">
              <a:lnSpc>
                <a:spcPct val="115000"/>
              </a:lnSpc>
              <a:buNone/>
            </a:pPr>
            <a:r>
              <a:rPr lang="en-US" sz="1200" b="1" dirty="0">
                <a:solidFill>
                  <a:srgbClr val="0F172A"/>
                </a:solidFill>
                <a:latin typeface="Malgun Gothic" pitchFamily="34" charset="0"/>
                <a:ea typeface="Malgun Gothic" pitchFamily="34" charset="-122"/>
                <a:cs typeface="Malgun Gothic" pitchFamily="34" charset="-120"/>
              </a:rPr>
              <a:t>지자체·축제 주최 기관</a:t>
            </a:r>
            <a:endParaRPr lang="en-US" sz="1200" dirty="0"/>
          </a:p>
        </p:txBody>
      </p:sp>
      <p:sp>
        <p:nvSpPr>
          <p:cNvPr id="19" name="Text 15"/>
          <p:cNvSpPr txBox="1"/>
          <p:nvPr/>
        </p:nvSpPr>
        <p:spPr>
          <a:xfrm>
            <a:off x="2999781" y="4114800"/>
            <a:ext cx="1747053" cy="960120"/>
          </a:xfrm>
          <a:prstGeom prst="rect">
            <a:avLst/>
          </a:prstGeom>
          <a:noFill/>
          <a:ln/>
        </p:spPr>
        <p:txBody>
          <a:bodyPr wrap="square" lIns="0" tIns="0" rIns="0" bIns="0" rtlCol="0" anchor="t"/>
          <a:lstStyle/>
          <a:p>
            <a:pPr algn="ctr" indent="0" marL="0">
              <a:lnSpc>
                <a:spcPct val="120000"/>
              </a:lnSpc>
              <a:buNone/>
            </a:pPr>
            <a:r>
              <a:rPr lang="en-US" sz="900" dirty="0">
                <a:solidFill>
                  <a:srgbClr val="475569"/>
                </a:solidFill>
                <a:latin typeface="Malgun Gothic" pitchFamily="34" charset="0"/>
                <a:ea typeface="Malgun Gothic" pitchFamily="34" charset="-122"/>
                <a:cs typeface="Malgun Gothic" pitchFamily="34" charset="-120"/>
              </a:rPr>
              <a:t>대형 축제 부스 존 운영, 체험부스 존, 무대·공연 연출, 지역 특산물 셀러 구성, 장비 일괄 렌탈</a:t>
            </a:r>
            <a:endParaRPr lang="en-US" sz="900" dirty="0"/>
          </a:p>
        </p:txBody>
      </p:sp>
      <p:sp>
        <p:nvSpPr>
          <p:cNvPr id="20" name="Shape 16"/>
          <p:cNvSpPr/>
          <p:nvPr/>
        </p:nvSpPr>
        <p:spPr>
          <a:xfrm>
            <a:off x="5085161" y="2423160"/>
            <a:ext cx="2021373" cy="2743200"/>
          </a:xfrm>
          <a:prstGeom prst="roundRect">
            <a:avLst>
              <a:gd name="adj" fmla="val 4524"/>
            </a:avLst>
          </a:prstGeom>
          <a:solidFill>
            <a:srgbClr val="FFFFFF"/>
          </a:solidFill>
          <a:ln w="12700">
            <a:solidFill>
              <a:srgbClr val="FFFFFF"/>
            </a:solidFill>
            <a:prstDash val="solid"/>
          </a:ln>
        </p:spPr>
      </p:sp>
      <p:sp>
        <p:nvSpPr>
          <p:cNvPr id="21" name="Shape 17"/>
          <p:cNvSpPr/>
          <p:nvPr/>
        </p:nvSpPr>
        <p:spPr>
          <a:xfrm>
            <a:off x="5775808" y="2743200"/>
            <a:ext cx="640080" cy="640080"/>
          </a:xfrm>
          <a:prstGeom prst="ellipse">
            <a:avLst/>
          </a:prstGeom>
          <a:solidFill>
            <a:srgbClr val="3182F6"/>
          </a:solidFill>
          <a:ln w="12700">
            <a:solidFill>
              <a:srgbClr val="3182F6"/>
            </a:solidFill>
            <a:prstDash val="solid"/>
          </a:ln>
        </p:spPr>
      </p:sp>
      <p:pic>
        <p:nvPicPr>
          <p:cNvPr id="22" name="Image 2" descr="preencoded.png">    </p:cNvPr>
          <p:cNvPicPr>
            <a:picLocks noChangeAspect="1"/>
          </p:cNvPicPr>
          <p:nvPr/>
        </p:nvPicPr>
        <p:blipFill>
          <a:blip r:embed="rId3"/>
          <a:stretch>
            <a:fillRect/>
          </a:stretch>
        </p:blipFill>
        <p:spPr>
          <a:xfrm>
            <a:off x="5935828" y="2903220"/>
            <a:ext cx="320040" cy="320040"/>
          </a:xfrm>
          <a:prstGeom prst="rect">
            <a:avLst/>
          </a:prstGeom>
        </p:spPr>
      </p:pic>
      <p:sp>
        <p:nvSpPr>
          <p:cNvPr id="23" name="Text 18"/>
          <p:cNvSpPr txBox="1"/>
          <p:nvPr/>
        </p:nvSpPr>
        <p:spPr>
          <a:xfrm>
            <a:off x="5222321" y="3520440"/>
            <a:ext cx="1747053" cy="594360"/>
          </a:xfrm>
          <a:prstGeom prst="rect">
            <a:avLst/>
          </a:prstGeom>
          <a:noFill/>
          <a:ln/>
        </p:spPr>
        <p:txBody>
          <a:bodyPr wrap="square" lIns="0" tIns="0" rIns="0" bIns="0" rtlCol="0" anchor="t"/>
          <a:lstStyle/>
          <a:p>
            <a:pPr algn="ctr" indent="0" marL="0">
              <a:lnSpc>
                <a:spcPct val="115000"/>
              </a:lnSpc>
              <a:buNone/>
            </a:pPr>
            <a:r>
              <a:rPr lang="en-US" sz="1200" b="1" dirty="0">
                <a:solidFill>
                  <a:srgbClr val="0F172A"/>
                </a:solidFill>
                <a:latin typeface="Malgun Gothic" pitchFamily="34" charset="0"/>
                <a:ea typeface="Malgun Gothic" pitchFamily="34" charset="-122"/>
                <a:cs typeface="Malgun Gothic" pitchFamily="34" charset="-120"/>
              </a:rPr>
              <a:t>아파트 단지·입주자대표회의</a:t>
            </a:r>
            <a:endParaRPr lang="en-US" sz="1200" dirty="0"/>
          </a:p>
        </p:txBody>
      </p:sp>
      <p:sp>
        <p:nvSpPr>
          <p:cNvPr id="24" name="Text 19"/>
          <p:cNvSpPr txBox="1"/>
          <p:nvPr/>
        </p:nvSpPr>
        <p:spPr>
          <a:xfrm>
            <a:off x="5222321" y="4114800"/>
            <a:ext cx="1747053" cy="960120"/>
          </a:xfrm>
          <a:prstGeom prst="rect">
            <a:avLst/>
          </a:prstGeom>
          <a:noFill/>
          <a:ln/>
        </p:spPr>
        <p:txBody>
          <a:bodyPr wrap="square" lIns="0" tIns="0" rIns="0" bIns="0" rtlCol="0" anchor="t"/>
          <a:lstStyle/>
          <a:p>
            <a:pPr algn="ctr" indent="0" marL="0">
              <a:lnSpc>
                <a:spcPct val="120000"/>
              </a:lnSpc>
              <a:buNone/>
            </a:pPr>
            <a:r>
              <a:rPr lang="en-US" sz="900" dirty="0">
                <a:solidFill>
                  <a:srgbClr val="475569"/>
                </a:solidFill>
                <a:latin typeface="Malgun Gothic" pitchFamily="34" charset="0"/>
                <a:ea typeface="Malgun Gothic" pitchFamily="34" charset="-122"/>
                <a:cs typeface="Malgun Gothic" pitchFamily="34" charset="-120"/>
              </a:rPr>
              <a:t>주민 참여형 야시장, 어린이 체험부스, 커뮤니티 마켓, 정기 행사 전환</a:t>
            </a:r>
            <a:endParaRPr lang="en-US" sz="900" dirty="0"/>
          </a:p>
        </p:txBody>
      </p:sp>
      <p:sp>
        <p:nvSpPr>
          <p:cNvPr id="25" name="Shape 20"/>
          <p:cNvSpPr/>
          <p:nvPr/>
        </p:nvSpPr>
        <p:spPr>
          <a:xfrm>
            <a:off x="7307702" y="2423160"/>
            <a:ext cx="2021373" cy="2743200"/>
          </a:xfrm>
          <a:prstGeom prst="roundRect">
            <a:avLst>
              <a:gd name="adj" fmla="val 4524"/>
            </a:avLst>
          </a:prstGeom>
          <a:solidFill>
            <a:srgbClr val="FFFFFF"/>
          </a:solidFill>
          <a:ln w="12700">
            <a:solidFill>
              <a:srgbClr val="FFFFFF"/>
            </a:solidFill>
            <a:prstDash val="solid"/>
          </a:ln>
        </p:spPr>
      </p:sp>
      <p:sp>
        <p:nvSpPr>
          <p:cNvPr id="26" name="Shape 21"/>
          <p:cNvSpPr/>
          <p:nvPr/>
        </p:nvSpPr>
        <p:spPr>
          <a:xfrm>
            <a:off x="7998348" y="2743200"/>
            <a:ext cx="640080" cy="640080"/>
          </a:xfrm>
          <a:prstGeom prst="ellipse">
            <a:avLst/>
          </a:prstGeom>
          <a:solidFill>
            <a:srgbClr val="3182F6"/>
          </a:solidFill>
          <a:ln w="12700">
            <a:solidFill>
              <a:srgbClr val="3182F6"/>
            </a:solidFill>
            <a:prstDash val="solid"/>
          </a:ln>
        </p:spPr>
      </p:sp>
      <p:pic>
        <p:nvPicPr>
          <p:cNvPr id="27" name="Image 3" descr="preencoded.png">    </p:cNvPr>
          <p:cNvPicPr>
            <a:picLocks noChangeAspect="1"/>
          </p:cNvPicPr>
          <p:nvPr/>
        </p:nvPicPr>
        <p:blipFill>
          <a:blip r:embed="rId4"/>
          <a:stretch>
            <a:fillRect/>
          </a:stretch>
        </p:blipFill>
        <p:spPr>
          <a:xfrm>
            <a:off x="8158368" y="2903220"/>
            <a:ext cx="320040" cy="320040"/>
          </a:xfrm>
          <a:prstGeom prst="rect">
            <a:avLst/>
          </a:prstGeom>
        </p:spPr>
      </p:pic>
      <p:sp>
        <p:nvSpPr>
          <p:cNvPr id="28" name="Text 22"/>
          <p:cNvSpPr txBox="1"/>
          <p:nvPr/>
        </p:nvSpPr>
        <p:spPr>
          <a:xfrm>
            <a:off x="7444862" y="3520440"/>
            <a:ext cx="1747053" cy="594360"/>
          </a:xfrm>
          <a:prstGeom prst="rect">
            <a:avLst/>
          </a:prstGeom>
          <a:noFill/>
          <a:ln/>
        </p:spPr>
        <p:txBody>
          <a:bodyPr wrap="square" lIns="0" tIns="0" rIns="0" bIns="0" rtlCol="0" anchor="t"/>
          <a:lstStyle/>
          <a:p>
            <a:pPr algn="ctr" indent="0" marL="0">
              <a:lnSpc>
                <a:spcPct val="115000"/>
              </a:lnSpc>
              <a:buNone/>
            </a:pPr>
            <a:r>
              <a:rPr lang="en-US" sz="1200" b="1" dirty="0">
                <a:solidFill>
                  <a:srgbClr val="0F172A"/>
                </a:solidFill>
                <a:latin typeface="Malgun Gothic" pitchFamily="34" charset="0"/>
                <a:ea typeface="Malgun Gothic" pitchFamily="34" charset="-122"/>
                <a:cs typeface="Malgun Gothic" pitchFamily="34" charset="-120"/>
              </a:rPr>
              <a:t>기업·브랜드 행사</a:t>
            </a:r>
            <a:endParaRPr lang="en-US" sz="1200" dirty="0"/>
          </a:p>
        </p:txBody>
      </p:sp>
      <p:sp>
        <p:nvSpPr>
          <p:cNvPr id="29" name="Text 23"/>
          <p:cNvSpPr txBox="1"/>
          <p:nvPr/>
        </p:nvSpPr>
        <p:spPr>
          <a:xfrm>
            <a:off x="7444862" y="4114800"/>
            <a:ext cx="1747053" cy="960120"/>
          </a:xfrm>
          <a:prstGeom prst="rect">
            <a:avLst/>
          </a:prstGeom>
          <a:noFill/>
          <a:ln/>
        </p:spPr>
        <p:txBody>
          <a:bodyPr wrap="square" lIns="0" tIns="0" rIns="0" bIns="0" rtlCol="0" anchor="t"/>
          <a:lstStyle/>
          <a:p>
            <a:pPr algn="ctr" indent="0" marL="0">
              <a:lnSpc>
                <a:spcPct val="120000"/>
              </a:lnSpc>
              <a:buNone/>
            </a:pPr>
            <a:r>
              <a:rPr lang="en-US" sz="900" dirty="0">
                <a:solidFill>
                  <a:srgbClr val="475569"/>
                </a:solidFill>
                <a:latin typeface="Malgun Gothic" pitchFamily="34" charset="0"/>
                <a:ea typeface="Malgun Gothic" pitchFamily="34" charset="-122"/>
                <a:cs typeface="Malgun Gothic" pitchFamily="34" charset="-120"/>
              </a:rPr>
              <a:t>기업 행사 푸드트럭 섭외, 가족 행사 체험부스, 프로모션 마켓, 사내 행사 단독 섭외</a:t>
            </a:r>
            <a:endParaRPr lang="en-US" sz="900" dirty="0"/>
          </a:p>
        </p:txBody>
      </p:sp>
      <p:sp>
        <p:nvSpPr>
          <p:cNvPr id="30" name="Shape 24"/>
          <p:cNvSpPr/>
          <p:nvPr/>
        </p:nvSpPr>
        <p:spPr>
          <a:xfrm>
            <a:off x="9530243" y="2423160"/>
            <a:ext cx="2021373" cy="2743200"/>
          </a:xfrm>
          <a:prstGeom prst="roundRect">
            <a:avLst>
              <a:gd name="adj" fmla="val 4524"/>
            </a:avLst>
          </a:prstGeom>
          <a:solidFill>
            <a:srgbClr val="FFFFFF"/>
          </a:solidFill>
          <a:ln w="12700">
            <a:solidFill>
              <a:srgbClr val="FFFFFF"/>
            </a:solidFill>
            <a:prstDash val="solid"/>
          </a:ln>
        </p:spPr>
      </p:sp>
      <p:sp>
        <p:nvSpPr>
          <p:cNvPr id="31" name="Shape 25"/>
          <p:cNvSpPr/>
          <p:nvPr/>
        </p:nvSpPr>
        <p:spPr>
          <a:xfrm>
            <a:off x="10220889" y="2743200"/>
            <a:ext cx="640080" cy="640080"/>
          </a:xfrm>
          <a:prstGeom prst="ellipse">
            <a:avLst/>
          </a:prstGeom>
          <a:solidFill>
            <a:srgbClr val="3182F6"/>
          </a:solidFill>
          <a:ln w="12700">
            <a:solidFill>
              <a:srgbClr val="3182F6"/>
            </a:solidFill>
            <a:prstDash val="solid"/>
          </a:ln>
        </p:spPr>
      </p:sp>
      <p:pic>
        <p:nvPicPr>
          <p:cNvPr id="32" name="Image 4" descr="preencoded.png">    </p:cNvPr>
          <p:cNvPicPr>
            <a:picLocks noChangeAspect="1"/>
          </p:cNvPicPr>
          <p:nvPr/>
        </p:nvPicPr>
        <p:blipFill>
          <a:blip r:embed="rId5"/>
          <a:stretch>
            <a:fillRect/>
          </a:stretch>
        </p:blipFill>
        <p:spPr>
          <a:xfrm>
            <a:off x="10380909" y="2903220"/>
            <a:ext cx="320040" cy="320040"/>
          </a:xfrm>
          <a:prstGeom prst="rect">
            <a:avLst/>
          </a:prstGeom>
        </p:spPr>
      </p:pic>
      <p:sp>
        <p:nvSpPr>
          <p:cNvPr id="33" name="Text 26"/>
          <p:cNvSpPr txBox="1"/>
          <p:nvPr/>
        </p:nvSpPr>
        <p:spPr>
          <a:xfrm>
            <a:off x="9667403" y="3520440"/>
            <a:ext cx="1747053" cy="594360"/>
          </a:xfrm>
          <a:prstGeom prst="rect">
            <a:avLst/>
          </a:prstGeom>
          <a:noFill/>
          <a:ln/>
        </p:spPr>
        <p:txBody>
          <a:bodyPr wrap="square" lIns="0" tIns="0" rIns="0" bIns="0" rtlCol="0" anchor="t"/>
          <a:lstStyle/>
          <a:p>
            <a:pPr algn="ctr" indent="0" marL="0">
              <a:lnSpc>
                <a:spcPct val="115000"/>
              </a:lnSpc>
              <a:buNone/>
            </a:pPr>
            <a:r>
              <a:rPr lang="en-US" sz="1200" b="1" dirty="0">
                <a:solidFill>
                  <a:srgbClr val="0F172A"/>
                </a:solidFill>
                <a:latin typeface="Malgun Gothic" pitchFamily="34" charset="0"/>
                <a:ea typeface="Malgun Gothic" pitchFamily="34" charset="-122"/>
                <a:cs typeface="Malgun Gothic" pitchFamily="34" charset="-120"/>
              </a:rPr>
              <a:t>카페·건물주 · 유휴 공간</a:t>
            </a:r>
            <a:endParaRPr lang="en-US" sz="1200" dirty="0"/>
          </a:p>
        </p:txBody>
      </p:sp>
      <p:sp>
        <p:nvSpPr>
          <p:cNvPr id="34" name="Text 27"/>
          <p:cNvSpPr txBox="1"/>
          <p:nvPr/>
        </p:nvSpPr>
        <p:spPr>
          <a:xfrm>
            <a:off x="9667403" y="4114800"/>
            <a:ext cx="1747053" cy="960120"/>
          </a:xfrm>
          <a:prstGeom prst="rect">
            <a:avLst/>
          </a:prstGeom>
          <a:noFill/>
          <a:ln/>
        </p:spPr>
        <p:txBody>
          <a:bodyPr wrap="square" lIns="0" tIns="0" rIns="0" bIns="0" rtlCol="0" anchor="t"/>
          <a:lstStyle/>
          <a:p>
            <a:pPr algn="ctr" indent="0" marL="0">
              <a:lnSpc>
                <a:spcPct val="120000"/>
              </a:lnSpc>
              <a:buNone/>
            </a:pPr>
            <a:r>
              <a:rPr lang="en-US" sz="900" dirty="0">
                <a:solidFill>
                  <a:srgbClr val="475569"/>
                </a:solidFill>
                <a:latin typeface="Malgun Gothic" pitchFamily="34" charset="0"/>
                <a:ea typeface="Malgun Gothic" pitchFamily="34" charset="-122"/>
                <a:cs typeface="Malgun Gothic" pitchFamily="34" charset="-120"/>
              </a:rPr>
              <a:t>공간 분석 기반 정기 마켓 설계, 월 정기 운영 계약</a:t>
            </a:r>
            <a:endParaRPr lang="en-US" sz="900" dirty="0"/>
          </a:p>
        </p:txBody>
      </p:sp>
      <p:sp>
        <p:nvSpPr>
          <p:cNvPr id="35" name="Shape 28"/>
          <p:cNvSpPr/>
          <p:nvPr/>
        </p:nvSpPr>
        <p:spPr>
          <a:xfrm>
            <a:off x="640080" y="5440680"/>
            <a:ext cx="10911535" cy="777240"/>
          </a:xfrm>
          <a:prstGeom prst="roundRect">
            <a:avLst>
              <a:gd name="adj" fmla="val 11765"/>
            </a:avLst>
          </a:prstGeom>
          <a:solidFill>
            <a:srgbClr val="12305F"/>
          </a:solidFill>
          <a:ln w="12700">
            <a:solidFill>
              <a:srgbClr val="1F5FD0"/>
            </a:solidFill>
            <a:prstDash val="solid"/>
          </a:ln>
        </p:spPr>
      </p:sp>
      <p:sp>
        <p:nvSpPr>
          <p:cNvPr id="36" name="Text 29"/>
          <p:cNvSpPr txBox="1"/>
          <p:nvPr/>
        </p:nvSpPr>
        <p:spPr>
          <a:xfrm>
            <a:off x="1005840" y="5440680"/>
            <a:ext cx="10180015" cy="777240"/>
          </a:xfrm>
          <a:prstGeom prst="rect">
            <a:avLst/>
          </a:prstGeom>
          <a:noFill/>
          <a:ln/>
        </p:spPr>
        <p:txBody>
          <a:bodyPr wrap="square" lIns="0" tIns="0" rIns="0" bIns="0" rtlCol="0" anchor="ctr"/>
          <a:lstStyle/>
          <a:p>
            <a:pPr indent="0" marL="0">
              <a:buNone/>
            </a:pPr>
            <a:r>
              <a:rPr lang="en-US" sz="1100" b="1" dirty="0">
                <a:solidFill>
                  <a:srgbClr val="93C5FD"/>
                </a:solidFill>
                <a:latin typeface="Malgun Gothic" pitchFamily="34" charset="0"/>
                <a:ea typeface="Malgun Gothic" pitchFamily="34" charset="-122"/>
                <a:cs typeface="Malgun Gothic" pitchFamily="34" charset="-120"/>
              </a:rPr>
              <a:t>셀러 파트너  </a:t>
            </a:r>
            <a:pPr indent="0" marL="0">
              <a:buNone/>
            </a:pPr>
            <a:r>
              <a:rPr lang="en-US" sz="1100" dirty="0">
                <a:solidFill>
                  <a:srgbClr val="FFFFFF"/>
                </a:solidFill>
                <a:latin typeface="Malgun Gothic" pitchFamily="34" charset="0"/>
                <a:ea typeface="Malgun Gothic" pitchFamily="34" charset="-122"/>
                <a:cs typeface="Malgun Gothic" pitchFamily="34" charset="-120"/>
              </a:rPr>
              <a:t>플릿 유니온의 행사에 참여하고자 하는 셀러·푸드트럭은 플릿 플랫폼(app.flitunion.com)을 통해 상시 지원하실 수 있습니다.</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F44"/>
        </a:solidFill>
      </p:bgPr>
    </p:bg>
    <p:spTree>
      <p:nvGrpSpPr>
        <p:cNvPr id="1" name=""/>
        <p:cNvGrpSpPr/>
        <p:nvPr/>
      </p:nvGrpSpPr>
      <p:grpSpPr>
        <a:xfrm>
          <a:off x="0" y="0"/>
          <a:ext cx="0" cy="0"/>
          <a:chOff x="0" y="0"/>
          <a:chExt cx="0" cy="0"/>
        </a:xfrm>
      </p:grpSpPr>
      <p:sp>
        <p:nvSpPr>
          <p:cNvPr id="2" name="Shape 0"/>
          <p:cNvSpPr/>
          <p:nvPr/>
        </p:nvSpPr>
        <p:spPr>
          <a:xfrm>
            <a:off x="9265615" y="-2377440"/>
            <a:ext cx="5120640" cy="5120640"/>
          </a:xfrm>
          <a:prstGeom prst="ellipse">
            <a:avLst/>
          </a:prstGeom>
          <a:solidFill>
            <a:srgbClr val="12305F"/>
          </a:solidFill>
          <a:ln w="12700">
            <a:solidFill>
              <a:srgbClr val="12305F"/>
            </a:solidFill>
            <a:prstDash val="solid"/>
          </a:ln>
        </p:spPr>
      </p:sp>
      <p:sp>
        <p:nvSpPr>
          <p:cNvPr id="3" name="Shape 1"/>
          <p:cNvSpPr/>
          <p:nvPr/>
        </p:nvSpPr>
        <p:spPr>
          <a:xfrm>
            <a:off x="-1645920" y="5029200"/>
            <a:ext cx="3657600" cy="3657600"/>
          </a:xfrm>
          <a:prstGeom prst="ellipse">
            <a:avLst/>
          </a:prstGeom>
          <a:solidFill>
            <a:srgbClr val="12305F"/>
          </a:solidFill>
          <a:ln w="12700">
            <a:solidFill>
              <a:srgbClr val="12305F"/>
            </a:solidFill>
            <a:prstDash val="solid"/>
          </a:ln>
        </p:spPr>
      </p:sp>
      <p:sp>
        <p:nvSpPr>
          <p:cNvPr id="4" name="Text 2"/>
          <p:cNvSpPr txBox="1"/>
          <p:nvPr/>
        </p:nvSpPr>
        <p:spPr>
          <a:xfrm>
            <a:off x="640080" y="384048"/>
            <a:ext cx="1155700" cy="266700"/>
          </a:xfrm>
          <a:prstGeom prst="rect">
            <a:avLst/>
          </a:prstGeom>
          <a:noFill/>
          <a:ln/>
        </p:spPr>
        <p:txBody>
          <a:bodyPr wrap="square" lIns="0" tIns="0" rIns="0" bIns="0" rtlCol="0" anchor="ctr"/>
          <a:lstStyle/>
          <a:p>
            <a:pPr indent="0" marL="0">
              <a:buNone/>
            </a:pPr>
            <a:r>
              <a:rPr lang="en-US" sz="1400" b="1" dirty="0">
                <a:solidFill>
                  <a:srgbClr val="3182F6"/>
                </a:solidFill>
                <a:latin typeface="Arial Black" pitchFamily="34" charset="0"/>
                <a:ea typeface="Arial Black" pitchFamily="34" charset="-122"/>
                <a:cs typeface="Arial Black" pitchFamily="34" charset="-120"/>
              </a:rPr>
              <a:t>Flit</a:t>
            </a:r>
            <a:pPr indent="0" marL="0">
              <a:buNone/>
            </a:pPr>
            <a:r>
              <a:rPr lang="en-US" sz="1400" b="1" dirty="0">
                <a:solidFill>
                  <a:srgbClr val="FFFFFF"/>
                </a:solidFill>
                <a:latin typeface="Arial Black" pitchFamily="34" charset="0"/>
                <a:ea typeface="Arial Black" pitchFamily="34" charset="-122"/>
                <a:cs typeface="Arial Black" pitchFamily="34" charset="-120"/>
              </a:rPr>
              <a:t>Union</a:t>
            </a:r>
            <a:endParaRPr lang="en-US" sz="1400" dirty="0"/>
          </a:p>
        </p:txBody>
      </p:sp>
      <p:sp>
        <p:nvSpPr>
          <p:cNvPr id="5" name="Text 3"/>
          <p:cNvSpPr txBox="1"/>
          <p:nvPr/>
        </p:nvSpPr>
        <p:spPr>
          <a:xfrm>
            <a:off x="640080" y="868680"/>
            <a:ext cx="5486400" cy="274320"/>
          </a:xfrm>
          <a:prstGeom prst="rect">
            <a:avLst/>
          </a:prstGeom>
          <a:noFill/>
          <a:ln/>
        </p:spPr>
        <p:txBody>
          <a:bodyPr wrap="square" lIns="0" tIns="0" rIns="0" bIns="0" rtlCol="0" anchor="t"/>
          <a:lstStyle/>
          <a:p>
            <a:pPr indent="0" marL="0">
              <a:buNone/>
            </a:pPr>
            <a:r>
              <a:rPr lang="en-US" sz="1100" b="1" spc="300" kern="0" dirty="0">
                <a:solidFill>
                  <a:srgbClr val="93C5FD"/>
                </a:solidFill>
                <a:latin typeface="Malgun Gothic" pitchFamily="34" charset="0"/>
                <a:ea typeface="Malgun Gothic" pitchFamily="34" charset="-122"/>
                <a:cs typeface="Malgun Gothic" pitchFamily="34" charset="-120"/>
              </a:rPr>
              <a:t>09  PARTNERSHIP GUIDE</a:t>
            </a:r>
            <a:endParaRPr lang="en-US" sz="1100" dirty="0"/>
          </a:p>
        </p:txBody>
      </p:sp>
      <p:sp>
        <p:nvSpPr>
          <p:cNvPr id="6" name="Text 4"/>
          <p:cNvSpPr txBox="1"/>
          <p:nvPr/>
        </p:nvSpPr>
        <p:spPr>
          <a:xfrm>
            <a:off x="640080" y="1143000"/>
            <a:ext cx="10911535" cy="594360"/>
          </a:xfrm>
          <a:prstGeom prst="rect">
            <a:avLst/>
          </a:prstGeom>
          <a:noFill/>
          <a:ln/>
        </p:spPr>
        <p:txBody>
          <a:bodyPr wrap="square" lIns="0" tIns="0" rIns="0" bIns="0" rtlCol="0" anchor="t"/>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계약 및 운영 안내</a:t>
            </a:r>
            <a:endParaRPr lang="en-US" sz="2800" dirty="0"/>
          </a:p>
        </p:txBody>
      </p:sp>
      <p:sp>
        <p:nvSpPr>
          <p:cNvPr id="7" name="Text 5"/>
          <p:cNvSpPr txBox="1"/>
          <p:nvPr/>
        </p:nvSpPr>
        <p:spPr>
          <a:xfrm>
            <a:off x="640080" y="1737360"/>
            <a:ext cx="10911535" cy="411480"/>
          </a:xfrm>
          <a:prstGeom prst="rect">
            <a:avLst/>
          </a:prstGeom>
          <a:noFill/>
          <a:ln/>
        </p:spPr>
        <p:txBody>
          <a:bodyPr wrap="square" lIns="0" tIns="0" rIns="0" bIns="0" rtlCol="0" anchor="t"/>
          <a:lstStyle/>
          <a:p>
            <a:pPr indent="0" marL="0">
              <a:buNone/>
            </a:pPr>
            <a:r>
              <a:rPr lang="en-US" sz="1300" dirty="0">
                <a:solidFill>
                  <a:srgbClr val="D6E4F8"/>
                </a:solidFill>
                <a:latin typeface="Malgun Gothic" pitchFamily="34" charset="0"/>
                <a:ea typeface="Malgun Gothic" pitchFamily="34" charset="-122"/>
                <a:cs typeface="Malgun Gothic" pitchFamily="34" charset="-120"/>
              </a:rPr>
              <a:t>협업 시 기준이 되는 주요 조건을 안내드립니다.</a:t>
            </a:r>
            <a:endParaRPr lang="en-US" sz="1300" dirty="0"/>
          </a:p>
        </p:txBody>
      </p:sp>
      <p:sp>
        <p:nvSpPr>
          <p:cNvPr id="8" name="Text 6"/>
          <p:cNvSpPr txBox="1"/>
          <p:nvPr/>
        </p:nvSpPr>
        <p:spPr>
          <a:xfrm>
            <a:off x="640080" y="6400800"/>
            <a:ext cx="3657600" cy="228600"/>
          </a:xfrm>
          <a:prstGeom prst="rect">
            <a:avLst/>
          </a:prstGeom>
          <a:noFill/>
          <a:ln/>
        </p:spPr>
        <p:txBody>
          <a:bodyPr wrap="square" lIns="0" tIns="0" rIns="0" bIns="0" rtlCol="0" anchor="t"/>
          <a:lstStyle/>
          <a:p>
            <a:pPr indent="0" marL="0">
              <a:buNone/>
            </a:pPr>
            <a:r>
              <a:rPr lang="en-US" sz="900" dirty="0">
                <a:solidFill>
                  <a:srgbClr val="94A3B8"/>
                </a:solidFill>
                <a:latin typeface="Malgun Gothic" pitchFamily="34" charset="0"/>
                <a:ea typeface="Malgun Gothic" pitchFamily="34" charset="-122"/>
                <a:cs typeface="Malgun Gothic" pitchFamily="34" charset="-120"/>
              </a:rPr>
              <a:t>플릿 유니온 회사소개서</a:t>
            </a:r>
            <a:endParaRPr lang="en-US" sz="900" dirty="0"/>
          </a:p>
        </p:txBody>
      </p:sp>
      <p:sp>
        <p:nvSpPr>
          <p:cNvPr id="9" name="Text 7"/>
          <p:cNvSpPr txBox="1"/>
          <p:nvPr/>
        </p:nvSpPr>
        <p:spPr>
          <a:xfrm>
            <a:off x="10637215" y="6400800"/>
            <a:ext cx="914400" cy="228600"/>
          </a:xfrm>
          <a:prstGeom prst="rect">
            <a:avLst/>
          </a:prstGeom>
          <a:noFill/>
          <a:ln/>
        </p:spPr>
        <p:txBody>
          <a:bodyPr wrap="square" lIns="0" tIns="0" rIns="0" bIns="0" rtlCol="0" anchor="t"/>
          <a:lstStyle/>
          <a:p>
            <a:pPr algn="r" indent="0" marL="0">
              <a:buNone/>
            </a:pPr>
            <a:r>
              <a:rPr lang="en-US" sz="900" dirty="0">
                <a:solidFill>
                  <a:srgbClr val="94A3B8"/>
                </a:solidFill>
                <a:latin typeface="Malgun Gothic" pitchFamily="34" charset="0"/>
                <a:ea typeface="Malgun Gothic" pitchFamily="34" charset="-122"/>
                <a:cs typeface="Malgun Gothic" pitchFamily="34" charset="-120"/>
              </a:rPr>
              <a:t>20</a:t>
            </a:r>
            <a:endParaRPr lang="en-US" sz="900" dirty="0"/>
          </a:p>
        </p:txBody>
      </p:sp>
      <p:sp>
        <p:nvSpPr>
          <p:cNvPr id="10" name="Shape 8"/>
          <p:cNvSpPr/>
          <p:nvPr/>
        </p:nvSpPr>
        <p:spPr>
          <a:xfrm>
            <a:off x="640080" y="2377440"/>
            <a:ext cx="3484778" cy="1783080"/>
          </a:xfrm>
          <a:prstGeom prst="roundRect">
            <a:avLst>
              <a:gd name="adj" fmla="val 5128"/>
            </a:avLst>
          </a:prstGeom>
          <a:solidFill>
            <a:srgbClr val="FFFFFF"/>
          </a:solidFill>
          <a:ln w="12700">
            <a:solidFill>
              <a:srgbClr val="FFFFFF"/>
            </a:solidFill>
            <a:prstDash val="solid"/>
          </a:ln>
        </p:spPr>
      </p:sp>
      <p:sp>
        <p:nvSpPr>
          <p:cNvPr id="11" name="Shape 9"/>
          <p:cNvSpPr/>
          <p:nvPr/>
        </p:nvSpPr>
        <p:spPr>
          <a:xfrm>
            <a:off x="914400" y="2651760"/>
            <a:ext cx="502920" cy="502920"/>
          </a:xfrm>
          <a:prstGeom prst="ellipse">
            <a:avLst/>
          </a:prstGeom>
          <a:solidFill>
            <a:srgbClr val="3182F6"/>
          </a:solidFill>
          <a:ln w="12700">
            <a:solidFill>
              <a:srgbClr val="3182F6"/>
            </a:solidFill>
            <a:prstDash val="solid"/>
          </a:ln>
        </p:spPr>
      </p:sp>
      <p:pic>
        <p:nvPicPr>
          <p:cNvPr id="12" name="Image 0" descr="preencoded.png">    </p:cNvPr>
          <p:cNvPicPr>
            <a:picLocks noChangeAspect="1"/>
          </p:cNvPicPr>
          <p:nvPr/>
        </p:nvPicPr>
        <p:blipFill>
          <a:blip r:embed="rId1"/>
          <a:stretch>
            <a:fillRect/>
          </a:stretch>
        </p:blipFill>
        <p:spPr>
          <a:xfrm>
            <a:off x="1040130" y="2777490"/>
            <a:ext cx="251460" cy="251460"/>
          </a:xfrm>
          <a:prstGeom prst="rect">
            <a:avLst/>
          </a:prstGeom>
        </p:spPr>
      </p:pic>
      <p:sp>
        <p:nvSpPr>
          <p:cNvPr id="13" name="Text 10"/>
          <p:cNvSpPr txBox="1"/>
          <p:nvPr/>
        </p:nvSpPr>
        <p:spPr>
          <a:xfrm>
            <a:off x="1554480" y="2651760"/>
            <a:ext cx="2387498" cy="502920"/>
          </a:xfrm>
          <a:prstGeom prst="rect">
            <a:avLst/>
          </a:prstGeom>
          <a:noFill/>
          <a:ln/>
        </p:spPr>
        <p:txBody>
          <a:bodyPr wrap="square" lIns="0" tIns="0" rIns="0" bIns="0" rtlCol="0" anchor="ctr"/>
          <a:lstStyle/>
          <a:p>
            <a:pPr indent="0" marL="0">
              <a:buNone/>
            </a:pPr>
            <a:r>
              <a:rPr lang="en-US" sz="1300" b="1" dirty="0">
                <a:solidFill>
                  <a:srgbClr val="0F172A"/>
                </a:solidFill>
                <a:latin typeface="Malgun Gothic" pitchFamily="34" charset="0"/>
                <a:ea typeface="Malgun Gothic" pitchFamily="34" charset="-122"/>
                <a:cs typeface="Malgun Gothic" pitchFamily="34" charset="-120"/>
              </a:rPr>
              <a:t>수수료 구조</a:t>
            </a:r>
            <a:endParaRPr lang="en-US" sz="1300" dirty="0"/>
          </a:p>
        </p:txBody>
      </p:sp>
      <p:sp>
        <p:nvSpPr>
          <p:cNvPr id="14" name="Text 11"/>
          <p:cNvSpPr txBox="1"/>
          <p:nvPr/>
        </p:nvSpPr>
        <p:spPr>
          <a:xfrm>
            <a:off x="914400" y="3273552"/>
            <a:ext cx="2936138" cy="777240"/>
          </a:xfrm>
          <a:prstGeom prst="rect">
            <a:avLst/>
          </a:prstGeom>
          <a:noFill/>
          <a:ln/>
        </p:spPr>
        <p:txBody>
          <a:bodyPr wrap="square" lIns="0" tIns="0" rIns="0" bIns="0" rtlCol="0" anchor="t"/>
          <a:lstStyle/>
          <a:p>
            <a:pPr indent="0" marL="0">
              <a:lnSpc>
                <a:spcPct val="125000"/>
              </a:lnSpc>
              <a:buNone/>
            </a:pPr>
            <a:r>
              <a:rPr lang="en-US" sz="950" dirty="0">
                <a:solidFill>
                  <a:srgbClr val="475569"/>
                </a:solidFill>
                <a:latin typeface="Malgun Gothic" pitchFamily="34" charset="0"/>
                <a:ea typeface="Malgun Gothic" pitchFamily="34" charset="-122"/>
                <a:cs typeface="Malgun Gothic" pitchFamily="34" charset="-120"/>
              </a:rPr>
              <a:t>셀러 참가비의 일부를 수수료로 수취하는 수익 공유 구조가 기본입니다. 렌탈 장비, 푸드트럭 섭외 등 추가 서비스는 별도 견적으로 안내드립니다.</a:t>
            </a:r>
            <a:endParaRPr lang="en-US" sz="950" dirty="0"/>
          </a:p>
        </p:txBody>
      </p:sp>
      <p:sp>
        <p:nvSpPr>
          <p:cNvPr id="15" name="Shape 12"/>
          <p:cNvSpPr/>
          <p:nvPr/>
        </p:nvSpPr>
        <p:spPr>
          <a:xfrm>
            <a:off x="4353458" y="2377440"/>
            <a:ext cx="3484778" cy="1783080"/>
          </a:xfrm>
          <a:prstGeom prst="roundRect">
            <a:avLst>
              <a:gd name="adj" fmla="val 5128"/>
            </a:avLst>
          </a:prstGeom>
          <a:solidFill>
            <a:srgbClr val="FFFFFF"/>
          </a:solidFill>
          <a:ln w="12700">
            <a:solidFill>
              <a:srgbClr val="FFFFFF"/>
            </a:solidFill>
            <a:prstDash val="solid"/>
          </a:ln>
        </p:spPr>
      </p:sp>
      <p:sp>
        <p:nvSpPr>
          <p:cNvPr id="16" name="Shape 13"/>
          <p:cNvSpPr/>
          <p:nvPr/>
        </p:nvSpPr>
        <p:spPr>
          <a:xfrm>
            <a:off x="4627778" y="2651760"/>
            <a:ext cx="502920" cy="502920"/>
          </a:xfrm>
          <a:prstGeom prst="ellipse">
            <a:avLst/>
          </a:prstGeom>
          <a:solidFill>
            <a:srgbClr val="3182F6"/>
          </a:solidFill>
          <a:ln w="12700">
            <a:solidFill>
              <a:srgbClr val="3182F6"/>
            </a:solidFill>
            <a:prstDash val="solid"/>
          </a:ln>
        </p:spPr>
      </p:sp>
      <p:pic>
        <p:nvPicPr>
          <p:cNvPr id="17" name="Image 1" descr="preencoded.png">    </p:cNvPr>
          <p:cNvPicPr>
            <a:picLocks noChangeAspect="1"/>
          </p:cNvPicPr>
          <p:nvPr/>
        </p:nvPicPr>
        <p:blipFill>
          <a:blip r:embed="rId2"/>
          <a:stretch>
            <a:fillRect/>
          </a:stretch>
        </p:blipFill>
        <p:spPr>
          <a:xfrm>
            <a:off x="4753508" y="2777490"/>
            <a:ext cx="251460" cy="251460"/>
          </a:xfrm>
          <a:prstGeom prst="rect">
            <a:avLst/>
          </a:prstGeom>
        </p:spPr>
      </p:pic>
      <p:sp>
        <p:nvSpPr>
          <p:cNvPr id="18" name="Text 14"/>
          <p:cNvSpPr txBox="1"/>
          <p:nvPr/>
        </p:nvSpPr>
        <p:spPr>
          <a:xfrm>
            <a:off x="5267858" y="2651760"/>
            <a:ext cx="2387498" cy="502920"/>
          </a:xfrm>
          <a:prstGeom prst="rect">
            <a:avLst/>
          </a:prstGeom>
          <a:noFill/>
          <a:ln/>
        </p:spPr>
        <p:txBody>
          <a:bodyPr wrap="square" lIns="0" tIns="0" rIns="0" bIns="0" rtlCol="0" anchor="ctr"/>
          <a:lstStyle/>
          <a:p>
            <a:pPr indent="0" marL="0">
              <a:buNone/>
            </a:pPr>
            <a:r>
              <a:rPr lang="en-US" sz="1300" b="1" dirty="0">
                <a:solidFill>
                  <a:srgbClr val="0F172A"/>
                </a:solidFill>
                <a:latin typeface="Malgun Gothic" pitchFamily="34" charset="0"/>
                <a:ea typeface="Malgun Gothic" pitchFamily="34" charset="-122"/>
                <a:cs typeface="Malgun Gothic" pitchFamily="34" charset="-120"/>
              </a:rPr>
              <a:t>최소 운영 규모</a:t>
            </a:r>
            <a:endParaRPr lang="en-US" sz="1300" dirty="0"/>
          </a:p>
        </p:txBody>
      </p:sp>
      <p:sp>
        <p:nvSpPr>
          <p:cNvPr id="19" name="Text 15"/>
          <p:cNvSpPr txBox="1"/>
          <p:nvPr/>
        </p:nvSpPr>
        <p:spPr>
          <a:xfrm>
            <a:off x="4627778" y="3273552"/>
            <a:ext cx="2936138" cy="777240"/>
          </a:xfrm>
          <a:prstGeom prst="rect">
            <a:avLst/>
          </a:prstGeom>
          <a:noFill/>
          <a:ln/>
        </p:spPr>
        <p:txBody>
          <a:bodyPr wrap="square" lIns="0" tIns="0" rIns="0" bIns="0" rtlCol="0" anchor="t"/>
          <a:lstStyle/>
          <a:p>
            <a:pPr indent="0" marL="0">
              <a:lnSpc>
                <a:spcPct val="125000"/>
              </a:lnSpc>
              <a:buNone/>
            </a:pPr>
            <a:r>
              <a:rPr lang="en-US" sz="950" dirty="0">
                <a:solidFill>
                  <a:srgbClr val="475569"/>
                </a:solidFill>
                <a:latin typeface="Malgun Gothic" pitchFamily="34" charset="0"/>
                <a:ea typeface="Malgun Gothic" pitchFamily="34" charset="-122"/>
                <a:cs typeface="Malgun Gothic" pitchFamily="34" charset="-120"/>
              </a:rPr>
              <a:t>마켓·부스 운영 대행은 10개 부스 이상부터 진행합니다. 10개 미만 소규모 행사는 컨설팅 형태로 별도 안내드립니다.</a:t>
            </a:r>
            <a:endParaRPr lang="en-US" sz="950" dirty="0"/>
          </a:p>
        </p:txBody>
      </p:sp>
      <p:sp>
        <p:nvSpPr>
          <p:cNvPr id="20" name="Shape 16"/>
          <p:cNvSpPr/>
          <p:nvPr/>
        </p:nvSpPr>
        <p:spPr>
          <a:xfrm>
            <a:off x="8066837" y="2377440"/>
            <a:ext cx="3484778" cy="1783080"/>
          </a:xfrm>
          <a:prstGeom prst="roundRect">
            <a:avLst>
              <a:gd name="adj" fmla="val 5128"/>
            </a:avLst>
          </a:prstGeom>
          <a:solidFill>
            <a:srgbClr val="FFFFFF"/>
          </a:solidFill>
          <a:ln w="12700">
            <a:solidFill>
              <a:srgbClr val="FFFFFF"/>
            </a:solidFill>
            <a:prstDash val="solid"/>
          </a:ln>
        </p:spPr>
      </p:sp>
      <p:sp>
        <p:nvSpPr>
          <p:cNvPr id="21" name="Shape 17"/>
          <p:cNvSpPr/>
          <p:nvPr/>
        </p:nvSpPr>
        <p:spPr>
          <a:xfrm>
            <a:off x="8341157" y="2651760"/>
            <a:ext cx="502920" cy="502920"/>
          </a:xfrm>
          <a:prstGeom prst="ellipse">
            <a:avLst/>
          </a:prstGeom>
          <a:solidFill>
            <a:srgbClr val="3182F6"/>
          </a:solidFill>
          <a:ln w="12700">
            <a:solidFill>
              <a:srgbClr val="3182F6"/>
            </a:solidFill>
            <a:prstDash val="solid"/>
          </a:ln>
        </p:spPr>
      </p:sp>
      <p:pic>
        <p:nvPicPr>
          <p:cNvPr id="22" name="Image 2" descr="preencoded.png">    </p:cNvPr>
          <p:cNvPicPr>
            <a:picLocks noChangeAspect="1"/>
          </p:cNvPicPr>
          <p:nvPr/>
        </p:nvPicPr>
        <p:blipFill>
          <a:blip r:embed="rId3"/>
          <a:stretch>
            <a:fillRect/>
          </a:stretch>
        </p:blipFill>
        <p:spPr>
          <a:xfrm>
            <a:off x="8466887" y="2777490"/>
            <a:ext cx="251460" cy="251460"/>
          </a:xfrm>
          <a:prstGeom prst="rect">
            <a:avLst/>
          </a:prstGeom>
        </p:spPr>
      </p:pic>
      <p:sp>
        <p:nvSpPr>
          <p:cNvPr id="23" name="Text 18"/>
          <p:cNvSpPr txBox="1"/>
          <p:nvPr/>
        </p:nvSpPr>
        <p:spPr>
          <a:xfrm>
            <a:off x="8981237" y="2651760"/>
            <a:ext cx="2387498" cy="502920"/>
          </a:xfrm>
          <a:prstGeom prst="rect">
            <a:avLst/>
          </a:prstGeom>
          <a:noFill/>
          <a:ln/>
        </p:spPr>
        <p:txBody>
          <a:bodyPr wrap="square" lIns="0" tIns="0" rIns="0" bIns="0" rtlCol="0" anchor="ctr"/>
          <a:lstStyle/>
          <a:p>
            <a:pPr indent="0" marL="0">
              <a:buNone/>
            </a:pPr>
            <a:r>
              <a:rPr lang="en-US" sz="1300" b="1" dirty="0">
                <a:solidFill>
                  <a:srgbClr val="0F172A"/>
                </a:solidFill>
                <a:latin typeface="Malgun Gothic" pitchFamily="34" charset="0"/>
                <a:ea typeface="Malgun Gothic" pitchFamily="34" charset="-122"/>
                <a:cs typeface="Malgun Gothic" pitchFamily="34" charset="-120"/>
              </a:rPr>
              <a:t>준비 기간</a:t>
            </a:r>
            <a:endParaRPr lang="en-US" sz="1300" dirty="0"/>
          </a:p>
        </p:txBody>
      </p:sp>
      <p:sp>
        <p:nvSpPr>
          <p:cNvPr id="24" name="Text 19"/>
          <p:cNvSpPr txBox="1"/>
          <p:nvPr/>
        </p:nvSpPr>
        <p:spPr>
          <a:xfrm>
            <a:off x="8341157" y="3273552"/>
            <a:ext cx="2936138" cy="777240"/>
          </a:xfrm>
          <a:prstGeom prst="rect">
            <a:avLst/>
          </a:prstGeom>
          <a:noFill/>
          <a:ln/>
        </p:spPr>
        <p:txBody>
          <a:bodyPr wrap="square" lIns="0" tIns="0" rIns="0" bIns="0" rtlCol="0" anchor="t"/>
          <a:lstStyle/>
          <a:p>
            <a:pPr indent="0" marL="0">
              <a:lnSpc>
                <a:spcPct val="125000"/>
              </a:lnSpc>
              <a:buNone/>
            </a:pPr>
            <a:r>
              <a:rPr lang="en-US" sz="950" dirty="0">
                <a:solidFill>
                  <a:srgbClr val="475569"/>
                </a:solidFill>
                <a:latin typeface="Malgun Gothic" pitchFamily="34" charset="0"/>
                <a:ea typeface="Malgun Gothic" pitchFamily="34" charset="-122"/>
                <a:cs typeface="Malgun Gothic" pitchFamily="34" charset="-120"/>
              </a:rPr>
              <a:t>행사일 기준 최소 3주 전 의뢰를 권장합니다. 렌탈 견적은 48시간 이내, 긴급 렌탈은 당일 대응이 가능합니다.</a:t>
            </a:r>
            <a:endParaRPr lang="en-US" sz="950" dirty="0"/>
          </a:p>
        </p:txBody>
      </p:sp>
      <p:sp>
        <p:nvSpPr>
          <p:cNvPr id="25" name="Shape 20"/>
          <p:cNvSpPr/>
          <p:nvPr/>
        </p:nvSpPr>
        <p:spPr>
          <a:xfrm>
            <a:off x="640080" y="4389120"/>
            <a:ext cx="3484778" cy="1783080"/>
          </a:xfrm>
          <a:prstGeom prst="roundRect">
            <a:avLst>
              <a:gd name="adj" fmla="val 5128"/>
            </a:avLst>
          </a:prstGeom>
          <a:solidFill>
            <a:srgbClr val="FFFFFF"/>
          </a:solidFill>
          <a:ln w="12700">
            <a:solidFill>
              <a:srgbClr val="FFFFFF"/>
            </a:solidFill>
            <a:prstDash val="solid"/>
          </a:ln>
        </p:spPr>
      </p:sp>
      <p:sp>
        <p:nvSpPr>
          <p:cNvPr id="26" name="Shape 21"/>
          <p:cNvSpPr/>
          <p:nvPr/>
        </p:nvSpPr>
        <p:spPr>
          <a:xfrm>
            <a:off x="914400" y="4663440"/>
            <a:ext cx="502920" cy="502920"/>
          </a:xfrm>
          <a:prstGeom prst="ellipse">
            <a:avLst/>
          </a:prstGeom>
          <a:solidFill>
            <a:srgbClr val="3182F6"/>
          </a:solidFill>
          <a:ln w="12700">
            <a:solidFill>
              <a:srgbClr val="3182F6"/>
            </a:solidFill>
            <a:prstDash val="solid"/>
          </a:ln>
        </p:spPr>
      </p:sp>
      <p:pic>
        <p:nvPicPr>
          <p:cNvPr id="27" name="Image 3" descr="preencoded.png">    </p:cNvPr>
          <p:cNvPicPr>
            <a:picLocks noChangeAspect="1"/>
          </p:cNvPicPr>
          <p:nvPr/>
        </p:nvPicPr>
        <p:blipFill>
          <a:blip r:embed="rId4"/>
          <a:stretch>
            <a:fillRect/>
          </a:stretch>
        </p:blipFill>
        <p:spPr>
          <a:xfrm>
            <a:off x="1040130" y="4789170"/>
            <a:ext cx="251460" cy="251460"/>
          </a:xfrm>
          <a:prstGeom prst="rect">
            <a:avLst/>
          </a:prstGeom>
        </p:spPr>
      </p:pic>
      <p:sp>
        <p:nvSpPr>
          <p:cNvPr id="28" name="Text 22"/>
          <p:cNvSpPr txBox="1"/>
          <p:nvPr/>
        </p:nvSpPr>
        <p:spPr>
          <a:xfrm>
            <a:off x="1554480" y="4663440"/>
            <a:ext cx="2387498" cy="502920"/>
          </a:xfrm>
          <a:prstGeom prst="rect">
            <a:avLst/>
          </a:prstGeom>
          <a:noFill/>
          <a:ln/>
        </p:spPr>
        <p:txBody>
          <a:bodyPr wrap="square" lIns="0" tIns="0" rIns="0" bIns="0" rtlCol="0" anchor="ctr"/>
          <a:lstStyle/>
          <a:p>
            <a:pPr indent="0" marL="0">
              <a:buNone/>
            </a:pPr>
            <a:r>
              <a:rPr lang="en-US" sz="1300" b="1" dirty="0">
                <a:solidFill>
                  <a:srgbClr val="0F172A"/>
                </a:solidFill>
                <a:latin typeface="Malgun Gothic" pitchFamily="34" charset="0"/>
                <a:ea typeface="Malgun Gothic" pitchFamily="34" charset="-122"/>
                <a:cs typeface="Malgun Gothic" pitchFamily="34" charset="-120"/>
              </a:rPr>
              <a:t>서비스 지역</a:t>
            </a:r>
            <a:endParaRPr lang="en-US" sz="1300" dirty="0"/>
          </a:p>
        </p:txBody>
      </p:sp>
      <p:sp>
        <p:nvSpPr>
          <p:cNvPr id="29" name="Text 23"/>
          <p:cNvSpPr txBox="1"/>
          <p:nvPr/>
        </p:nvSpPr>
        <p:spPr>
          <a:xfrm>
            <a:off x="914400" y="5285232"/>
            <a:ext cx="2936138" cy="777240"/>
          </a:xfrm>
          <a:prstGeom prst="rect">
            <a:avLst/>
          </a:prstGeom>
          <a:noFill/>
          <a:ln/>
        </p:spPr>
        <p:txBody>
          <a:bodyPr wrap="square" lIns="0" tIns="0" rIns="0" bIns="0" rtlCol="0" anchor="t"/>
          <a:lstStyle/>
          <a:p>
            <a:pPr indent="0" marL="0">
              <a:lnSpc>
                <a:spcPct val="125000"/>
              </a:lnSpc>
              <a:buNone/>
            </a:pPr>
            <a:r>
              <a:rPr lang="en-US" sz="950" dirty="0">
                <a:solidFill>
                  <a:srgbClr val="475569"/>
                </a:solidFill>
                <a:latin typeface="Malgun Gothic" pitchFamily="34" charset="0"/>
                <a:ea typeface="Malgun Gothic" pitchFamily="34" charset="-122"/>
                <a:cs typeface="Malgun Gothic" pitchFamily="34" charset="-120"/>
              </a:rPr>
              <a:t>전국 어디서나 가능합니다. 광역시 및 지역 거점 도시는 원격 기획과 현지 파트너 운영 체계로 진행하며, 출장 비용은 견적에 투명하게 포함합니다.</a:t>
            </a:r>
            <a:endParaRPr lang="en-US" sz="950" dirty="0"/>
          </a:p>
        </p:txBody>
      </p:sp>
      <p:sp>
        <p:nvSpPr>
          <p:cNvPr id="30" name="Shape 24"/>
          <p:cNvSpPr/>
          <p:nvPr/>
        </p:nvSpPr>
        <p:spPr>
          <a:xfrm>
            <a:off x="4353458" y="4389120"/>
            <a:ext cx="3484778" cy="1783080"/>
          </a:xfrm>
          <a:prstGeom prst="roundRect">
            <a:avLst>
              <a:gd name="adj" fmla="val 5128"/>
            </a:avLst>
          </a:prstGeom>
          <a:solidFill>
            <a:srgbClr val="FFFFFF"/>
          </a:solidFill>
          <a:ln w="12700">
            <a:solidFill>
              <a:srgbClr val="FFFFFF"/>
            </a:solidFill>
            <a:prstDash val="solid"/>
          </a:ln>
        </p:spPr>
      </p:sp>
      <p:sp>
        <p:nvSpPr>
          <p:cNvPr id="31" name="Shape 25"/>
          <p:cNvSpPr/>
          <p:nvPr/>
        </p:nvSpPr>
        <p:spPr>
          <a:xfrm>
            <a:off x="4627778" y="4663440"/>
            <a:ext cx="502920" cy="502920"/>
          </a:xfrm>
          <a:prstGeom prst="ellipse">
            <a:avLst/>
          </a:prstGeom>
          <a:solidFill>
            <a:srgbClr val="3182F6"/>
          </a:solidFill>
          <a:ln w="12700">
            <a:solidFill>
              <a:srgbClr val="3182F6"/>
            </a:solidFill>
            <a:prstDash val="solid"/>
          </a:ln>
        </p:spPr>
      </p:sp>
      <p:pic>
        <p:nvPicPr>
          <p:cNvPr id="32" name="Image 4" descr="preencoded.png">    </p:cNvPr>
          <p:cNvPicPr>
            <a:picLocks noChangeAspect="1"/>
          </p:cNvPicPr>
          <p:nvPr/>
        </p:nvPicPr>
        <p:blipFill>
          <a:blip r:embed="rId5"/>
          <a:stretch>
            <a:fillRect/>
          </a:stretch>
        </p:blipFill>
        <p:spPr>
          <a:xfrm>
            <a:off x="4753508" y="4789170"/>
            <a:ext cx="251460" cy="251460"/>
          </a:xfrm>
          <a:prstGeom prst="rect">
            <a:avLst/>
          </a:prstGeom>
        </p:spPr>
      </p:pic>
      <p:sp>
        <p:nvSpPr>
          <p:cNvPr id="33" name="Text 26"/>
          <p:cNvSpPr txBox="1"/>
          <p:nvPr/>
        </p:nvSpPr>
        <p:spPr>
          <a:xfrm>
            <a:off x="5267858" y="4663440"/>
            <a:ext cx="2387498" cy="502920"/>
          </a:xfrm>
          <a:prstGeom prst="rect">
            <a:avLst/>
          </a:prstGeom>
          <a:noFill/>
          <a:ln/>
        </p:spPr>
        <p:txBody>
          <a:bodyPr wrap="square" lIns="0" tIns="0" rIns="0" bIns="0" rtlCol="0" anchor="ctr"/>
          <a:lstStyle/>
          <a:p>
            <a:pPr indent="0" marL="0">
              <a:buNone/>
            </a:pPr>
            <a:r>
              <a:rPr lang="en-US" sz="1300" b="1" dirty="0">
                <a:solidFill>
                  <a:srgbClr val="0F172A"/>
                </a:solidFill>
                <a:latin typeface="Malgun Gothic" pitchFamily="34" charset="0"/>
                <a:ea typeface="Malgun Gothic" pitchFamily="34" charset="-122"/>
                <a:cs typeface="Malgun Gothic" pitchFamily="34" charset="-120"/>
              </a:rPr>
              <a:t>참가비 수취 방식</a:t>
            </a:r>
            <a:endParaRPr lang="en-US" sz="1300" dirty="0"/>
          </a:p>
        </p:txBody>
      </p:sp>
      <p:sp>
        <p:nvSpPr>
          <p:cNvPr id="34" name="Text 27"/>
          <p:cNvSpPr txBox="1"/>
          <p:nvPr/>
        </p:nvSpPr>
        <p:spPr>
          <a:xfrm>
            <a:off x="4627778" y="5285232"/>
            <a:ext cx="2936138" cy="777240"/>
          </a:xfrm>
          <a:prstGeom prst="rect">
            <a:avLst/>
          </a:prstGeom>
          <a:noFill/>
          <a:ln/>
        </p:spPr>
        <p:txBody>
          <a:bodyPr wrap="square" lIns="0" tIns="0" rIns="0" bIns="0" rtlCol="0" anchor="t"/>
          <a:lstStyle/>
          <a:p>
            <a:pPr indent="0" marL="0">
              <a:lnSpc>
                <a:spcPct val="125000"/>
              </a:lnSpc>
              <a:buNone/>
            </a:pPr>
            <a:r>
              <a:rPr lang="en-US" sz="950" dirty="0">
                <a:solidFill>
                  <a:srgbClr val="475569"/>
                </a:solidFill>
                <a:latin typeface="Malgun Gothic" pitchFamily="34" charset="0"/>
                <a:ea typeface="Malgun Gothic" pitchFamily="34" charset="-122"/>
                <a:cs typeface="Malgun Gothic" pitchFamily="34" charset="-120"/>
              </a:rPr>
              <a:t>셀러 참가비는 의뢰인이 직접 수취하거나, 플릿 유니온이 대행 수취 후 정산하는 두 가지 방식 중 선택하실 수 있습니다.</a:t>
            </a:r>
            <a:endParaRPr lang="en-US" sz="950" dirty="0"/>
          </a:p>
        </p:txBody>
      </p:sp>
      <p:sp>
        <p:nvSpPr>
          <p:cNvPr id="35" name="Shape 28"/>
          <p:cNvSpPr/>
          <p:nvPr/>
        </p:nvSpPr>
        <p:spPr>
          <a:xfrm>
            <a:off x="8066837" y="4389120"/>
            <a:ext cx="3484778" cy="1783080"/>
          </a:xfrm>
          <a:prstGeom prst="roundRect">
            <a:avLst>
              <a:gd name="adj" fmla="val 5128"/>
            </a:avLst>
          </a:prstGeom>
          <a:solidFill>
            <a:srgbClr val="FFFFFF"/>
          </a:solidFill>
          <a:ln w="12700">
            <a:solidFill>
              <a:srgbClr val="FFFFFF"/>
            </a:solidFill>
            <a:prstDash val="solid"/>
          </a:ln>
        </p:spPr>
      </p:sp>
      <p:sp>
        <p:nvSpPr>
          <p:cNvPr id="36" name="Shape 29"/>
          <p:cNvSpPr/>
          <p:nvPr/>
        </p:nvSpPr>
        <p:spPr>
          <a:xfrm>
            <a:off x="8341157" y="4663440"/>
            <a:ext cx="502920" cy="502920"/>
          </a:xfrm>
          <a:prstGeom prst="ellipse">
            <a:avLst/>
          </a:prstGeom>
          <a:solidFill>
            <a:srgbClr val="3182F6"/>
          </a:solidFill>
          <a:ln w="12700">
            <a:solidFill>
              <a:srgbClr val="3182F6"/>
            </a:solidFill>
            <a:prstDash val="solid"/>
          </a:ln>
        </p:spPr>
      </p:sp>
      <p:pic>
        <p:nvPicPr>
          <p:cNvPr id="37" name="Image 5" descr="preencoded.png">    </p:cNvPr>
          <p:cNvPicPr>
            <a:picLocks noChangeAspect="1"/>
          </p:cNvPicPr>
          <p:nvPr/>
        </p:nvPicPr>
        <p:blipFill>
          <a:blip r:embed="rId6"/>
          <a:stretch>
            <a:fillRect/>
          </a:stretch>
        </p:blipFill>
        <p:spPr>
          <a:xfrm>
            <a:off x="8466887" y="4789170"/>
            <a:ext cx="251460" cy="251460"/>
          </a:xfrm>
          <a:prstGeom prst="rect">
            <a:avLst/>
          </a:prstGeom>
        </p:spPr>
      </p:pic>
      <p:sp>
        <p:nvSpPr>
          <p:cNvPr id="38" name="Text 30"/>
          <p:cNvSpPr txBox="1"/>
          <p:nvPr/>
        </p:nvSpPr>
        <p:spPr>
          <a:xfrm>
            <a:off x="8981237" y="4663440"/>
            <a:ext cx="2387498" cy="502920"/>
          </a:xfrm>
          <a:prstGeom prst="rect">
            <a:avLst/>
          </a:prstGeom>
          <a:noFill/>
          <a:ln/>
        </p:spPr>
        <p:txBody>
          <a:bodyPr wrap="square" lIns="0" tIns="0" rIns="0" bIns="0" rtlCol="0" anchor="ctr"/>
          <a:lstStyle/>
          <a:p>
            <a:pPr indent="0" marL="0">
              <a:buNone/>
            </a:pPr>
            <a:r>
              <a:rPr lang="en-US" sz="1300" b="1" dirty="0">
                <a:solidFill>
                  <a:srgbClr val="0F172A"/>
                </a:solidFill>
                <a:latin typeface="Malgun Gothic" pitchFamily="34" charset="0"/>
                <a:ea typeface="Malgun Gothic" pitchFamily="34" charset="-122"/>
                <a:cs typeface="Malgun Gothic" pitchFamily="34" charset="-120"/>
              </a:rPr>
              <a:t>취소 및 변경 규정</a:t>
            </a:r>
            <a:endParaRPr lang="en-US" sz="1300" dirty="0"/>
          </a:p>
        </p:txBody>
      </p:sp>
      <p:sp>
        <p:nvSpPr>
          <p:cNvPr id="39" name="Text 31"/>
          <p:cNvSpPr txBox="1"/>
          <p:nvPr/>
        </p:nvSpPr>
        <p:spPr>
          <a:xfrm>
            <a:off x="8341157" y="5285232"/>
            <a:ext cx="2936138" cy="777240"/>
          </a:xfrm>
          <a:prstGeom prst="rect">
            <a:avLst/>
          </a:prstGeom>
          <a:noFill/>
          <a:ln/>
        </p:spPr>
        <p:txBody>
          <a:bodyPr wrap="square" lIns="0" tIns="0" rIns="0" bIns="0" rtlCol="0" anchor="t"/>
          <a:lstStyle/>
          <a:p>
            <a:pPr indent="0" marL="0">
              <a:lnSpc>
                <a:spcPct val="125000"/>
              </a:lnSpc>
              <a:buNone/>
            </a:pPr>
            <a:r>
              <a:rPr lang="en-US" sz="950" dirty="0">
                <a:solidFill>
                  <a:srgbClr val="475569"/>
                </a:solidFill>
                <a:latin typeface="Malgun Gothic" pitchFamily="34" charset="0"/>
                <a:ea typeface="Malgun Gothic" pitchFamily="34" charset="-122"/>
                <a:cs typeface="Malgun Gothic" pitchFamily="34" charset="-120"/>
              </a:rPr>
              <a:t>행사일 4주 전 취소 시 계약금의 50%를 환불하며, 2주 전 취소 시 환불이 불가합니다. 셀러 모집 이전의 일정 변경은 1회 무료로 조정합니다.</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3182F6"/>
        </a:solidFill>
      </p:bgPr>
    </p:bg>
    <p:spTree>
      <p:nvGrpSpPr>
        <p:cNvPr id="1" name=""/>
        <p:cNvGrpSpPr/>
        <p:nvPr/>
      </p:nvGrpSpPr>
      <p:grpSpPr>
        <a:xfrm>
          <a:off x="0" y="0"/>
          <a:ext cx="0" cy="0"/>
          <a:chOff x="0" y="0"/>
          <a:chExt cx="0" cy="0"/>
        </a:xfrm>
      </p:grpSpPr>
      <p:sp>
        <p:nvSpPr>
          <p:cNvPr id="2" name="Shape 0"/>
          <p:cNvSpPr/>
          <p:nvPr/>
        </p:nvSpPr>
        <p:spPr>
          <a:xfrm>
            <a:off x="-2011680" y="-2194560"/>
            <a:ext cx="5852160" cy="5852160"/>
          </a:xfrm>
          <a:prstGeom prst="ellipse">
            <a:avLst/>
          </a:prstGeom>
          <a:solidFill>
            <a:srgbClr val="FFFFFF">
              <a:alpha val="10000"/>
            </a:srgbClr>
          </a:solidFill>
          <a:ln w="12700">
            <a:solidFill>
              <a:srgbClr val="FFFFFF">
                <a:alpha val="0"/>
              </a:srgbClr>
            </a:solidFill>
            <a:prstDash val="solid"/>
          </a:ln>
        </p:spPr>
      </p:sp>
      <p:sp>
        <p:nvSpPr>
          <p:cNvPr id="3" name="Shape 1"/>
          <p:cNvSpPr/>
          <p:nvPr/>
        </p:nvSpPr>
        <p:spPr>
          <a:xfrm>
            <a:off x="8778240" y="3840480"/>
            <a:ext cx="4937760" cy="4937760"/>
          </a:xfrm>
          <a:prstGeom prst="ellipse">
            <a:avLst/>
          </a:prstGeom>
          <a:solidFill>
            <a:srgbClr val="FFFFFF">
              <a:alpha val="12000"/>
            </a:srgbClr>
          </a:solidFill>
          <a:ln w="12700">
            <a:solidFill>
              <a:srgbClr val="FFFFFF">
                <a:alpha val="0"/>
              </a:srgbClr>
            </a:solidFill>
            <a:prstDash val="solid"/>
          </a:ln>
        </p:spPr>
      </p:sp>
      <p:sp>
        <p:nvSpPr>
          <p:cNvPr id="4" name="Text 2"/>
          <p:cNvSpPr txBox="1"/>
          <p:nvPr/>
        </p:nvSpPr>
        <p:spPr>
          <a:xfrm>
            <a:off x="640080" y="640080"/>
            <a:ext cx="1816100" cy="419100"/>
          </a:xfrm>
          <a:prstGeom prst="rect">
            <a:avLst/>
          </a:prstGeom>
          <a:noFill/>
          <a:ln/>
        </p:spPr>
        <p:txBody>
          <a:bodyPr wrap="square" lIns="0" tIns="0" rIns="0" bIns="0" rtlCol="0" anchor="ctr"/>
          <a:lstStyle/>
          <a:p>
            <a:pPr indent="0" marL="0">
              <a:buNone/>
            </a:pPr>
            <a:r>
              <a:rPr lang="en-US" sz="2200" b="1" dirty="0">
                <a:solidFill>
                  <a:srgbClr val="FFFFFF"/>
                </a:solidFill>
                <a:latin typeface="Arial Black" pitchFamily="34" charset="0"/>
                <a:ea typeface="Arial Black" pitchFamily="34" charset="-122"/>
                <a:cs typeface="Arial Black" pitchFamily="34" charset="-120"/>
              </a:rPr>
              <a:t>Flit</a:t>
            </a:r>
            <a:pPr indent="0" marL="0">
              <a:buNone/>
            </a:pPr>
            <a:r>
              <a:rPr lang="en-US" sz="2200" b="1" dirty="0">
                <a:solidFill>
                  <a:srgbClr val="0B1F44"/>
                </a:solidFill>
                <a:latin typeface="Arial Black" pitchFamily="34" charset="0"/>
                <a:ea typeface="Arial Black" pitchFamily="34" charset="-122"/>
                <a:cs typeface="Arial Black" pitchFamily="34" charset="-120"/>
              </a:rPr>
              <a:t>Union</a:t>
            </a:r>
            <a:endParaRPr lang="en-US" sz="2200" dirty="0"/>
          </a:p>
        </p:txBody>
      </p:sp>
      <p:sp>
        <p:nvSpPr>
          <p:cNvPr id="5" name="Text 3"/>
          <p:cNvSpPr txBox="1"/>
          <p:nvPr/>
        </p:nvSpPr>
        <p:spPr>
          <a:xfrm>
            <a:off x="640080" y="1828800"/>
            <a:ext cx="5486400" cy="274320"/>
          </a:xfrm>
          <a:prstGeom prst="rect">
            <a:avLst/>
          </a:prstGeom>
          <a:noFill/>
          <a:ln/>
        </p:spPr>
        <p:txBody>
          <a:bodyPr wrap="square" lIns="0" tIns="0" rIns="0" bIns="0" rtlCol="0" anchor="t"/>
          <a:lstStyle/>
          <a:p>
            <a:pPr indent="0" marL="0">
              <a:buNone/>
            </a:pPr>
            <a:r>
              <a:rPr lang="en-US" sz="1100" b="1" spc="300" kern="0" dirty="0">
                <a:solidFill>
                  <a:srgbClr val="D6E4F8"/>
                </a:solidFill>
                <a:latin typeface="Malgun Gothic" pitchFamily="34" charset="0"/>
                <a:ea typeface="Malgun Gothic" pitchFamily="34" charset="-122"/>
                <a:cs typeface="Malgun Gothic" pitchFamily="34" charset="-120"/>
              </a:rPr>
              <a:t>10  CONTACT</a:t>
            </a:r>
            <a:endParaRPr lang="en-US" sz="1100" dirty="0"/>
          </a:p>
        </p:txBody>
      </p:sp>
      <p:sp>
        <p:nvSpPr>
          <p:cNvPr id="6" name="Text 4"/>
          <p:cNvSpPr txBox="1"/>
          <p:nvPr/>
        </p:nvSpPr>
        <p:spPr>
          <a:xfrm>
            <a:off x="640080" y="2194560"/>
            <a:ext cx="6766560" cy="1463040"/>
          </a:xfrm>
          <a:prstGeom prst="rect">
            <a:avLst/>
          </a:prstGeom>
          <a:noFill/>
          <a:ln/>
        </p:spPr>
        <p:txBody>
          <a:bodyPr wrap="square" lIns="0" tIns="0" rIns="0" bIns="0" rtlCol="0" anchor="t"/>
          <a:lstStyle/>
          <a:p>
            <a:pPr indent="0" marL="0">
              <a:lnSpc>
                <a:spcPct val="120000"/>
              </a:lnSpc>
              <a:buNone/>
            </a:pPr>
            <a:r>
              <a:rPr lang="en-US" sz="3000" b="1" dirty="0">
                <a:solidFill>
                  <a:srgbClr val="FFFFFF"/>
                </a:solidFill>
                <a:latin typeface="Malgun Gothic" pitchFamily="34" charset="0"/>
                <a:ea typeface="Malgun Gothic" pitchFamily="34" charset="-122"/>
                <a:cs typeface="Malgun Gothic" pitchFamily="34" charset="-120"/>
              </a:rPr>
              <a:t>행사 준비의 전 과정을</a:t>
            </a:r>
            <a:endParaRPr lang="en-US" sz="3000" dirty="0"/>
          </a:p>
          <a:p>
            <a:pPr indent="0" marL="0">
              <a:lnSpc>
                <a:spcPct val="120000"/>
              </a:lnSpc>
              <a:buNone/>
            </a:pPr>
            <a:r>
              <a:rPr lang="en-US" sz="3000" b="1" dirty="0">
                <a:solidFill>
                  <a:srgbClr val="FFFFFF"/>
                </a:solidFill>
                <a:latin typeface="Malgun Gothic" pitchFamily="34" charset="0"/>
                <a:ea typeface="Malgun Gothic" pitchFamily="34" charset="-122"/>
                <a:cs typeface="Malgun Gothic" pitchFamily="34" charset="-120"/>
              </a:rPr>
              <a:t>플릿 유니온에 맡기시기 바랍니다.</a:t>
            </a:r>
            <a:endParaRPr lang="en-US" sz="3000" dirty="0"/>
          </a:p>
        </p:txBody>
      </p:sp>
      <p:sp>
        <p:nvSpPr>
          <p:cNvPr id="7" name="Text 5"/>
          <p:cNvSpPr txBox="1"/>
          <p:nvPr/>
        </p:nvSpPr>
        <p:spPr>
          <a:xfrm>
            <a:off x="640080" y="3886200"/>
            <a:ext cx="6583680" cy="457200"/>
          </a:xfrm>
          <a:prstGeom prst="rect">
            <a:avLst/>
          </a:prstGeom>
          <a:noFill/>
          <a:ln/>
        </p:spPr>
        <p:txBody>
          <a:bodyPr wrap="square" lIns="0" tIns="0" rIns="0" bIns="0" rtlCol="0" anchor="t"/>
          <a:lstStyle/>
          <a:p>
            <a:pPr indent="0" marL="0">
              <a:buNone/>
            </a:pPr>
            <a:r>
              <a:rPr lang="en-US" sz="1300" dirty="0">
                <a:solidFill>
                  <a:srgbClr val="D6E4F8"/>
                </a:solidFill>
                <a:latin typeface="Malgun Gothic" pitchFamily="34" charset="0"/>
                <a:ea typeface="Malgun Gothic" pitchFamily="34" charset="-122"/>
                <a:cs typeface="Malgun Gothic" pitchFamily="34" charset="-120"/>
              </a:rPr>
              <a:t>무료 상담을 통해 행사에 맞는 구성과 예상 비용을 48시간 이내에 제안해 드립니다.</a:t>
            </a:r>
            <a:endParaRPr lang="en-US" sz="1300" dirty="0"/>
          </a:p>
        </p:txBody>
      </p:sp>
      <p:sp>
        <p:nvSpPr>
          <p:cNvPr id="8" name="Shape 6"/>
          <p:cNvSpPr/>
          <p:nvPr/>
        </p:nvSpPr>
        <p:spPr>
          <a:xfrm>
            <a:off x="7680960" y="1417320"/>
            <a:ext cx="3870655" cy="4389120"/>
          </a:xfrm>
          <a:prstGeom prst="roundRect">
            <a:avLst>
              <a:gd name="adj" fmla="val 2362"/>
            </a:avLst>
          </a:prstGeom>
          <a:solidFill>
            <a:srgbClr val="FFFFFF"/>
          </a:solidFill>
          <a:ln w="12700">
            <a:solidFill>
              <a:srgbClr val="FFFFFF"/>
            </a:solidFill>
            <a:prstDash val="solid"/>
          </a:ln>
        </p:spPr>
      </p:sp>
      <p:sp>
        <p:nvSpPr>
          <p:cNvPr id="9" name="Shape 7"/>
          <p:cNvSpPr/>
          <p:nvPr/>
        </p:nvSpPr>
        <p:spPr>
          <a:xfrm>
            <a:off x="8001000" y="1764792"/>
            <a:ext cx="502920" cy="502920"/>
          </a:xfrm>
          <a:prstGeom prst="ellipse">
            <a:avLst/>
          </a:prstGeom>
          <a:solidFill>
            <a:srgbClr val="EAF2FF"/>
          </a:solidFill>
          <a:ln w="12700">
            <a:solidFill>
              <a:srgbClr val="EAF2FF"/>
            </a:solidFill>
            <a:prstDash val="solid"/>
          </a:ln>
        </p:spPr>
      </p:sp>
      <p:pic>
        <p:nvPicPr>
          <p:cNvPr id="10" name="Image 0" descr="preencoded.png">    </p:cNvPr>
          <p:cNvPicPr>
            <a:picLocks noChangeAspect="1"/>
          </p:cNvPicPr>
          <p:nvPr/>
        </p:nvPicPr>
        <p:blipFill>
          <a:blip r:embed="rId1"/>
          <a:stretch>
            <a:fillRect/>
          </a:stretch>
        </p:blipFill>
        <p:spPr>
          <a:xfrm>
            <a:off x="8126730" y="1890522"/>
            <a:ext cx="251460" cy="251460"/>
          </a:xfrm>
          <a:prstGeom prst="rect">
            <a:avLst/>
          </a:prstGeom>
        </p:spPr>
      </p:pic>
      <p:sp>
        <p:nvSpPr>
          <p:cNvPr id="11" name="Text 8"/>
          <p:cNvSpPr txBox="1"/>
          <p:nvPr/>
        </p:nvSpPr>
        <p:spPr>
          <a:xfrm>
            <a:off x="8686800" y="1719072"/>
            <a:ext cx="2681935" cy="256032"/>
          </a:xfrm>
          <a:prstGeom prst="rect">
            <a:avLst/>
          </a:prstGeom>
          <a:noFill/>
          <a:ln/>
        </p:spPr>
        <p:txBody>
          <a:bodyPr wrap="square" lIns="0" tIns="0" rIns="0" bIns="0" rtlCol="0" anchor="t"/>
          <a:lstStyle/>
          <a:p>
            <a:pPr indent="0" marL="0">
              <a:buNone/>
            </a:pPr>
            <a:r>
              <a:rPr lang="en-US" sz="950" dirty="0">
                <a:solidFill>
                  <a:srgbClr val="94A3B8"/>
                </a:solidFill>
                <a:latin typeface="Malgun Gothic" pitchFamily="34" charset="0"/>
                <a:ea typeface="Malgun Gothic" pitchFamily="34" charset="-122"/>
                <a:cs typeface="Malgun Gothic" pitchFamily="34" charset="-120"/>
              </a:rPr>
              <a:t>홈페이지</a:t>
            </a:r>
            <a:endParaRPr lang="en-US" sz="950" dirty="0"/>
          </a:p>
        </p:txBody>
      </p:sp>
      <p:sp>
        <p:nvSpPr>
          <p:cNvPr id="12" name="Text 9"/>
          <p:cNvSpPr txBox="1"/>
          <p:nvPr/>
        </p:nvSpPr>
        <p:spPr>
          <a:xfrm>
            <a:off x="8686800" y="1975104"/>
            <a:ext cx="2681935" cy="320040"/>
          </a:xfrm>
          <a:prstGeom prst="rect">
            <a:avLst/>
          </a:prstGeom>
          <a:noFill/>
          <a:ln/>
        </p:spPr>
        <p:txBody>
          <a:bodyPr wrap="square" lIns="0" tIns="0" rIns="0" bIns="0" rtlCol="0" anchor="t"/>
          <a:lstStyle/>
          <a:p>
            <a:pPr indent="0" marL="0">
              <a:buNone/>
            </a:pPr>
            <a:r>
              <a:rPr lang="en-US" sz="1300" b="1" dirty="0">
                <a:solidFill>
                  <a:srgbClr val="0F172A"/>
                </a:solidFill>
                <a:latin typeface="Malgun Gothic" pitchFamily="34" charset="0"/>
                <a:ea typeface="Malgun Gothic" pitchFamily="34" charset="-122"/>
                <a:cs typeface="Malgun Gothic" pitchFamily="34" charset="-120"/>
              </a:rPr>
              <a:t>www.flitunion.com</a:t>
            </a:r>
            <a:endParaRPr lang="en-US" sz="1300" dirty="0"/>
          </a:p>
        </p:txBody>
      </p:sp>
      <p:sp>
        <p:nvSpPr>
          <p:cNvPr id="13" name="Shape 10"/>
          <p:cNvSpPr/>
          <p:nvPr/>
        </p:nvSpPr>
        <p:spPr>
          <a:xfrm>
            <a:off x="8001000" y="2551176"/>
            <a:ext cx="502920" cy="502920"/>
          </a:xfrm>
          <a:prstGeom prst="ellipse">
            <a:avLst/>
          </a:prstGeom>
          <a:solidFill>
            <a:srgbClr val="EAF2FF"/>
          </a:solidFill>
          <a:ln w="12700">
            <a:solidFill>
              <a:srgbClr val="EAF2FF"/>
            </a:solidFill>
            <a:prstDash val="solid"/>
          </a:ln>
        </p:spPr>
      </p:sp>
      <p:pic>
        <p:nvPicPr>
          <p:cNvPr id="14" name="Image 1" descr="preencoded.png">    </p:cNvPr>
          <p:cNvPicPr>
            <a:picLocks noChangeAspect="1"/>
          </p:cNvPicPr>
          <p:nvPr/>
        </p:nvPicPr>
        <p:blipFill>
          <a:blip r:embed="rId2"/>
          <a:stretch>
            <a:fillRect/>
          </a:stretch>
        </p:blipFill>
        <p:spPr>
          <a:xfrm>
            <a:off x="8126730" y="2676906"/>
            <a:ext cx="251460" cy="251460"/>
          </a:xfrm>
          <a:prstGeom prst="rect">
            <a:avLst/>
          </a:prstGeom>
        </p:spPr>
      </p:pic>
      <p:sp>
        <p:nvSpPr>
          <p:cNvPr id="15" name="Text 11"/>
          <p:cNvSpPr txBox="1"/>
          <p:nvPr/>
        </p:nvSpPr>
        <p:spPr>
          <a:xfrm>
            <a:off x="8686800" y="2505456"/>
            <a:ext cx="2681935" cy="256032"/>
          </a:xfrm>
          <a:prstGeom prst="rect">
            <a:avLst/>
          </a:prstGeom>
          <a:noFill/>
          <a:ln/>
        </p:spPr>
        <p:txBody>
          <a:bodyPr wrap="square" lIns="0" tIns="0" rIns="0" bIns="0" rtlCol="0" anchor="t"/>
          <a:lstStyle/>
          <a:p>
            <a:pPr indent="0" marL="0">
              <a:buNone/>
            </a:pPr>
            <a:r>
              <a:rPr lang="en-US" sz="950" dirty="0">
                <a:solidFill>
                  <a:srgbClr val="94A3B8"/>
                </a:solidFill>
                <a:latin typeface="Malgun Gothic" pitchFamily="34" charset="0"/>
                <a:ea typeface="Malgun Gothic" pitchFamily="34" charset="-122"/>
                <a:cs typeface="Malgun Gothic" pitchFamily="34" charset="-120"/>
              </a:rPr>
              <a:t>이메일</a:t>
            </a:r>
            <a:endParaRPr lang="en-US" sz="950" dirty="0"/>
          </a:p>
        </p:txBody>
      </p:sp>
      <p:sp>
        <p:nvSpPr>
          <p:cNvPr id="16" name="Text 12"/>
          <p:cNvSpPr txBox="1"/>
          <p:nvPr/>
        </p:nvSpPr>
        <p:spPr>
          <a:xfrm>
            <a:off x="8686800" y="2761488"/>
            <a:ext cx="2681935" cy="320040"/>
          </a:xfrm>
          <a:prstGeom prst="rect">
            <a:avLst/>
          </a:prstGeom>
          <a:noFill/>
          <a:ln/>
        </p:spPr>
        <p:txBody>
          <a:bodyPr wrap="square" lIns="0" tIns="0" rIns="0" bIns="0" rtlCol="0" anchor="t"/>
          <a:lstStyle/>
          <a:p>
            <a:pPr indent="0" marL="0">
              <a:buNone/>
            </a:pPr>
            <a:r>
              <a:rPr lang="en-US" sz="1300" b="1" dirty="0">
                <a:solidFill>
                  <a:srgbClr val="0F172A"/>
                </a:solidFill>
                <a:latin typeface="Malgun Gothic" pitchFamily="34" charset="0"/>
                <a:ea typeface="Malgun Gothic" pitchFamily="34" charset="-122"/>
                <a:cs typeface="Malgun Gothic" pitchFamily="34" charset="-120"/>
              </a:rPr>
              <a:t>hello@flitunion.com</a:t>
            </a:r>
            <a:endParaRPr lang="en-US" sz="1300" dirty="0"/>
          </a:p>
        </p:txBody>
      </p:sp>
      <p:sp>
        <p:nvSpPr>
          <p:cNvPr id="17" name="Shape 13"/>
          <p:cNvSpPr/>
          <p:nvPr/>
        </p:nvSpPr>
        <p:spPr>
          <a:xfrm>
            <a:off x="8001000" y="3337560"/>
            <a:ext cx="502920" cy="502920"/>
          </a:xfrm>
          <a:prstGeom prst="ellipse">
            <a:avLst/>
          </a:prstGeom>
          <a:solidFill>
            <a:srgbClr val="EAF2FF"/>
          </a:solidFill>
          <a:ln w="12700">
            <a:solidFill>
              <a:srgbClr val="EAF2FF"/>
            </a:solidFill>
            <a:prstDash val="solid"/>
          </a:ln>
        </p:spPr>
      </p:sp>
      <p:pic>
        <p:nvPicPr>
          <p:cNvPr id="18" name="Image 2" descr="preencoded.png">    </p:cNvPr>
          <p:cNvPicPr>
            <a:picLocks noChangeAspect="1"/>
          </p:cNvPicPr>
          <p:nvPr/>
        </p:nvPicPr>
        <p:blipFill>
          <a:blip r:embed="rId3"/>
          <a:stretch>
            <a:fillRect/>
          </a:stretch>
        </p:blipFill>
        <p:spPr>
          <a:xfrm>
            <a:off x="8126730" y="3463290"/>
            <a:ext cx="251460" cy="251460"/>
          </a:xfrm>
          <a:prstGeom prst="rect">
            <a:avLst/>
          </a:prstGeom>
        </p:spPr>
      </p:pic>
      <p:sp>
        <p:nvSpPr>
          <p:cNvPr id="19" name="Text 14"/>
          <p:cNvSpPr txBox="1"/>
          <p:nvPr/>
        </p:nvSpPr>
        <p:spPr>
          <a:xfrm>
            <a:off x="8686800" y="3291840"/>
            <a:ext cx="2681935" cy="256032"/>
          </a:xfrm>
          <a:prstGeom prst="rect">
            <a:avLst/>
          </a:prstGeom>
          <a:noFill/>
          <a:ln/>
        </p:spPr>
        <p:txBody>
          <a:bodyPr wrap="square" lIns="0" tIns="0" rIns="0" bIns="0" rtlCol="0" anchor="t"/>
          <a:lstStyle/>
          <a:p>
            <a:pPr indent="0" marL="0">
              <a:buNone/>
            </a:pPr>
            <a:r>
              <a:rPr lang="en-US" sz="950" dirty="0">
                <a:solidFill>
                  <a:srgbClr val="94A3B8"/>
                </a:solidFill>
                <a:latin typeface="Malgun Gothic" pitchFamily="34" charset="0"/>
                <a:ea typeface="Malgun Gothic" pitchFamily="34" charset="-122"/>
                <a:cs typeface="Malgun Gothic" pitchFamily="34" charset="-120"/>
              </a:rPr>
              <a:t>전화</a:t>
            </a:r>
            <a:endParaRPr lang="en-US" sz="950" dirty="0"/>
          </a:p>
        </p:txBody>
      </p:sp>
      <p:sp>
        <p:nvSpPr>
          <p:cNvPr id="20" name="Text 15"/>
          <p:cNvSpPr txBox="1"/>
          <p:nvPr/>
        </p:nvSpPr>
        <p:spPr>
          <a:xfrm>
            <a:off x="8686800" y="3547872"/>
            <a:ext cx="2681935" cy="320040"/>
          </a:xfrm>
          <a:prstGeom prst="rect">
            <a:avLst/>
          </a:prstGeom>
          <a:noFill/>
          <a:ln/>
        </p:spPr>
        <p:txBody>
          <a:bodyPr wrap="square" lIns="0" tIns="0" rIns="0" bIns="0" rtlCol="0" anchor="t"/>
          <a:lstStyle/>
          <a:p>
            <a:pPr indent="0" marL="0">
              <a:buNone/>
            </a:pPr>
            <a:r>
              <a:rPr lang="en-US" sz="1300" b="1" dirty="0">
                <a:solidFill>
                  <a:srgbClr val="0F172A"/>
                </a:solidFill>
                <a:latin typeface="Malgun Gothic" pitchFamily="34" charset="0"/>
                <a:ea typeface="Malgun Gothic" pitchFamily="34" charset="-122"/>
                <a:cs typeface="Malgun Gothic" pitchFamily="34" charset="-120"/>
              </a:rPr>
              <a:t>010-8018-8492</a:t>
            </a:r>
            <a:endParaRPr lang="en-US" sz="1300" dirty="0"/>
          </a:p>
        </p:txBody>
      </p:sp>
      <p:sp>
        <p:nvSpPr>
          <p:cNvPr id="21" name="Shape 16"/>
          <p:cNvSpPr/>
          <p:nvPr/>
        </p:nvSpPr>
        <p:spPr>
          <a:xfrm>
            <a:off x="8001000" y="4123944"/>
            <a:ext cx="502920" cy="502920"/>
          </a:xfrm>
          <a:prstGeom prst="ellipse">
            <a:avLst/>
          </a:prstGeom>
          <a:solidFill>
            <a:srgbClr val="EAF2FF"/>
          </a:solidFill>
          <a:ln w="12700">
            <a:solidFill>
              <a:srgbClr val="EAF2FF"/>
            </a:solidFill>
            <a:prstDash val="solid"/>
          </a:ln>
        </p:spPr>
      </p:sp>
      <p:pic>
        <p:nvPicPr>
          <p:cNvPr id="22" name="Image 3" descr="preencoded.png">    </p:cNvPr>
          <p:cNvPicPr>
            <a:picLocks noChangeAspect="1"/>
          </p:cNvPicPr>
          <p:nvPr/>
        </p:nvPicPr>
        <p:blipFill>
          <a:blip r:embed="rId4"/>
          <a:stretch>
            <a:fillRect/>
          </a:stretch>
        </p:blipFill>
        <p:spPr>
          <a:xfrm>
            <a:off x="8126730" y="4249674"/>
            <a:ext cx="251460" cy="251460"/>
          </a:xfrm>
          <a:prstGeom prst="rect">
            <a:avLst/>
          </a:prstGeom>
        </p:spPr>
      </p:pic>
      <p:sp>
        <p:nvSpPr>
          <p:cNvPr id="23" name="Text 17"/>
          <p:cNvSpPr txBox="1"/>
          <p:nvPr/>
        </p:nvSpPr>
        <p:spPr>
          <a:xfrm>
            <a:off x="8686800" y="4078224"/>
            <a:ext cx="2681935" cy="256032"/>
          </a:xfrm>
          <a:prstGeom prst="rect">
            <a:avLst/>
          </a:prstGeom>
          <a:noFill/>
          <a:ln/>
        </p:spPr>
        <p:txBody>
          <a:bodyPr wrap="square" lIns="0" tIns="0" rIns="0" bIns="0" rtlCol="0" anchor="t"/>
          <a:lstStyle/>
          <a:p>
            <a:pPr indent="0" marL="0">
              <a:buNone/>
            </a:pPr>
            <a:r>
              <a:rPr lang="en-US" sz="950" dirty="0">
                <a:solidFill>
                  <a:srgbClr val="94A3B8"/>
                </a:solidFill>
                <a:latin typeface="Malgun Gothic" pitchFamily="34" charset="0"/>
                <a:ea typeface="Malgun Gothic" pitchFamily="34" charset="-122"/>
                <a:cs typeface="Malgun Gothic" pitchFamily="34" charset="-120"/>
              </a:rPr>
              <a:t>카카오 오픈채팅</a:t>
            </a:r>
            <a:endParaRPr lang="en-US" sz="950" dirty="0"/>
          </a:p>
        </p:txBody>
      </p:sp>
      <p:sp>
        <p:nvSpPr>
          <p:cNvPr id="24" name="Text 18"/>
          <p:cNvSpPr txBox="1"/>
          <p:nvPr/>
        </p:nvSpPr>
        <p:spPr>
          <a:xfrm>
            <a:off x="8686800" y="4334256"/>
            <a:ext cx="2681935" cy="320040"/>
          </a:xfrm>
          <a:prstGeom prst="rect">
            <a:avLst/>
          </a:prstGeom>
          <a:noFill/>
          <a:ln/>
        </p:spPr>
        <p:txBody>
          <a:bodyPr wrap="square" lIns="0" tIns="0" rIns="0" bIns="0" rtlCol="0" anchor="t"/>
          <a:lstStyle/>
          <a:p>
            <a:pPr indent="0" marL="0">
              <a:buNone/>
            </a:pPr>
            <a:r>
              <a:rPr lang="en-US" sz="1300" b="1" dirty="0">
                <a:solidFill>
                  <a:srgbClr val="0F172A"/>
                </a:solidFill>
                <a:latin typeface="Malgun Gothic" pitchFamily="34" charset="0"/>
                <a:ea typeface="Malgun Gothic" pitchFamily="34" charset="-122"/>
                <a:cs typeface="Malgun Gothic" pitchFamily="34" charset="-120"/>
              </a:rPr>
              <a:t>open.kakao.com/o/sZ5YZ4ni</a:t>
            </a:r>
            <a:endParaRPr lang="en-US" sz="1300" dirty="0"/>
          </a:p>
        </p:txBody>
      </p:sp>
      <p:sp>
        <p:nvSpPr>
          <p:cNvPr id="25" name="Shape 19"/>
          <p:cNvSpPr/>
          <p:nvPr/>
        </p:nvSpPr>
        <p:spPr>
          <a:xfrm>
            <a:off x="8001000" y="4910328"/>
            <a:ext cx="502920" cy="502920"/>
          </a:xfrm>
          <a:prstGeom prst="ellipse">
            <a:avLst/>
          </a:prstGeom>
          <a:solidFill>
            <a:srgbClr val="EAF2FF"/>
          </a:solidFill>
          <a:ln w="12700">
            <a:solidFill>
              <a:srgbClr val="EAF2FF"/>
            </a:solidFill>
            <a:prstDash val="solid"/>
          </a:ln>
        </p:spPr>
      </p:sp>
      <p:pic>
        <p:nvPicPr>
          <p:cNvPr id="26" name="Image 4" descr="preencoded.png">    </p:cNvPr>
          <p:cNvPicPr>
            <a:picLocks noChangeAspect="1"/>
          </p:cNvPicPr>
          <p:nvPr/>
        </p:nvPicPr>
        <p:blipFill>
          <a:blip r:embed="rId5"/>
          <a:stretch>
            <a:fillRect/>
          </a:stretch>
        </p:blipFill>
        <p:spPr>
          <a:xfrm>
            <a:off x="8126730" y="5036058"/>
            <a:ext cx="251460" cy="251460"/>
          </a:xfrm>
          <a:prstGeom prst="rect">
            <a:avLst/>
          </a:prstGeom>
        </p:spPr>
      </p:pic>
      <p:sp>
        <p:nvSpPr>
          <p:cNvPr id="27" name="Text 20"/>
          <p:cNvSpPr txBox="1"/>
          <p:nvPr/>
        </p:nvSpPr>
        <p:spPr>
          <a:xfrm>
            <a:off x="8686800" y="4864608"/>
            <a:ext cx="2681935" cy="256032"/>
          </a:xfrm>
          <a:prstGeom prst="rect">
            <a:avLst/>
          </a:prstGeom>
          <a:noFill/>
          <a:ln/>
        </p:spPr>
        <p:txBody>
          <a:bodyPr wrap="square" lIns="0" tIns="0" rIns="0" bIns="0" rtlCol="0" anchor="t"/>
          <a:lstStyle/>
          <a:p>
            <a:pPr indent="0" marL="0">
              <a:buNone/>
            </a:pPr>
            <a:r>
              <a:rPr lang="en-US" sz="950" dirty="0">
                <a:solidFill>
                  <a:srgbClr val="94A3B8"/>
                </a:solidFill>
                <a:latin typeface="Malgun Gothic" pitchFamily="34" charset="0"/>
                <a:ea typeface="Malgun Gothic" pitchFamily="34" charset="-122"/>
                <a:cs typeface="Malgun Gothic" pitchFamily="34" charset="-120"/>
              </a:rPr>
              <a:t>셀러 플랫폼</a:t>
            </a:r>
            <a:endParaRPr lang="en-US" sz="950" dirty="0"/>
          </a:p>
        </p:txBody>
      </p:sp>
      <p:sp>
        <p:nvSpPr>
          <p:cNvPr id="28" name="Text 21"/>
          <p:cNvSpPr txBox="1"/>
          <p:nvPr/>
        </p:nvSpPr>
        <p:spPr>
          <a:xfrm>
            <a:off x="8686800" y="5120640"/>
            <a:ext cx="2681935" cy="320040"/>
          </a:xfrm>
          <a:prstGeom prst="rect">
            <a:avLst/>
          </a:prstGeom>
          <a:noFill/>
          <a:ln/>
        </p:spPr>
        <p:txBody>
          <a:bodyPr wrap="square" lIns="0" tIns="0" rIns="0" bIns="0" rtlCol="0" anchor="t"/>
          <a:lstStyle/>
          <a:p>
            <a:pPr indent="0" marL="0">
              <a:buNone/>
            </a:pPr>
            <a:r>
              <a:rPr lang="en-US" sz="1300" b="1" dirty="0">
                <a:solidFill>
                  <a:srgbClr val="0F172A"/>
                </a:solidFill>
                <a:latin typeface="Malgun Gothic" pitchFamily="34" charset="0"/>
                <a:ea typeface="Malgun Gothic" pitchFamily="34" charset="-122"/>
                <a:cs typeface="Malgun Gothic" pitchFamily="34" charset="-120"/>
              </a:rPr>
              <a:t>app.flitunion.com</a:t>
            </a:r>
            <a:endParaRPr lang="en-US" sz="1300" dirty="0"/>
          </a:p>
        </p:txBody>
      </p:sp>
      <p:sp>
        <p:nvSpPr>
          <p:cNvPr id="29" name="Text 22"/>
          <p:cNvSpPr txBox="1"/>
          <p:nvPr/>
        </p:nvSpPr>
        <p:spPr>
          <a:xfrm>
            <a:off x="640080" y="6080760"/>
            <a:ext cx="5486400" cy="274320"/>
          </a:xfrm>
          <a:prstGeom prst="rect">
            <a:avLst/>
          </a:prstGeom>
          <a:noFill/>
          <a:ln/>
        </p:spPr>
        <p:txBody>
          <a:bodyPr wrap="square" lIns="0" tIns="0" rIns="0" bIns="0" rtlCol="0" anchor="t"/>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플릿 유니온  |  Flit Union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플릿 유니온 회사소개서</dc:title>
  <dc:subject>PptxGenJS Presentation</dc:subject>
  <dc:creator>Flit Union</dc:creator>
  <cp:lastModifiedBy>Flit Union</cp:lastModifiedBy>
  <cp:revision>1</cp:revision>
  <dcterms:created xsi:type="dcterms:W3CDTF">2026-10-08T00:07:32Z</dcterms:created>
  <dcterms:modified xsi:type="dcterms:W3CDTF">2026-10-08T00:07:32Z</dcterms:modified>
</cp:coreProperties>
</file>